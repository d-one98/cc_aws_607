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50" b="0" i="0">
                <a:solidFill>
                  <a:srgbClr val="202A2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350" b="0" i="0">
                <a:solidFill>
                  <a:srgbClr val="202A2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50" b="0" i="0">
                <a:solidFill>
                  <a:srgbClr val="202A2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350" b="0" i="0">
                <a:solidFill>
                  <a:srgbClr val="202A2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50" b="0" i="0">
                <a:solidFill>
                  <a:srgbClr val="202A2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50" b="0" i="0">
                <a:solidFill>
                  <a:srgbClr val="202A2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D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28700" y="985634"/>
            <a:ext cx="372110" cy="372110"/>
          </a:xfrm>
          <a:custGeom>
            <a:avLst/>
            <a:gdLst/>
            <a:ahLst/>
            <a:cxnLst/>
            <a:rect l="l" t="t" r="r" b="b"/>
            <a:pathLst>
              <a:path w="372109" h="372109">
                <a:moveTo>
                  <a:pt x="224925" y="371645"/>
                </a:moveTo>
                <a:lnTo>
                  <a:pt x="146719" y="371645"/>
                </a:lnTo>
                <a:lnTo>
                  <a:pt x="146719" y="280263"/>
                </a:lnTo>
                <a:lnTo>
                  <a:pt x="82073" y="344868"/>
                </a:lnTo>
                <a:lnTo>
                  <a:pt x="26776" y="289571"/>
                </a:lnTo>
                <a:lnTo>
                  <a:pt x="91381" y="224925"/>
                </a:lnTo>
                <a:lnTo>
                  <a:pt x="0" y="224925"/>
                </a:lnTo>
                <a:lnTo>
                  <a:pt x="0" y="146719"/>
                </a:lnTo>
                <a:lnTo>
                  <a:pt x="91381" y="146719"/>
                </a:lnTo>
                <a:lnTo>
                  <a:pt x="26776" y="82073"/>
                </a:lnTo>
                <a:lnTo>
                  <a:pt x="82073" y="26776"/>
                </a:lnTo>
                <a:lnTo>
                  <a:pt x="146719" y="91381"/>
                </a:lnTo>
                <a:lnTo>
                  <a:pt x="146719" y="0"/>
                </a:lnTo>
                <a:lnTo>
                  <a:pt x="224925" y="0"/>
                </a:lnTo>
                <a:lnTo>
                  <a:pt x="224925" y="91381"/>
                </a:lnTo>
                <a:lnTo>
                  <a:pt x="289571" y="26776"/>
                </a:lnTo>
                <a:lnTo>
                  <a:pt x="344868" y="82073"/>
                </a:lnTo>
                <a:lnTo>
                  <a:pt x="280263" y="146719"/>
                </a:lnTo>
                <a:lnTo>
                  <a:pt x="371645" y="146719"/>
                </a:lnTo>
                <a:lnTo>
                  <a:pt x="371645" y="224925"/>
                </a:lnTo>
                <a:lnTo>
                  <a:pt x="280263" y="224925"/>
                </a:lnTo>
                <a:lnTo>
                  <a:pt x="344868" y="289571"/>
                </a:lnTo>
                <a:lnTo>
                  <a:pt x="289571" y="344868"/>
                </a:lnTo>
                <a:lnTo>
                  <a:pt x="224925" y="280263"/>
                </a:lnTo>
                <a:lnTo>
                  <a:pt x="224925" y="371645"/>
                </a:lnTo>
                <a:close/>
              </a:path>
            </a:pathLst>
          </a:custGeom>
          <a:solidFill>
            <a:srgbClr val="F99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1890925"/>
            <a:ext cx="7697470" cy="2235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50" b="0" i="0">
                <a:solidFill>
                  <a:srgbClr val="202A2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1890925"/>
            <a:ext cx="7697470" cy="2235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350" b="0" i="0">
                <a:solidFill>
                  <a:srgbClr val="202A2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reallygreatsite.com/" TargetMode="External"/><Relationship Id="rId3" Type="http://schemas.openxmlformats.org/officeDocument/2006/relationships/image" Target="../media/image5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yourcloudsite.com/" TargetMode="Externa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hyperlink" Target="http://www.reallygreatsite.com/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02A2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795" y="984629"/>
            <a:ext cx="504824" cy="32384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957679" y="1191822"/>
            <a:ext cx="3872229" cy="0"/>
          </a:xfrm>
          <a:custGeom>
            <a:avLst/>
            <a:gdLst/>
            <a:ahLst/>
            <a:cxnLst/>
            <a:rect l="l" t="t" r="r" b="b"/>
            <a:pathLst>
              <a:path w="3872229" h="0">
                <a:moveTo>
                  <a:pt x="0" y="0"/>
                </a:moveTo>
                <a:lnTo>
                  <a:pt x="3872037" y="0"/>
                </a:lnTo>
              </a:path>
            </a:pathLst>
          </a:custGeom>
          <a:ln w="19049">
            <a:solidFill>
              <a:srgbClr val="F99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6000" y="6984925"/>
            <a:ext cx="1017905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200">
                <a:solidFill>
                  <a:srgbClr val="F99C00"/>
                </a:solidFill>
                <a:latin typeface="Verdana"/>
                <a:cs typeface="Verdana"/>
              </a:rPr>
              <a:t>Secure,</a:t>
            </a:r>
            <a:r>
              <a:rPr dirty="0" sz="3200" spc="-505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3200" spc="-180">
                <a:solidFill>
                  <a:srgbClr val="F99C00"/>
                </a:solidFill>
                <a:latin typeface="Verdana"/>
                <a:cs typeface="Verdana"/>
              </a:rPr>
              <a:t>Scalable,</a:t>
            </a:r>
            <a:r>
              <a:rPr dirty="0" sz="3200" spc="-500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3200" spc="-210">
                <a:solidFill>
                  <a:srgbClr val="F99C00"/>
                </a:solidFill>
                <a:latin typeface="Verdana"/>
                <a:cs typeface="Verdana"/>
              </a:rPr>
              <a:t>and</a:t>
            </a:r>
            <a:r>
              <a:rPr dirty="0" sz="3200" spc="-500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3200" spc="-85">
                <a:solidFill>
                  <a:srgbClr val="F99C00"/>
                </a:solidFill>
                <a:latin typeface="Verdana"/>
                <a:cs typeface="Verdana"/>
              </a:rPr>
              <a:t>Accessible</a:t>
            </a:r>
            <a:r>
              <a:rPr dirty="0" sz="3200" spc="-505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3200" spc="-140">
                <a:solidFill>
                  <a:srgbClr val="F99C00"/>
                </a:solidFill>
                <a:latin typeface="Verdana"/>
                <a:cs typeface="Verdana"/>
              </a:rPr>
              <a:t>Cloud</a:t>
            </a:r>
            <a:r>
              <a:rPr dirty="0" sz="3200" spc="-500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3200" spc="-195">
                <a:solidFill>
                  <a:srgbClr val="F99C00"/>
                </a:solidFill>
                <a:latin typeface="Verdana"/>
                <a:cs typeface="Verdana"/>
              </a:rPr>
              <a:t>Storage</a:t>
            </a:r>
            <a:r>
              <a:rPr dirty="0" sz="3200" spc="-500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3200" spc="-140">
                <a:solidFill>
                  <a:srgbClr val="F99C00"/>
                </a:solidFill>
                <a:latin typeface="Verdana"/>
                <a:cs typeface="Verdana"/>
              </a:rPr>
              <a:t>Solution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3846" y="1020096"/>
            <a:ext cx="203581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5">
                <a:solidFill>
                  <a:srgbClr val="FFFFFF"/>
                </a:solidFill>
                <a:latin typeface="Verdana"/>
                <a:cs typeface="Verdana"/>
              </a:rPr>
              <a:t>AWS</a:t>
            </a:r>
            <a:r>
              <a:rPr dirty="0" sz="165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50" spc="-55">
                <a:solidFill>
                  <a:srgbClr val="FFFFFF"/>
                </a:solidFill>
                <a:latin typeface="Verdana"/>
                <a:cs typeface="Verdana"/>
              </a:rPr>
              <a:t>Cloud</a:t>
            </a:r>
            <a:r>
              <a:rPr dirty="0" sz="1650" spc="-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50" spc="-70">
                <a:solidFill>
                  <a:srgbClr val="FFFFFF"/>
                </a:solidFill>
                <a:latin typeface="Verdana"/>
                <a:cs typeface="Verdana"/>
              </a:rPr>
              <a:t>Solutions</a:t>
            </a:r>
            <a:endParaRPr sz="1650">
              <a:latin typeface="Verdana"/>
              <a:cs typeface="Verdan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96950" y="8618460"/>
          <a:ext cx="15500350" cy="664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22930"/>
                <a:gridCol w="5437505"/>
                <a:gridCol w="6863715"/>
              </a:tblGrid>
              <a:tr h="3175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50" spc="-75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Presented</a:t>
                      </a:r>
                      <a:r>
                        <a:rPr dirty="0" sz="1650" spc="-215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50" spc="-25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by:</a:t>
                      </a:r>
                      <a:endParaRPr sz="1650">
                        <a:latin typeface="Verdana"/>
                        <a:cs typeface="Verdan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marL="4679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50" spc="-1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Date:</a:t>
                      </a:r>
                      <a:endParaRPr sz="1650">
                        <a:latin typeface="Verdana"/>
                        <a:cs typeface="Verdan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marL="440372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650" spc="-3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Platform:</a:t>
                      </a:r>
                      <a:endParaRPr sz="1650">
                        <a:latin typeface="Verdana"/>
                        <a:cs typeface="Verdana"/>
                      </a:endParaRPr>
                    </a:p>
                  </a:txBody>
                  <a:tcPr marL="0" marR="0" marB="0" marT="4445"/>
                </a:tc>
              </a:tr>
              <a:tr h="347345">
                <a:tc>
                  <a:txBody>
                    <a:bodyPr/>
                    <a:lstStyle/>
                    <a:p>
                      <a:pPr marL="31750">
                        <a:lnSpc>
                          <a:spcPts val="2195"/>
                        </a:lnSpc>
                        <a:spcBef>
                          <a:spcPts val="440"/>
                        </a:spcBef>
                      </a:pPr>
                      <a:r>
                        <a:rPr dirty="0" sz="1850" spc="-50">
                          <a:solidFill>
                            <a:srgbClr val="F99C00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dirty="0" sz="1850" spc="-265">
                          <a:solidFill>
                            <a:srgbClr val="F99C0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50" spc="-90">
                          <a:solidFill>
                            <a:srgbClr val="F99C00"/>
                          </a:solidFill>
                          <a:latin typeface="Verdana"/>
                          <a:cs typeface="Verdana"/>
                        </a:rPr>
                        <a:t>Architecture</a:t>
                      </a:r>
                      <a:r>
                        <a:rPr dirty="0" sz="1850" spc="-260">
                          <a:solidFill>
                            <a:srgbClr val="F99C0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50" spc="-20">
                          <a:solidFill>
                            <a:srgbClr val="F99C00"/>
                          </a:solidFill>
                          <a:latin typeface="Verdana"/>
                          <a:cs typeface="Verdana"/>
                        </a:rPr>
                        <a:t>Team</a:t>
                      </a:r>
                      <a:endParaRPr sz="1850">
                        <a:latin typeface="Verdana"/>
                        <a:cs typeface="Verdana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467995">
                        <a:lnSpc>
                          <a:spcPts val="2195"/>
                        </a:lnSpc>
                        <a:spcBef>
                          <a:spcPts val="440"/>
                        </a:spcBef>
                      </a:pPr>
                      <a:r>
                        <a:rPr dirty="0" sz="1850" spc="-20">
                          <a:solidFill>
                            <a:srgbClr val="F99C00"/>
                          </a:solidFill>
                          <a:latin typeface="Verdana"/>
                          <a:cs typeface="Verdana"/>
                        </a:rPr>
                        <a:t>2026</a:t>
                      </a:r>
                      <a:endParaRPr sz="1850">
                        <a:latin typeface="Verdana"/>
                        <a:cs typeface="Verdana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4403725">
                        <a:lnSpc>
                          <a:spcPts val="2195"/>
                        </a:lnSpc>
                        <a:spcBef>
                          <a:spcPts val="440"/>
                        </a:spcBef>
                      </a:pPr>
                      <a:r>
                        <a:rPr dirty="0" sz="1850" spc="-100">
                          <a:solidFill>
                            <a:srgbClr val="F99C00"/>
                          </a:solidFill>
                          <a:latin typeface="Verdana"/>
                          <a:cs typeface="Verdana"/>
                        </a:rPr>
                        <a:t>Amazon</a:t>
                      </a:r>
                      <a:r>
                        <a:rPr dirty="0" sz="1850" spc="-265">
                          <a:solidFill>
                            <a:srgbClr val="F99C0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50">
                          <a:solidFill>
                            <a:srgbClr val="F99C00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dirty="0" sz="1850" spc="-260">
                          <a:solidFill>
                            <a:srgbClr val="F99C0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50" spc="-30">
                          <a:solidFill>
                            <a:srgbClr val="F99C00"/>
                          </a:solidFill>
                          <a:latin typeface="Verdana"/>
                          <a:cs typeface="Verdana"/>
                        </a:rPr>
                        <a:t>Services</a:t>
                      </a:r>
                      <a:endParaRPr sz="1850">
                        <a:latin typeface="Verdana"/>
                        <a:cs typeface="Verdana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8887316" y="1020096"/>
            <a:ext cx="121285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90">
                <a:solidFill>
                  <a:srgbClr val="FFFFFF"/>
                </a:solidFill>
                <a:latin typeface="Verdana"/>
                <a:cs typeface="Verdana"/>
              </a:rPr>
              <a:t>Presentation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742962" y="1020096"/>
            <a:ext cx="52959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5">
                <a:solidFill>
                  <a:srgbClr val="F99C00"/>
                </a:solidFill>
                <a:latin typeface="Verdana"/>
                <a:cs typeface="Verdana"/>
              </a:rPr>
              <a:t>2026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6000" y="4938274"/>
            <a:ext cx="15502255" cy="1104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50" spc="-285">
                <a:solidFill>
                  <a:srgbClr val="FFFFFF"/>
                </a:solidFill>
                <a:latin typeface="Verdana"/>
                <a:cs typeface="Verdana"/>
              </a:rPr>
              <a:t>PERSONAL</a:t>
            </a:r>
            <a:r>
              <a:rPr dirty="0" sz="7050" spc="-1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050" spc="-315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7050" spc="-65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7050" spc="-33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7050" spc="-345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7050" spc="15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7050" spc="-1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050" spc="-63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7050" spc="-62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7050" spc="-819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7050" spc="-605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dirty="0" sz="7050" spc="-254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7050" spc="-1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050" spc="-509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7050" spc="-505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7050" spc="-71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7050" spc="-509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7050" spc="-15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dirty="0" sz="7050" spc="-1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050" spc="-44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7050" spc="-5">
                <a:solidFill>
                  <a:srgbClr val="FFFFFF"/>
                </a:solidFill>
                <a:latin typeface="Verdana"/>
                <a:cs typeface="Verdana"/>
              </a:rPr>
              <a:t>W</a:t>
            </a:r>
            <a:r>
              <a:rPr dirty="0" sz="7050" spc="375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endParaRPr sz="7050">
              <a:latin typeface="Verdana"/>
              <a:cs typeface="Verdan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73336" y="8741851"/>
            <a:ext cx="647699" cy="3905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57679" y="1191822"/>
            <a:ext cx="3872229" cy="0"/>
          </a:xfrm>
          <a:custGeom>
            <a:avLst/>
            <a:gdLst/>
            <a:ahLst/>
            <a:cxnLst/>
            <a:rect l="l" t="t" r="r" b="b"/>
            <a:pathLst>
              <a:path w="3872229" h="0">
                <a:moveTo>
                  <a:pt x="0" y="0"/>
                </a:moveTo>
                <a:lnTo>
                  <a:pt x="3872037" y="0"/>
                </a:lnTo>
              </a:path>
            </a:pathLst>
          </a:custGeom>
          <a:ln w="19049">
            <a:solidFill>
              <a:srgbClr val="F99C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340529" y="0"/>
            <a:ext cx="9947910" cy="10287000"/>
            <a:chOff x="8340529" y="0"/>
            <a:chExt cx="9947910" cy="10287000"/>
          </a:xfrm>
        </p:grpSpPr>
        <p:sp>
          <p:nvSpPr>
            <p:cNvPr id="4" name="object 4"/>
            <p:cNvSpPr/>
            <p:nvPr/>
          </p:nvSpPr>
          <p:spPr>
            <a:xfrm>
              <a:off x="15201899" y="0"/>
              <a:ext cx="3086100" cy="4240530"/>
            </a:xfrm>
            <a:custGeom>
              <a:avLst/>
              <a:gdLst/>
              <a:ahLst/>
              <a:cxnLst/>
              <a:rect l="l" t="t" r="r" b="b"/>
              <a:pathLst>
                <a:path w="3086100" h="4240530">
                  <a:moveTo>
                    <a:pt x="3086100" y="4240235"/>
                  </a:moveTo>
                  <a:lnTo>
                    <a:pt x="0" y="4240235"/>
                  </a:lnTo>
                  <a:lnTo>
                    <a:pt x="0" y="0"/>
                  </a:lnTo>
                  <a:lnTo>
                    <a:pt x="3086100" y="0"/>
                  </a:lnTo>
                  <a:lnTo>
                    <a:pt x="3086100" y="4240235"/>
                  </a:lnTo>
                  <a:close/>
                </a:path>
              </a:pathLst>
            </a:custGeom>
            <a:solidFill>
              <a:srgbClr val="202A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40529" y="4245013"/>
              <a:ext cx="9947469" cy="604198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33846" y="1014843"/>
            <a:ext cx="203835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80">
                <a:latin typeface="Verdana"/>
                <a:cs typeface="Verdana"/>
              </a:rPr>
              <a:t>Personal</a:t>
            </a:r>
            <a:r>
              <a:rPr dirty="0" sz="1700" spc="-250">
                <a:latin typeface="Verdana"/>
                <a:cs typeface="Verdana"/>
              </a:rPr>
              <a:t> </a:t>
            </a:r>
            <a:r>
              <a:rPr dirty="0" sz="1700" spc="-60">
                <a:latin typeface="Verdana"/>
                <a:cs typeface="Verdana"/>
              </a:rPr>
              <a:t>Cloud</a:t>
            </a:r>
            <a:r>
              <a:rPr dirty="0" sz="1700" spc="-250">
                <a:latin typeface="Verdana"/>
                <a:cs typeface="Verdana"/>
              </a:rPr>
              <a:t> </a:t>
            </a:r>
            <a:r>
              <a:rPr dirty="0" sz="1700" spc="-95">
                <a:latin typeface="Verdana"/>
                <a:cs typeface="Verdana"/>
              </a:rPr>
              <a:t>Drive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000" y="5017394"/>
            <a:ext cx="6517005" cy="42456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7600"/>
              </a:lnSpc>
              <a:spcBef>
                <a:spcPts val="95"/>
              </a:spcBef>
            </a:pPr>
            <a:r>
              <a:rPr dirty="0" sz="1700">
                <a:latin typeface="Verdana"/>
                <a:cs typeface="Verdana"/>
              </a:rPr>
              <a:t>The</a:t>
            </a:r>
            <a:r>
              <a:rPr dirty="0" sz="1700" spc="22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demand</a:t>
            </a:r>
            <a:r>
              <a:rPr dirty="0" sz="1700" spc="22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for</a:t>
            </a:r>
            <a:r>
              <a:rPr dirty="0" sz="1700" spc="22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personal</a:t>
            </a:r>
            <a:r>
              <a:rPr dirty="0" sz="1700" spc="22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cloud</a:t>
            </a:r>
            <a:r>
              <a:rPr dirty="0" sz="1700" spc="22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storage</a:t>
            </a:r>
            <a:r>
              <a:rPr dirty="0" sz="1700" spc="22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is</a:t>
            </a:r>
            <a:r>
              <a:rPr dirty="0" sz="1700" spc="22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growing</a:t>
            </a:r>
            <a:r>
              <a:rPr dirty="0" sz="1700" spc="225">
                <a:latin typeface="Verdana"/>
                <a:cs typeface="Verdana"/>
              </a:rPr>
              <a:t> </a:t>
            </a:r>
            <a:r>
              <a:rPr dirty="0" sz="1700" spc="-95">
                <a:latin typeface="Verdana"/>
                <a:cs typeface="Verdana"/>
              </a:rPr>
              <a:t>rapidly. </a:t>
            </a:r>
            <a:r>
              <a:rPr dirty="0" sz="1700" spc="-150">
                <a:latin typeface="Verdana"/>
                <a:cs typeface="Verdana"/>
              </a:rPr>
              <a:t>Traditional</a:t>
            </a:r>
            <a:r>
              <a:rPr dirty="0" sz="1700">
                <a:latin typeface="Verdana"/>
                <a:cs typeface="Verdana"/>
              </a:rPr>
              <a:t> </a:t>
            </a:r>
            <a:r>
              <a:rPr dirty="0" sz="1700" spc="-70">
                <a:latin typeface="Verdana"/>
                <a:cs typeface="Verdana"/>
              </a:rPr>
              <a:t>local</a:t>
            </a:r>
            <a:r>
              <a:rPr dirty="0" sz="1700" spc="5">
                <a:latin typeface="Verdana"/>
                <a:cs typeface="Verdana"/>
              </a:rPr>
              <a:t> </a:t>
            </a:r>
            <a:r>
              <a:rPr dirty="0" sz="1700" spc="-105">
                <a:latin typeface="Verdana"/>
                <a:cs typeface="Verdana"/>
              </a:rPr>
              <a:t>storage</a:t>
            </a:r>
            <a:r>
              <a:rPr dirty="0" sz="1700" spc="15">
                <a:latin typeface="Verdana"/>
                <a:cs typeface="Verdana"/>
              </a:rPr>
              <a:t> </a:t>
            </a:r>
            <a:r>
              <a:rPr dirty="0" sz="1700" spc="-105">
                <a:latin typeface="Verdana"/>
                <a:cs typeface="Verdana"/>
              </a:rPr>
              <a:t>solutions</a:t>
            </a:r>
            <a:r>
              <a:rPr dirty="0" sz="1700" spc="10">
                <a:latin typeface="Verdana"/>
                <a:cs typeface="Verdana"/>
              </a:rPr>
              <a:t> </a:t>
            </a:r>
            <a:r>
              <a:rPr dirty="0" sz="1700" spc="-170">
                <a:latin typeface="Verdana"/>
                <a:cs typeface="Verdana"/>
              </a:rPr>
              <a:t>are</a:t>
            </a:r>
            <a:r>
              <a:rPr dirty="0" sz="1700" spc="20">
                <a:latin typeface="Verdana"/>
                <a:cs typeface="Verdana"/>
              </a:rPr>
              <a:t> </a:t>
            </a:r>
            <a:r>
              <a:rPr dirty="0" sz="1700" spc="-140">
                <a:latin typeface="Verdana"/>
                <a:cs typeface="Verdana"/>
              </a:rPr>
              <a:t>limited</a:t>
            </a:r>
            <a:r>
              <a:rPr dirty="0" sz="1700" spc="15">
                <a:latin typeface="Verdana"/>
                <a:cs typeface="Verdana"/>
              </a:rPr>
              <a:t> </a:t>
            </a:r>
            <a:r>
              <a:rPr dirty="0" sz="1700" spc="-170">
                <a:latin typeface="Verdana"/>
                <a:cs typeface="Verdana"/>
              </a:rPr>
              <a:t>by</a:t>
            </a:r>
            <a:r>
              <a:rPr dirty="0" sz="1700" spc="20">
                <a:latin typeface="Verdana"/>
                <a:cs typeface="Verdana"/>
              </a:rPr>
              <a:t> </a:t>
            </a:r>
            <a:r>
              <a:rPr dirty="0" sz="1700" spc="-150">
                <a:latin typeface="Verdana"/>
                <a:cs typeface="Verdana"/>
              </a:rPr>
              <a:t>hardware</a:t>
            </a:r>
            <a:r>
              <a:rPr dirty="0" sz="1700" spc="10">
                <a:latin typeface="Verdana"/>
                <a:cs typeface="Verdana"/>
              </a:rPr>
              <a:t> </a:t>
            </a:r>
            <a:r>
              <a:rPr dirty="0" sz="1700" spc="-50">
                <a:latin typeface="Verdana"/>
                <a:cs typeface="Verdana"/>
              </a:rPr>
              <a:t>capacity, </a:t>
            </a:r>
            <a:r>
              <a:rPr dirty="0" sz="1700" spc="-55">
                <a:latin typeface="Verdana"/>
                <a:cs typeface="Verdana"/>
              </a:rPr>
              <a:t>risk</a:t>
            </a:r>
            <a:r>
              <a:rPr dirty="0" sz="1700" spc="-1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of</a:t>
            </a:r>
            <a:r>
              <a:rPr dirty="0" sz="1700" spc="-15">
                <a:latin typeface="Verdana"/>
                <a:cs typeface="Verdana"/>
              </a:rPr>
              <a:t> </a:t>
            </a:r>
            <a:r>
              <a:rPr dirty="0" sz="1700" spc="-114">
                <a:latin typeface="Verdana"/>
                <a:cs typeface="Verdana"/>
              </a:rPr>
              <a:t>failure,</a:t>
            </a:r>
            <a:r>
              <a:rPr dirty="0" sz="1700" spc="-1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and</a:t>
            </a:r>
            <a:r>
              <a:rPr dirty="0" sz="1700" spc="-1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lack</a:t>
            </a:r>
            <a:r>
              <a:rPr dirty="0" sz="1700" spc="-1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of</a:t>
            </a:r>
            <a:r>
              <a:rPr dirty="0" sz="1700" spc="-15">
                <a:latin typeface="Verdana"/>
                <a:cs typeface="Verdana"/>
              </a:rPr>
              <a:t> </a:t>
            </a:r>
            <a:r>
              <a:rPr dirty="0" sz="1700" spc="-70">
                <a:latin typeface="Verdana"/>
                <a:cs typeface="Verdana"/>
              </a:rPr>
              <a:t>remote</a:t>
            </a:r>
            <a:r>
              <a:rPr dirty="0" sz="1700" spc="-15">
                <a:latin typeface="Verdana"/>
                <a:cs typeface="Verdana"/>
              </a:rPr>
              <a:t> </a:t>
            </a:r>
            <a:r>
              <a:rPr dirty="0" sz="1700" spc="-70">
                <a:latin typeface="Verdana"/>
                <a:cs typeface="Verdana"/>
              </a:rPr>
              <a:t>accessibility.</a:t>
            </a:r>
            <a:r>
              <a:rPr dirty="0" sz="1700" spc="-1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AWS</a:t>
            </a:r>
            <a:r>
              <a:rPr dirty="0" sz="1700" spc="-15">
                <a:latin typeface="Verdana"/>
                <a:cs typeface="Verdana"/>
              </a:rPr>
              <a:t> </a:t>
            </a:r>
            <a:r>
              <a:rPr dirty="0" sz="1700" spc="-75">
                <a:latin typeface="Verdana"/>
                <a:cs typeface="Verdana"/>
              </a:rPr>
              <a:t>provides</a:t>
            </a:r>
            <a:r>
              <a:rPr dirty="0" sz="1700" spc="-15">
                <a:latin typeface="Verdana"/>
                <a:cs typeface="Verdana"/>
              </a:rPr>
              <a:t> </a:t>
            </a:r>
            <a:r>
              <a:rPr dirty="0" sz="1700" spc="-50">
                <a:latin typeface="Verdana"/>
                <a:cs typeface="Verdana"/>
              </a:rPr>
              <a:t>a </a:t>
            </a:r>
            <a:r>
              <a:rPr dirty="0" sz="1700" spc="-30">
                <a:latin typeface="Verdana"/>
                <a:cs typeface="Verdana"/>
              </a:rPr>
              <a:t>robust,</a:t>
            </a:r>
            <a:r>
              <a:rPr dirty="0" sz="1700" spc="5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scalable,</a:t>
            </a:r>
            <a:r>
              <a:rPr dirty="0" sz="1700" spc="5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and</a:t>
            </a:r>
            <a:r>
              <a:rPr dirty="0" sz="1700" spc="55">
                <a:latin typeface="Verdana"/>
                <a:cs typeface="Verdana"/>
              </a:rPr>
              <a:t> </a:t>
            </a:r>
            <a:r>
              <a:rPr dirty="0" sz="1700" spc="-100">
                <a:latin typeface="Verdana"/>
                <a:cs typeface="Verdana"/>
              </a:rPr>
              <a:t>cost-</a:t>
            </a:r>
            <a:r>
              <a:rPr dirty="0" sz="1700" spc="-20">
                <a:latin typeface="Verdana"/>
                <a:cs typeface="Verdana"/>
              </a:rPr>
              <a:t>efficient</a:t>
            </a:r>
            <a:r>
              <a:rPr dirty="0" sz="1700" spc="60">
                <a:latin typeface="Verdana"/>
                <a:cs typeface="Verdana"/>
              </a:rPr>
              <a:t> </a:t>
            </a:r>
            <a:r>
              <a:rPr dirty="0" sz="1700" spc="-85">
                <a:latin typeface="Verdana"/>
                <a:cs typeface="Verdana"/>
              </a:rPr>
              <a:t>infrastructure</a:t>
            </a:r>
            <a:r>
              <a:rPr dirty="0" sz="1700" spc="5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to</a:t>
            </a:r>
            <a:r>
              <a:rPr dirty="0" sz="1700" spc="55">
                <a:latin typeface="Verdana"/>
                <a:cs typeface="Verdana"/>
              </a:rPr>
              <a:t> </a:t>
            </a:r>
            <a:r>
              <a:rPr dirty="0" sz="1700" spc="-35">
                <a:latin typeface="Verdana"/>
                <a:cs typeface="Verdana"/>
              </a:rPr>
              <a:t>overcome </a:t>
            </a:r>
            <a:r>
              <a:rPr dirty="0" sz="1700" spc="-65">
                <a:latin typeface="Verdana"/>
                <a:cs typeface="Verdana"/>
              </a:rPr>
              <a:t>these</a:t>
            </a:r>
            <a:r>
              <a:rPr dirty="0" sz="1700" spc="-254">
                <a:latin typeface="Verdana"/>
                <a:cs typeface="Verdana"/>
              </a:rPr>
              <a:t> </a:t>
            </a:r>
            <a:r>
              <a:rPr dirty="0" sz="1700" spc="-70">
                <a:latin typeface="Verdana"/>
                <a:cs typeface="Verdana"/>
              </a:rPr>
              <a:t>challenges</a:t>
            </a:r>
            <a:r>
              <a:rPr dirty="0" sz="1700" spc="-254">
                <a:latin typeface="Verdana"/>
                <a:cs typeface="Verdana"/>
              </a:rPr>
              <a:t> </a:t>
            </a:r>
            <a:r>
              <a:rPr dirty="0" sz="1700" spc="-95">
                <a:latin typeface="Verdana"/>
                <a:cs typeface="Verdana"/>
              </a:rPr>
              <a:t>and</a:t>
            </a:r>
            <a:r>
              <a:rPr dirty="0" sz="1700" spc="-254">
                <a:latin typeface="Verdana"/>
                <a:cs typeface="Verdana"/>
              </a:rPr>
              <a:t> </a:t>
            </a:r>
            <a:r>
              <a:rPr dirty="0" sz="1700" spc="-105">
                <a:latin typeface="Verdana"/>
                <a:cs typeface="Verdana"/>
              </a:rPr>
              <a:t>deliver</a:t>
            </a:r>
            <a:r>
              <a:rPr dirty="0" sz="1700" spc="-250">
                <a:latin typeface="Verdana"/>
                <a:cs typeface="Verdana"/>
              </a:rPr>
              <a:t> </a:t>
            </a:r>
            <a:r>
              <a:rPr dirty="0" sz="1700" spc="-40">
                <a:latin typeface="Verdana"/>
                <a:cs typeface="Verdana"/>
              </a:rPr>
              <a:t>a</a:t>
            </a:r>
            <a:r>
              <a:rPr dirty="0" sz="1700" spc="-254">
                <a:latin typeface="Verdana"/>
                <a:cs typeface="Verdana"/>
              </a:rPr>
              <a:t> </a:t>
            </a:r>
            <a:r>
              <a:rPr dirty="0" sz="1700" spc="-60">
                <a:latin typeface="Verdana"/>
                <a:cs typeface="Verdana"/>
              </a:rPr>
              <a:t>seamless</a:t>
            </a:r>
            <a:r>
              <a:rPr dirty="0" sz="1700" spc="-254">
                <a:latin typeface="Verdana"/>
                <a:cs typeface="Verdana"/>
              </a:rPr>
              <a:t> </a:t>
            </a:r>
            <a:r>
              <a:rPr dirty="0" sz="1700" spc="-50">
                <a:latin typeface="Verdana"/>
                <a:cs typeface="Verdana"/>
              </a:rPr>
              <a:t>cloud</a:t>
            </a:r>
            <a:r>
              <a:rPr dirty="0" sz="1700" spc="-250">
                <a:latin typeface="Verdana"/>
                <a:cs typeface="Verdana"/>
              </a:rPr>
              <a:t> </a:t>
            </a:r>
            <a:r>
              <a:rPr dirty="0" sz="1700" spc="-85">
                <a:latin typeface="Verdana"/>
                <a:cs typeface="Verdana"/>
              </a:rPr>
              <a:t>storage</a:t>
            </a:r>
            <a:r>
              <a:rPr dirty="0" sz="1700" spc="-254">
                <a:latin typeface="Verdana"/>
                <a:cs typeface="Verdana"/>
              </a:rPr>
              <a:t> </a:t>
            </a:r>
            <a:r>
              <a:rPr dirty="0" sz="1700" spc="-50">
                <a:latin typeface="Verdana"/>
                <a:cs typeface="Verdana"/>
              </a:rPr>
              <a:t>experience.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700">
              <a:latin typeface="Verdana"/>
              <a:cs typeface="Verdana"/>
            </a:endParaRPr>
          </a:p>
          <a:p>
            <a:pPr algn="just" marL="12700" marR="5080">
              <a:lnSpc>
                <a:spcPct val="117600"/>
              </a:lnSpc>
              <a:spcBef>
                <a:spcPts val="5"/>
              </a:spcBef>
            </a:pPr>
            <a:r>
              <a:rPr dirty="0" sz="1700" spc="-195">
                <a:latin typeface="Verdana"/>
                <a:cs typeface="Verdana"/>
              </a:rPr>
              <a:t>By</a:t>
            </a:r>
            <a:r>
              <a:rPr dirty="0" sz="1700" spc="45">
                <a:latin typeface="Verdana"/>
                <a:cs typeface="Verdana"/>
              </a:rPr>
              <a:t> </a:t>
            </a:r>
            <a:r>
              <a:rPr dirty="0" sz="1700" spc="-135">
                <a:latin typeface="Verdana"/>
                <a:cs typeface="Verdana"/>
              </a:rPr>
              <a:t>leveraging</a:t>
            </a:r>
            <a:r>
              <a:rPr dirty="0" sz="1700" spc="-15">
                <a:latin typeface="Verdana"/>
                <a:cs typeface="Verdana"/>
              </a:rPr>
              <a:t> </a:t>
            </a:r>
            <a:r>
              <a:rPr dirty="0" sz="1700" spc="-95">
                <a:latin typeface="Verdana"/>
                <a:cs typeface="Verdana"/>
              </a:rPr>
              <a:t>AWS</a:t>
            </a:r>
            <a:r>
              <a:rPr dirty="0" sz="1700" spc="-55">
                <a:latin typeface="Verdana"/>
                <a:cs typeface="Verdana"/>
              </a:rPr>
              <a:t> </a:t>
            </a:r>
            <a:r>
              <a:rPr dirty="0" sz="1700" spc="-105">
                <a:latin typeface="Verdana"/>
                <a:cs typeface="Verdana"/>
              </a:rPr>
              <a:t>services,</a:t>
            </a:r>
            <a:r>
              <a:rPr dirty="0" sz="1700" spc="5">
                <a:latin typeface="Verdana"/>
                <a:cs typeface="Verdana"/>
              </a:rPr>
              <a:t> </a:t>
            </a:r>
            <a:r>
              <a:rPr dirty="0" sz="1700" spc="-100">
                <a:latin typeface="Verdana"/>
                <a:cs typeface="Verdana"/>
              </a:rPr>
              <a:t>users</a:t>
            </a:r>
            <a:r>
              <a:rPr dirty="0" sz="1700" spc="5">
                <a:latin typeface="Verdana"/>
                <a:cs typeface="Verdana"/>
              </a:rPr>
              <a:t> </a:t>
            </a:r>
            <a:r>
              <a:rPr dirty="0" sz="1700" spc="-170">
                <a:latin typeface="Verdana"/>
                <a:cs typeface="Verdana"/>
              </a:rPr>
              <a:t>gain</a:t>
            </a:r>
            <a:r>
              <a:rPr dirty="0" sz="1700" spc="20">
                <a:latin typeface="Verdana"/>
                <a:cs typeface="Verdana"/>
              </a:rPr>
              <a:t> </a:t>
            </a:r>
            <a:r>
              <a:rPr dirty="0" sz="1700" spc="-80">
                <a:latin typeface="Verdana"/>
                <a:cs typeface="Verdana"/>
              </a:rPr>
              <a:t>secure</a:t>
            </a:r>
            <a:r>
              <a:rPr dirty="0" sz="1700" spc="5">
                <a:latin typeface="Verdana"/>
                <a:cs typeface="Verdana"/>
              </a:rPr>
              <a:t> </a:t>
            </a:r>
            <a:r>
              <a:rPr dirty="0" sz="1700" spc="-170">
                <a:latin typeface="Verdana"/>
                <a:cs typeface="Verdana"/>
              </a:rPr>
              <a:t>and</a:t>
            </a:r>
            <a:r>
              <a:rPr dirty="0" sz="1700" spc="20">
                <a:latin typeface="Verdana"/>
                <a:cs typeface="Verdana"/>
              </a:rPr>
              <a:t> </a:t>
            </a:r>
            <a:r>
              <a:rPr dirty="0" sz="1700" spc="-120">
                <a:latin typeface="Verdana"/>
                <a:cs typeface="Verdana"/>
              </a:rPr>
              <a:t>reliable</a:t>
            </a:r>
            <a:r>
              <a:rPr dirty="0" sz="1700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access </a:t>
            </a:r>
            <a:r>
              <a:rPr dirty="0" sz="1700" spc="-30">
                <a:latin typeface="Verdana"/>
                <a:cs typeface="Verdana"/>
              </a:rPr>
              <a:t>to</a:t>
            </a:r>
            <a:r>
              <a:rPr dirty="0" sz="1700" spc="-120">
                <a:latin typeface="Verdana"/>
                <a:cs typeface="Verdana"/>
              </a:rPr>
              <a:t> </a:t>
            </a:r>
            <a:r>
              <a:rPr dirty="0" sz="1700" spc="-130">
                <a:latin typeface="Verdana"/>
                <a:cs typeface="Verdana"/>
              </a:rPr>
              <a:t>their</a:t>
            </a:r>
            <a:r>
              <a:rPr dirty="0" sz="1700" spc="-20">
                <a:latin typeface="Verdana"/>
                <a:cs typeface="Verdana"/>
              </a:rPr>
              <a:t> </a:t>
            </a:r>
            <a:r>
              <a:rPr dirty="0" sz="1700" spc="-65">
                <a:latin typeface="Verdana"/>
                <a:cs typeface="Verdana"/>
              </a:rPr>
              <a:t>files</a:t>
            </a:r>
            <a:r>
              <a:rPr dirty="0" sz="1700" spc="-70">
                <a:latin typeface="Verdana"/>
                <a:cs typeface="Verdana"/>
              </a:rPr>
              <a:t> </a:t>
            </a:r>
            <a:r>
              <a:rPr dirty="0" sz="1700" spc="-125">
                <a:latin typeface="Verdana"/>
                <a:cs typeface="Verdana"/>
              </a:rPr>
              <a:t>from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sz="1700" spc="-130">
                <a:latin typeface="Verdana"/>
                <a:cs typeface="Verdana"/>
              </a:rPr>
              <a:t>anywhere,</a:t>
            </a:r>
            <a:r>
              <a:rPr dirty="0" sz="1700" spc="-20">
                <a:latin typeface="Verdana"/>
                <a:cs typeface="Verdana"/>
              </a:rPr>
              <a:t> </a:t>
            </a:r>
            <a:r>
              <a:rPr dirty="0" sz="1700" spc="-90">
                <a:latin typeface="Verdana"/>
                <a:cs typeface="Verdana"/>
              </a:rPr>
              <a:t>at</a:t>
            </a:r>
            <a:r>
              <a:rPr dirty="0" sz="1700" spc="-35">
                <a:latin typeface="Verdana"/>
                <a:cs typeface="Verdana"/>
              </a:rPr>
              <a:t> </a:t>
            </a:r>
            <a:r>
              <a:rPr dirty="0" sz="1700" spc="-135">
                <a:latin typeface="Verdana"/>
                <a:cs typeface="Verdana"/>
              </a:rPr>
              <a:t>any</a:t>
            </a:r>
            <a:r>
              <a:rPr dirty="0" sz="1700" spc="-15">
                <a:latin typeface="Verdana"/>
                <a:cs typeface="Verdana"/>
              </a:rPr>
              <a:t> </a:t>
            </a:r>
            <a:r>
              <a:rPr dirty="0" sz="1700" spc="-160">
                <a:latin typeface="Verdana"/>
                <a:cs typeface="Verdana"/>
              </a:rPr>
              <a:t>time.</a:t>
            </a:r>
            <a:r>
              <a:rPr dirty="0" sz="1700" spc="10">
                <a:latin typeface="Verdana"/>
                <a:cs typeface="Verdana"/>
              </a:rPr>
              <a:t> </a:t>
            </a:r>
            <a:r>
              <a:rPr dirty="0" sz="1700" spc="-75">
                <a:latin typeface="Verdana"/>
                <a:cs typeface="Verdana"/>
              </a:rPr>
              <a:t>This</a:t>
            </a:r>
            <a:r>
              <a:rPr dirty="0" sz="1700" spc="-40">
                <a:latin typeface="Verdana"/>
                <a:cs typeface="Verdana"/>
              </a:rPr>
              <a:t> </a:t>
            </a:r>
            <a:r>
              <a:rPr dirty="0" sz="1700" spc="-95">
                <a:latin typeface="Verdana"/>
                <a:cs typeface="Verdana"/>
              </a:rPr>
              <a:t>solution</a:t>
            </a:r>
            <a:r>
              <a:rPr dirty="0" sz="1700" spc="-35">
                <a:latin typeface="Verdana"/>
                <a:cs typeface="Verdana"/>
              </a:rPr>
              <a:t> </a:t>
            </a:r>
            <a:r>
              <a:rPr dirty="0" sz="1700" spc="-25">
                <a:latin typeface="Verdana"/>
                <a:cs typeface="Verdana"/>
              </a:rPr>
              <a:t>focuses</a:t>
            </a:r>
            <a:r>
              <a:rPr dirty="0" sz="1700" spc="-35">
                <a:latin typeface="Verdana"/>
                <a:cs typeface="Verdana"/>
              </a:rPr>
              <a:t> </a:t>
            </a:r>
            <a:r>
              <a:rPr dirty="0" sz="1700" spc="-25">
                <a:latin typeface="Verdana"/>
                <a:cs typeface="Verdana"/>
              </a:rPr>
              <a:t>on </a:t>
            </a:r>
            <a:r>
              <a:rPr dirty="0" sz="1700" spc="-40">
                <a:latin typeface="Verdana"/>
                <a:cs typeface="Verdana"/>
              </a:rPr>
              <a:t>three</a:t>
            </a:r>
            <a:r>
              <a:rPr dirty="0" sz="1700" spc="-5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core</a:t>
            </a:r>
            <a:r>
              <a:rPr dirty="0" sz="1700" spc="-40">
                <a:latin typeface="Verdana"/>
                <a:cs typeface="Verdana"/>
              </a:rPr>
              <a:t> </a:t>
            </a:r>
            <a:r>
              <a:rPr dirty="0" sz="1700" spc="-120">
                <a:latin typeface="Verdana"/>
                <a:cs typeface="Verdana"/>
              </a:rPr>
              <a:t>pillars:</a:t>
            </a:r>
            <a:r>
              <a:rPr dirty="0" sz="1700" spc="-30">
                <a:latin typeface="Verdana"/>
                <a:cs typeface="Verdana"/>
              </a:rPr>
              <a:t> </a:t>
            </a:r>
            <a:r>
              <a:rPr dirty="0" sz="1700" spc="-50">
                <a:latin typeface="Verdana"/>
                <a:cs typeface="Verdana"/>
              </a:rPr>
              <a:t>security</a:t>
            </a:r>
            <a:r>
              <a:rPr dirty="0" sz="1700" spc="-40">
                <a:latin typeface="Verdana"/>
                <a:cs typeface="Verdana"/>
              </a:rPr>
              <a:t> </a:t>
            </a:r>
            <a:r>
              <a:rPr dirty="0" sz="1700" spc="-95">
                <a:latin typeface="Verdana"/>
                <a:cs typeface="Verdana"/>
              </a:rPr>
              <a:t>through</a:t>
            </a:r>
            <a:r>
              <a:rPr dirty="0" sz="1700" spc="-40">
                <a:latin typeface="Verdana"/>
                <a:cs typeface="Verdana"/>
              </a:rPr>
              <a:t> </a:t>
            </a:r>
            <a:r>
              <a:rPr dirty="0" sz="1700" spc="-80">
                <a:latin typeface="Verdana"/>
                <a:cs typeface="Verdana"/>
              </a:rPr>
              <a:t>encryption</a:t>
            </a:r>
            <a:r>
              <a:rPr dirty="0" sz="1700" spc="-4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and</a:t>
            </a:r>
            <a:r>
              <a:rPr dirty="0" sz="1700" spc="-4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IAM</a:t>
            </a:r>
            <a:r>
              <a:rPr dirty="0" sz="1700" spc="-40">
                <a:latin typeface="Verdana"/>
                <a:cs typeface="Verdana"/>
              </a:rPr>
              <a:t> </a:t>
            </a:r>
            <a:r>
              <a:rPr dirty="0" sz="1700" spc="-35">
                <a:latin typeface="Verdana"/>
                <a:cs typeface="Verdana"/>
              </a:rPr>
              <a:t>policies, </a:t>
            </a:r>
            <a:r>
              <a:rPr dirty="0" sz="1700" spc="-65">
                <a:latin typeface="Verdana"/>
                <a:cs typeface="Verdana"/>
              </a:rPr>
              <a:t>accessibility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sz="1700" spc="-125">
                <a:latin typeface="Verdana"/>
                <a:cs typeface="Verdana"/>
              </a:rPr>
              <a:t>via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sz="1700" spc="-100">
                <a:latin typeface="Verdana"/>
                <a:cs typeface="Verdana"/>
              </a:rPr>
              <a:t>CloudFront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sz="1700" spc="-60">
                <a:latin typeface="Verdana"/>
                <a:cs typeface="Verdana"/>
              </a:rPr>
              <a:t>and</a:t>
            </a:r>
            <a:r>
              <a:rPr dirty="0" sz="1700" spc="-20">
                <a:latin typeface="Verdana"/>
                <a:cs typeface="Verdana"/>
              </a:rPr>
              <a:t> </a:t>
            </a:r>
            <a:r>
              <a:rPr dirty="0" sz="1700" spc="-105">
                <a:latin typeface="Verdana"/>
                <a:cs typeface="Verdana"/>
              </a:rPr>
              <a:t>API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sz="1700" spc="-100">
                <a:latin typeface="Verdana"/>
                <a:cs typeface="Verdana"/>
              </a:rPr>
              <a:t>Gateway,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sz="1700" spc="-60">
                <a:latin typeface="Verdana"/>
                <a:cs typeface="Verdana"/>
              </a:rPr>
              <a:t>and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sz="1700" spc="-100">
                <a:latin typeface="Verdana"/>
                <a:cs typeface="Verdana"/>
              </a:rPr>
              <a:t>cost-</a:t>
            </a:r>
            <a:r>
              <a:rPr dirty="0" sz="1700" spc="-35">
                <a:latin typeface="Verdana"/>
                <a:cs typeface="Verdana"/>
              </a:rPr>
              <a:t>efficiency </a:t>
            </a:r>
            <a:r>
              <a:rPr dirty="0" sz="1700" spc="-105">
                <a:latin typeface="Verdana"/>
                <a:cs typeface="Verdana"/>
              </a:rPr>
              <a:t>using</a:t>
            </a:r>
            <a:r>
              <a:rPr dirty="0" sz="1700" spc="-254">
                <a:latin typeface="Verdana"/>
                <a:cs typeface="Verdana"/>
              </a:rPr>
              <a:t> </a:t>
            </a:r>
            <a:r>
              <a:rPr dirty="0" sz="1700" spc="-20">
                <a:latin typeface="Verdana"/>
                <a:cs typeface="Verdana"/>
              </a:rPr>
              <a:t>S3</a:t>
            </a:r>
            <a:r>
              <a:rPr dirty="0" sz="1700" spc="-250">
                <a:latin typeface="Verdana"/>
                <a:cs typeface="Verdana"/>
              </a:rPr>
              <a:t> </a:t>
            </a:r>
            <a:r>
              <a:rPr dirty="0" sz="1700" spc="-85">
                <a:latin typeface="Verdana"/>
                <a:cs typeface="Verdana"/>
              </a:rPr>
              <a:t>storage</a:t>
            </a:r>
            <a:r>
              <a:rPr dirty="0" sz="1700" spc="-254">
                <a:latin typeface="Verdana"/>
                <a:cs typeface="Verdana"/>
              </a:rPr>
              <a:t> </a:t>
            </a:r>
            <a:r>
              <a:rPr dirty="0" sz="1700" spc="-95">
                <a:latin typeface="Verdana"/>
                <a:cs typeface="Verdana"/>
              </a:rPr>
              <a:t>tiers</a:t>
            </a:r>
            <a:r>
              <a:rPr dirty="0" sz="1700" spc="-250">
                <a:latin typeface="Verdana"/>
                <a:cs typeface="Verdana"/>
              </a:rPr>
              <a:t> </a:t>
            </a:r>
            <a:r>
              <a:rPr dirty="0" sz="1700" spc="-95">
                <a:latin typeface="Verdana"/>
                <a:cs typeface="Verdana"/>
              </a:rPr>
              <a:t>and</a:t>
            </a:r>
            <a:r>
              <a:rPr dirty="0" sz="1700" spc="-250">
                <a:latin typeface="Verdana"/>
                <a:cs typeface="Verdana"/>
              </a:rPr>
              <a:t> </a:t>
            </a:r>
            <a:r>
              <a:rPr dirty="0" sz="1700" spc="-155">
                <a:latin typeface="Verdana"/>
                <a:cs typeface="Verdana"/>
              </a:rPr>
              <a:t>pay-</a:t>
            </a:r>
            <a:r>
              <a:rPr dirty="0" sz="1700" spc="-145">
                <a:latin typeface="Verdana"/>
                <a:cs typeface="Verdana"/>
              </a:rPr>
              <a:t>as-</a:t>
            </a:r>
            <a:r>
              <a:rPr dirty="0" sz="1700" spc="-160">
                <a:latin typeface="Verdana"/>
                <a:cs typeface="Verdana"/>
              </a:rPr>
              <a:t>you-</a:t>
            </a:r>
            <a:r>
              <a:rPr dirty="0" sz="1700">
                <a:latin typeface="Verdana"/>
                <a:cs typeface="Verdana"/>
              </a:rPr>
              <a:t>go</a:t>
            </a:r>
            <a:r>
              <a:rPr dirty="0" sz="1700" spc="-254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pricing.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700" spc="-120">
                <a:latin typeface="Verdana"/>
                <a:cs typeface="Verdana"/>
              </a:rPr>
              <a:t>aws.amazon.com/cloud-</a:t>
            </a:r>
            <a:r>
              <a:rPr dirty="0" sz="1700" spc="-10">
                <a:latin typeface="Verdana"/>
                <a:cs typeface="Verdana"/>
              </a:rPr>
              <a:t>storage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87316" y="1014843"/>
            <a:ext cx="178244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40">
                <a:latin typeface="Verdana"/>
                <a:cs typeface="Verdana"/>
              </a:rPr>
              <a:t>AWS</a:t>
            </a:r>
            <a:r>
              <a:rPr dirty="0" sz="1700" spc="-275">
                <a:latin typeface="Verdana"/>
                <a:cs typeface="Verdana"/>
              </a:rPr>
              <a:t> </a:t>
            </a:r>
            <a:r>
              <a:rPr dirty="0" sz="1700" spc="-90">
                <a:latin typeface="Verdana"/>
                <a:cs typeface="Verdana"/>
              </a:rPr>
              <a:t>Presentation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431166" y="1014843"/>
            <a:ext cx="84137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50">
                <a:solidFill>
                  <a:srgbClr val="F99C00"/>
                </a:solidFill>
                <a:latin typeface="Verdana"/>
                <a:cs typeface="Verdana"/>
              </a:rPr>
              <a:t>Page</a:t>
            </a:r>
            <a:r>
              <a:rPr dirty="0" sz="1700" spc="-254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F99C00"/>
                </a:solidFill>
                <a:latin typeface="Verdana"/>
                <a:cs typeface="Verdana"/>
              </a:rPr>
              <a:t>02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6000" y="2228953"/>
            <a:ext cx="7362825" cy="23850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950" spc="-775">
                <a:solidFill>
                  <a:srgbClr val="202A20"/>
                </a:solidFill>
                <a:latin typeface="Verdana"/>
                <a:cs typeface="Verdana"/>
              </a:rPr>
              <a:t>I</a:t>
            </a:r>
            <a:r>
              <a:rPr dirty="0" sz="7950" spc="-545">
                <a:solidFill>
                  <a:srgbClr val="202A20"/>
                </a:solidFill>
                <a:latin typeface="Verdana"/>
                <a:cs typeface="Verdana"/>
              </a:rPr>
              <a:t>N</a:t>
            </a:r>
            <a:r>
              <a:rPr dirty="0" sz="7950" spc="-530">
                <a:solidFill>
                  <a:srgbClr val="202A20"/>
                </a:solidFill>
                <a:latin typeface="Verdana"/>
                <a:cs typeface="Verdana"/>
              </a:rPr>
              <a:t>T</a:t>
            </a:r>
            <a:r>
              <a:rPr dirty="0" sz="7950" spc="-555">
                <a:solidFill>
                  <a:srgbClr val="202A20"/>
                </a:solidFill>
                <a:latin typeface="Verdana"/>
                <a:cs typeface="Verdana"/>
              </a:rPr>
              <a:t>R</a:t>
            </a:r>
            <a:r>
              <a:rPr dirty="0" sz="7950" spc="-530">
                <a:solidFill>
                  <a:srgbClr val="202A20"/>
                </a:solidFill>
                <a:latin typeface="Verdana"/>
                <a:cs typeface="Verdana"/>
              </a:rPr>
              <a:t>O</a:t>
            </a:r>
            <a:r>
              <a:rPr dirty="0" sz="7950" spc="-565">
                <a:solidFill>
                  <a:srgbClr val="202A20"/>
                </a:solidFill>
                <a:latin typeface="Verdana"/>
                <a:cs typeface="Verdana"/>
              </a:rPr>
              <a:t>D</a:t>
            </a:r>
            <a:r>
              <a:rPr dirty="0" sz="7950" spc="-545">
                <a:solidFill>
                  <a:srgbClr val="202A20"/>
                </a:solidFill>
                <a:latin typeface="Verdana"/>
                <a:cs typeface="Verdana"/>
              </a:rPr>
              <a:t>U</a:t>
            </a:r>
            <a:r>
              <a:rPr dirty="0" sz="7950" spc="-560">
                <a:solidFill>
                  <a:srgbClr val="202A20"/>
                </a:solidFill>
                <a:latin typeface="Verdana"/>
                <a:cs typeface="Verdana"/>
              </a:rPr>
              <a:t>C</a:t>
            </a:r>
            <a:r>
              <a:rPr dirty="0" sz="7950" spc="-530">
                <a:solidFill>
                  <a:srgbClr val="202A20"/>
                </a:solidFill>
                <a:latin typeface="Verdana"/>
                <a:cs typeface="Verdana"/>
              </a:rPr>
              <a:t>T</a:t>
            </a:r>
            <a:r>
              <a:rPr dirty="0" sz="7950" spc="-775">
                <a:solidFill>
                  <a:srgbClr val="202A20"/>
                </a:solidFill>
                <a:latin typeface="Verdana"/>
                <a:cs typeface="Verdana"/>
              </a:rPr>
              <a:t>I</a:t>
            </a:r>
            <a:r>
              <a:rPr dirty="0" sz="7950" spc="-530">
                <a:solidFill>
                  <a:srgbClr val="202A20"/>
                </a:solidFill>
                <a:latin typeface="Verdana"/>
                <a:cs typeface="Verdana"/>
              </a:rPr>
              <a:t>O</a:t>
            </a:r>
            <a:r>
              <a:rPr dirty="0" sz="7950" spc="-140">
                <a:solidFill>
                  <a:srgbClr val="202A20"/>
                </a:solidFill>
                <a:latin typeface="Verdana"/>
                <a:cs typeface="Verdana"/>
              </a:rPr>
              <a:t>N</a:t>
            </a:r>
            <a:endParaRPr sz="7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175"/>
              </a:spcBef>
            </a:pPr>
            <a:r>
              <a:rPr dirty="0" sz="2350" spc="-75">
                <a:solidFill>
                  <a:srgbClr val="F99C00"/>
                </a:solidFill>
                <a:latin typeface="Verdana"/>
                <a:cs typeface="Verdana"/>
              </a:rPr>
              <a:t>Why</a:t>
            </a:r>
            <a:r>
              <a:rPr dirty="0" sz="2350" spc="-370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350" spc="-105">
                <a:solidFill>
                  <a:srgbClr val="F99C00"/>
                </a:solidFill>
                <a:latin typeface="Verdana"/>
                <a:cs typeface="Verdana"/>
              </a:rPr>
              <a:t>Personal</a:t>
            </a:r>
            <a:r>
              <a:rPr dirty="0" sz="2350" spc="-365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350" spc="-80">
                <a:solidFill>
                  <a:srgbClr val="F99C00"/>
                </a:solidFill>
                <a:latin typeface="Verdana"/>
                <a:cs typeface="Verdana"/>
              </a:rPr>
              <a:t>Cloud</a:t>
            </a:r>
            <a:r>
              <a:rPr dirty="0" sz="2350" spc="-370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350" spc="-10">
                <a:solidFill>
                  <a:srgbClr val="F99C00"/>
                </a:solidFill>
                <a:latin typeface="Verdana"/>
                <a:cs typeface="Verdana"/>
              </a:rPr>
              <a:t>Storage?</a:t>
            </a:r>
            <a:endParaRPr sz="2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57679" y="1191822"/>
            <a:ext cx="3872229" cy="0"/>
          </a:xfrm>
          <a:custGeom>
            <a:avLst/>
            <a:gdLst/>
            <a:ahLst/>
            <a:cxnLst/>
            <a:rect l="l" t="t" r="r" b="b"/>
            <a:pathLst>
              <a:path w="3872229" h="0">
                <a:moveTo>
                  <a:pt x="0" y="0"/>
                </a:moveTo>
                <a:lnTo>
                  <a:pt x="3872037" y="0"/>
                </a:lnTo>
              </a:path>
            </a:pathLst>
          </a:custGeom>
          <a:ln w="19049">
            <a:solidFill>
              <a:srgbClr val="F99C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340529" y="0"/>
            <a:ext cx="9947910" cy="10287000"/>
            <a:chOff x="8340529" y="0"/>
            <a:chExt cx="9947910" cy="10287000"/>
          </a:xfrm>
        </p:grpSpPr>
        <p:sp>
          <p:nvSpPr>
            <p:cNvPr id="4" name="object 4"/>
            <p:cNvSpPr/>
            <p:nvPr/>
          </p:nvSpPr>
          <p:spPr>
            <a:xfrm>
              <a:off x="15201899" y="0"/>
              <a:ext cx="3086100" cy="4240530"/>
            </a:xfrm>
            <a:custGeom>
              <a:avLst/>
              <a:gdLst/>
              <a:ahLst/>
              <a:cxnLst/>
              <a:rect l="l" t="t" r="r" b="b"/>
              <a:pathLst>
                <a:path w="3086100" h="4240530">
                  <a:moveTo>
                    <a:pt x="3086100" y="4240235"/>
                  </a:moveTo>
                  <a:lnTo>
                    <a:pt x="0" y="4240235"/>
                  </a:lnTo>
                  <a:lnTo>
                    <a:pt x="0" y="0"/>
                  </a:lnTo>
                  <a:lnTo>
                    <a:pt x="3086100" y="0"/>
                  </a:lnTo>
                  <a:lnTo>
                    <a:pt x="3086100" y="4240235"/>
                  </a:lnTo>
                  <a:close/>
                </a:path>
              </a:pathLst>
            </a:custGeom>
            <a:solidFill>
              <a:srgbClr val="202A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40529" y="4245013"/>
              <a:ext cx="9947469" cy="604198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33846" y="1014843"/>
            <a:ext cx="145796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50">
                <a:latin typeface="Verdana"/>
                <a:cs typeface="Verdana"/>
              </a:rPr>
              <a:t>Core</a:t>
            </a:r>
            <a:r>
              <a:rPr dirty="0" sz="1700" spc="-260">
                <a:latin typeface="Verdana"/>
                <a:cs typeface="Verdana"/>
              </a:rPr>
              <a:t> </a:t>
            </a:r>
            <a:r>
              <a:rPr dirty="0" sz="1700" spc="-80">
                <a:latin typeface="Verdana"/>
                <a:cs typeface="Verdana"/>
              </a:rPr>
              <a:t>Solutions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000" y="5017394"/>
            <a:ext cx="6517005" cy="42456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7600"/>
              </a:lnSpc>
              <a:spcBef>
                <a:spcPts val="95"/>
              </a:spcBef>
            </a:pPr>
            <a:r>
              <a:rPr dirty="0" sz="1700" spc="-125">
                <a:latin typeface="Verdana"/>
                <a:cs typeface="Verdana"/>
              </a:rPr>
              <a:t>Traditional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local</a:t>
            </a:r>
            <a:r>
              <a:rPr dirty="0" sz="1700" spc="-70">
                <a:latin typeface="Verdana"/>
                <a:cs typeface="Verdana"/>
              </a:rPr>
              <a:t> </a:t>
            </a:r>
            <a:r>
              <a:rPr dirty="0" sz="1700" spc="-60">
                <a:latin typeface="Verdana"/>
                <a:cs typeface="Verdana"/>
              </a:rPr>
              <a:t>storage</a:t>
            </a:r>
            <a:r>
              <a:rPr dirty="0" sz="1700" spc="-45">
                <a:latin typeface="Verdana"/>
                <a:cs typeface="Verdana"/>
              </a:rPr>
              <a:t> </a:t>
            </a:r>
            <a:r>
              <a:rPr dirty="0" sz="1700" spc="-75">
                <a:latin typeface="Verdana"/>
                <a:cs typeface="Verdana"/>
              </a:rPr>
              <a:t>solutions</a:t>
            </a:r>
            <a:r>
              <a:rPr dirty="0" sz="1700" spc="-45">
                <a:latin typeface="Verdana"/>
                <a:cs typeface="Verdana"/>
              </a:rPr>
              <a:t> are</a:t>
            </a:r>
            <a:r>
              <a:rPr dirty="0" sz="1700" spc="-50">
                <a:latin typeface="Verdana"/>
                <a:cs typeface="Verdana"/>
              </a:rPr>
              <a:t> </a:t>
            </a:r>
            <a:r>
              <a:rPr dirty="0" sz="1700" spc="-90">
                <a:latin typeface="Verdana"/>
                <a:cs typeface="Verdana"/>
              </a:rPr>
              <a:t>increasingly</a:t>
            </a:r>
            <a:r>
              <a:rPr dirty="0" sz="1700" spc="-45">
                <a:latin typeface="Verdana"/>
                <a:cs typeface="Verdana"/>
              </a:rPr>
              <a:t> </a:t>
            </a:r>
            <a:r>
              <a:rPr dirty="0" sz="1700" spc="-100">
                <a:latin typeface="Verdana"/>
                <a:cs typeface="Verdana"/>
              </a:rPr>
              <a:t>inadequate</a:t>
            </a:r>
            <a:r>
              <a:rPr dirty="0" sz="1700" spc="-45">
                <a:latin typeface="Verdana"/>
                <a:cs typeface="Verdana"/>
              </a:rPr>
              <a:t> </a:t>
            </a:r>
            <a:r>
              <a:rPr dirty="0" sz="1700" spc="-25">
                <a:latin typeface="Verdana"/>
                <a:cs typeface="Verdana"/>
              </a:rPr>
              <a:t>for </a:t>
            </a:r>
            <a:r>
              <a:rPr dirty="0" sz="1700" spc="-120">
                <a:latin typeface="Verdana"/>
                <a:cs typeface="Verdana"/>
              </a:rPr>
              <a:t>modern</a:t>
            </a:r>
            <a:r>
              <a:rPr dirty="0" sz="1700" spc="-30">
                <a:latin typeface="Verdana"/>
                <a:cs typeface="Verdana"/>
              </a:rPr>
              <a:t> </a:t>
            </a:r>
            <a:r>
              <a:rPr dirty="0" sz="1700" spc="-95">
                <a:latin typeface="Verdana"/>
                <a:cs typeface="Verdana"/>
              </a:rPr>
              <a:t>needs.</a:t>
            </a:r>
            <a:r>
              <a:rPr dirty="0" sz="1700" spc="-50">
                <a:latin typeface="Verdana"/>
                <a:cs typeface="Verdana"/>
              </a:rPr>
              <a:t> </a:t>
            </a:r>
            <a:r>
              <a:rPr dirty="0" sz="1700" spc="-80">
                <a:latin typeface="Verdana"/>
                <a:cs typeface="Verdana"/>
              </a:rPr>
              <a:t>Physical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sz="1700" spc="-155">
                <a:latin typeface="Verdana"/>
                <a:cs typeface="Verdana"/>
              </a:rPr>
              <a:t>hard</a:t>
            </a:r>
            <a:r>
              <a:rPr dirty="0" sz="1700" spc="5">
                <a:latin typeface="Verdana"/>
                <a:cs typeface="Verdana"/>
              </a:rPr>
              <a:t> </a:t>
            </a:r>
            <a:r>
              <a:rPr dirty="0" sz="1700" spc="-110">
                <a:latin typeface="Verdana"/>
                <a:cs typeface="Verdana"/>
              </a:rPr>
              <a:t>drives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sz="1700" spc="-114">
                <a:latin typeface="Verdana"/>
                <a:cs typeface="Verdana"/>
              </a:rPr>
              <a:t>and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sz="1700" spc="-70">
                <a:latin typeface="Verdana"/>
                <a:cs typeface="Verdana"/>
              </a:rPr>
              <a:t>USB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sz="1700" spc="-65">
                <a:latin typeface="Verdana"/>
                <a:cs typeface="Verdana"/>
              </a:rPr>
              <a:t>devices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sz="1700" spc="-85">
                <a:latin typeface="Verdana"/>
                <a:cs typeface="Verdana"/>
              </a:rPr>
              <a:t>offer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sz="1700" spc="-60">
                <a:latin typeface="Verdana"/>
                <a:cs typeface="Verdana"/>
              </a:rPr>
              <a:t>limited </a:t>
            </a:r>
            <a:r>
              <a:rPr dirty="0" sz="1700" spc="-70">
                <a:latin typeface="Verdana"/>
                <a:cs typeface="Verdana"/>
              </a:rPr>
              <a:t>capacity,</a:t>
            </a:r>
            <a:r>
              <a:rPr dirty="0" sz="1700" spc="-80">
                <a:latin typeface="Verdana"/>
                <a:cs typeface="Verdana"/>
              </a:rPr>
              <a:t> </a:t>
            </a:r>
            <a:r>
              <a:rPr dirty="0" sz="1700" spc="-40">
                <a:latin typeface="Verdana"/>
                <a:cs typeface="Verdana"/>
              </a:rPr>
              <a:t>are</a:t>
            </a:r>
            <a:r>
              <a:rPr dirty="0" sz="1700" spc="-70">
                <a:latin typeface="Verdana"/>
                <a:cs typeface="Verdana"/>
              </a:rPr>
              <a:t> </a:t>
            </a:r>
            <a:r>
              <a:rPr dirty="0" sz="1700" spc="-60">
                <a:latin typeface="Verdana"/>
                <a:cs typeface="Verdana"/>
              </a:rPr>
              <a:t>prone</a:t>
            </a:r>
            <a:r>
              <a:rPr dirty="0" sz="1700" spc="-5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to</a:t>
            </a:r>
            <a:r>
              <a:rPr dirty="0" sz="1700" spc="-50">
                <a:latin typeface="Verdana"/>
                <a:cs typeface="Verdana"/>
              </a:rPr>
              <a:t> </a:t>
            </a:r>
            <a:r>
              <a:rPr dirty="0" sz="1700" spc="-110">
                <a:latin typeface="Verdana"/>
                <a:cs typeface="Verdana"/>
              </a:rPr>
              <a:t>hardware</a:t>
            </a:r>
            <a:r>
              <a:rPr dirty="0" sz="1700" spc="-40">
                <a:latin typeface="Verdana"/>
                <a:cs typeface="Verdana"/>
              </a:rPr>
              <a:t> </a:t>
            </a:r>
            <a:r>
              <a:rPr dirty="0" sz="1700" spc="-120">
                <a:latin typeface="Verdana"/>
                <a:cs typeface="Verdana"/>
              </a:rPr>
              <a:t>failure,</a:t>
            </a:r>
            <a:r>
              <a:rPr dirty="0" sz="1700" spc="-30">
                <a:latin typeface="Verdana"/>
                <a:cs typeface="Verdana"/>
              </a:rPr>
              <a:t> </a:t>
            </a:r>
            <a:r>
              <a:rPr dirty="0" sz="1700" spc="-25">
                <a:latin typeface="Verdana"/>
                <a:cs typeface="Verdana"/>
              </a:rPr>
              <a:t>and</a:t>
            </a:r>
            <a:r>
              <a:rPr dirty="0" sz="1700" spc="-50">
                <a:latin typeface="Verdana"/>
                <a:cs typeface="Verdana"/>
              </a:rPr>
              <a:t> </a:t>
            </a:r>
            <a:r>
              <a:rPr dirty="0" sz="1700" spc="-70">
                <a:latin typeface="Verdana"/>
                <a:cs typeface="Verdana"/>
              </a:rPr>
              <a:t>risk</a:t>
            </a:r>
            <a:r>
              <a:rPr dirty="0" sz="1700" spc="-55">
                <a:latin typeface="Verdana"/>
                <a:cs typeface="Verdana"/>
              </a:rPr>
              <a:t> </a:t>
            </a:r>
            <a:r>
              <a:rPr dirty="0" sz="1700" spc="-110">
                <a:latin typeface="Verdana"/>
                <a:cs typeface="Verdana"/>
              </a:rPr>
              <a:t>permanent</a:t>
            </a:r>
            <a:r>
              <a:rPr dirty="0" sz="1700" spc="-40">
                <a:latin typeface="Verdana"/>
                <a:cs typeface="Verdana"/>
              </a:rPr>
              <a:t> </a:t>
            </a:r>
            <a:r>
              <a:rPr dirty="0" sz="1700" spc="-20">
                <a:latin typeface="Verdana"/>
                <a:cs typeface="Verdana"/>
              </a:rPr>
              <a:t>data </a:t>
            </a:r>
            <a:r>
              <a:rPr dirty="0" sz="1700" spc="-80">
                <a:latin typeface="Verdana"/>
                <a:cs typeface="Verdana"/>
              </a:rPr>
              <a:t>loss.</a:t>
            </a:r>
            <a:r>
              <a:rPr dirty="0" sz="1700" spc="-35">
                <a:latin typeface="Verdana"/>
                <a:cs typeface="Verdana"/>
              </a:rPr>
              <a:t> </a:t>
            </a:r>
            <a:r>
              <a:rPr dirty="0" sz="1700" spc="-100">
                <a:latin typeface="Verdana"/>
                <a:cs typeface="Verdana"/>
              </a:rPr>
              <a:t>Without</a:t>
            </a:r>
            <a:r>
              <a:rPr dirty="0" sz="1700" spc="-35">
                <a:latin typeface="Verdana"/>
                <a:cs typeface="Verdana"/>
              </a:rPr>
              <a:t> </a:t>
            </a:r>
            <a:r>
              <a:rPr dirty="0" sz="1700" spc="-110">
                <a:latin typeface="Verdana"/>
                <a:cs typeface="Verdana"/>
              </a:rPr>
              <a:t>redundancy</a:t>
            </a:r>
            <a:r>
              <a:rPr dirty="0" sz="1700" spc="-40">
                <a:latin typeface="Verdana"/>
                <a:cs typeface="Verdana"/>
              </a:rPr>
              <a:t> </a:t>
            </a:r>
            <a:r>
              <a:rPr dirty="0" sz="1700" spc="-60">
                <a:latin typeface="Verdana"/>
                <a:cs typeface="Verdana"/>
              </a:rPr>
              <a:t>or</a:t>
            </a:r>
            <a:r>
              <a:rPr dirty="0" sz="1700" spc="-35">
                <a:latin typeface="Verdana"/>
                <a:cs typeface="Verdana"/>
              </a:rPr>
              <a:t> </a:t>
            </a:r>
            <a:r>
              <a:rPr dirty="0" sz="1700" spc="-75">
                <a:latin typeface="Verdana"/>
                <a:cs typeface="Verdana"/>
              </a:rPr>
              <a:t>backup</a:t>
            </a:r>
            <a:r>
              <a:rPr dirty="0" sz="1700" spc="-40">
                <a:latin typeface="Verdana"/>
                <a:cs typeface="Verdana"/>
              </a:rPr>
              <a:t> </a:t>
            </a:r>
            <a:r>
              <a:rPr dirty="0" sz="1700" spc="-114">
                <a:latin typeface="Verdana"/>
                <a:cs typeface="Verdana"/>
              </a:rPr>
              <a:t>mechanisms,</a:t>
            </a:r>
            <a:r>
              <a:rPr dirty="0" sz="1700" spc="-3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a</a:t>
            </a:r>
            <a:r>
              <a:rPr dirty="0" sz="1700" spc="-40">
                <a:latin typeface="Verdana"/>
                <a:cs typeface="Verdana"/>
              </a:rPr>
              <a:t> </a:t>
            </a:r>
            <a:r>
              <a:rPr dirty="0" sz="1700" spc="-85">
                <a:latin typeface="Verdana"/>
                <a:cs typeface="Verdana"/>
              </a:rPr>
              <a:t>single</a:t>
            </a:r>
            <a:r>
              <a:rPr dirty="0" sz="1700" spc="-35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device </a:t>
            </a:r>
            <a:r>
              <a:rPr dirty="0" sz="1700" spc="-120">
                <a:latin typeface="Verdana"/>
                <a:cs typeface="Verdana"/>
              </a:rPr>
              <a:t>failure</a:t>
            </a:r>
            <a:r>
              <a:rPr dirty="0" sz="1700" spc="-260">
                <a:latin typeface="Verdana"/>
                <a:cs typeface="Verdana"/>
              </a:rPr>
              <a:t> </a:t>
            </a:r>
            <a:r>
              <a:rPr dirty="0" sz="1700" spc="-55">
                <a:latin typeface="Verdana"/>
                <a:cs typeface="Verdana"/>
              </a:rPr>
              <a:t>can</a:t>
            </a:r>
            <a:r>
              <a:rPr dirty="0" sz="1700" spc="-260">
                <a:latin typeface="Verdana"/>
                <a:cs typeface="Verdana"/>
              </a:rPr>
              <a:t> </a:t>
            </a:r>
            <a:r>
              <a:rPr dirty="0" sz="1700" spc="-105">
                <a:latin typeface="Verdana"/>
                <a:cs typeface="Verdana"/>
              </a:rPr>
              <a:t>result</a:t>
            </a:r>
            <a:r>
              <a:rPr dirty="0" sz="1700" spc="-260">
                <a:latin typeface="Verdana"/>
                <a:cs typeface="Verdana"/>
              </a:rPr>
              <a:t> </a:t>
            </a:r>
            <a:r>
              <a:rPr dirty="0" sz="1700" spc="-130">
                <a:latin typeface="Verdana"/>
                <a:cs typeface="Verdana"/>
              </a:rPr>
              <a:t>in</a:t>
            </a:r>
            <a:r>
              <a:rPr dirty="0" sz="1700" spc="-260">
                <a:latin typeface="Verdana"/>
                <a:cs typeface="Verdana"/>
              </a:rPr>
              <a:t> </a:t>
            </a:r>
            <a:r>
              <a:rPr dirty="0" sz="1700" spc="-90">
                <a:latin typeface="Verdana"/>
                <a:cs typeface="Verdana"/>
              </a:rPr>
              <a:t>the</a:t>
            </a:r>
            <a:r>
              <a:rPr dirty="0" sz="1700" spc="-260">
                <a:latin typeface="Verdana"/>
                <a:cs typeface="Verdana"/>
              </a:rPr>
              <a:t> </a:t>
            </a:r>
            <a:r>
              <a:rPr dirty="0" sz="1700" spc="-30">
                <a:latin typeface="Verdana"/>
                <a:cs typeface="Verdana"/>
              </a:rPr>
              <a:t>loss</a:t>
            </a:r>
            <a:r>
              <a:rPr dirty="0" sz="1700" spc="-260">
                <a:latin typeface="Verdana"/>
                <a:cs typeface="Verdana"/>
              </a:rPr>
              <a:t> </a:t>
            </a:r>
            <a:r>
              <a:rPr dirty="0" sz="1700" spc="-30">
                <a:latin typeface="Verdana"/>
                <a:cs typeface="Verdana"/>
              </a:rPr>
              <a:t>of</a:t>
            </a:r>
            <a:r>
              <a:rPr dirty="0" sz="1700" spc="-260">
                <a:latin typeface="Verdana"/>
                <a:cs typeface="Verdana"/>
              </a:rPr>
              <a:t> </a:t>
            </a:r>
            <a:r>
              <a:rPr dirty="0" sz="1700" spc="-85">
                <a:latin typeface="Verdana"/>
                <a:cs typeface="Verdana"/>
              </a:rPr>
              <a:t>irreplaceable</a:t>
            </a:r>
            <a:r>
              <a:rPr dirty="0" sz="1700" spc="-260">
                <a:latin typeface="Verdana"/>
                <a:cs typeface="Verdana"/>
              </a:rPr>
              <a:t> </a:t>
            </a:r>
            <a:r>
              <a:rPr dirty="0" sz="1700" spc="-70">
                <a:latin typeface="Verdana"/>
                <a:cs typeface="Verdana"/>
              </a:rPr>
              <a:t>files</a:t>
            </a:r>
            <a:r>
              <a:rPr dirty="0" sz="1700" spc="-260">
                <a:latin typeface="Verdana"/>
                <a:cs typeface="Verdana"/>
              </a:rPr>
              <a:t> </a:t>
            </a:r>
            <a:r>
              <a:rPr dirty="0" sz="1700" spc="-95">
                <a:latin typeface="Verdana"/>
                <a:cs typeface="Verdana"/>
              </a:rPr>
              <a:t>and</a:t>
            </a:r>
            <a:r>
              <a:rPr dirty="0" sz="1700" spc="-260">
                <a:latin typeface="Verdana"/>
                <a:cs typeface="Verdana"/>
              </a:rPr>
              <a:t> </a:t>
            </a:r>
            <a:r>
              <a:rPr dirty="0" sz="1700" spc="-85">
                <a:latin typeface="Verdana"/>
                <a:cs typeface="Verdana"/>
              </a:rPr>
              <a:t>critical</a:t>
            </a:r>
            <a:r>
              <a:rPr dirty="0" sz="1700" spc="-260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data.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700">
              <a:latin typeface="Verdana"/>
              <a:cs typeface="Verdana"/>
            </a:endParaRPr>
          </a:p>
          <a:p>
            <a:pPr algn="just" marL="12700" marR="5080">
              <a:lnSpc>
                <a:spcPct val="117600"/>
              </a:lnSpc>
              <a:spcBef>
                <a:spcPts val="5"/>
              </a:spcBef>
            </a:pPr>
            <a:r>
              <a:rPr dirty="0" sz="1700" spc="-110">
                <a:latin typeface="Verdana"/>
                <a:cs typeface="Verdana"/>
              </a:rPr>
              <a:t>Existing</a:t>
            </a:r>
            <a:r>
              <a:rPr dirty="0" sz="1700" spc="-220">
                <a:latin typeface="Verdana"/>
                <a:cs typeface="Verdana"/>
              </a:rPr>
              <a:t> </a:t>
            </a:r>
            <a:r>
              <a:rPr dirty="0" sz="1700" spc="-85">
                <a:latin typeface="Verdana"/>
                <a:cs typeface="Verdana"/>
              </a:rPr>
              <a:t>solutions</a:t>
            </a:r>
            <a:r>
              <a:rPr dirty="0" sz="1700" spc="-220">
                <a:latin typeface="Verdana"/>
                <a:cs typeface="Verdana"/>
              </a:rPr>
              <a:t> </a:t>
            </a:r>
            <a:r>
              <a:rPr dirty="0" sz="1700" spc="-40">
                <a:latin typeface="Verdana"/>
                <a:cs typeface="Verdana"/>
              </a:rPr>
              <a:t>also</a:t>
            </a:r>
            <a:r>
              <a:rPr dirty="0" sz="1700" spc="-220">
                <a:latin typeface="Verdana"/>
                <a:cs typeface="Verdana"/>
              </a:rPr>
              <a:t> </a:t>
            </a:r>
            <a:r>
              <a:rPr dirty="0" sz="1700" spc="-50">
                <a:latin typeface="Verdana"/>
                <a:cs typeface="Verdana"/>
              </a:rPr>
              <a:t>lack</a:t>
            </a:r>
            <a:r>
              <a:rPr dirty="0" sz="1700" spc="-220">
                <a:latin typeface="Verdana"/>
                <a:cs typeface="Verdana"/>
              </a:rPr>
              <a:t> </a:t>
            </a:r>
            <a:r>
              <a:rPr dirty="0" sz="1700" spc="-55">
                <a:latin typeface="Verdana"/>
                <a:cs typeface="Verdana"/>
              </a:rPr>
              <a:t>seamless</a:t>
            </a:r>
            <a:r>
              <a:rPr dirty="0" sz="1700" spc="-220">
                <a:latin typeface="Verdana"/>
                <a:cs typeface="Verdana"/>
              </a:rPr>
              <a:t> </a:t>
            </a:r>
            <a:r>
              <a:rPr dirty="0" sz="1700" spc="-100">
                <a:latin typeface="Verdana"/>
                <a:cs typeface="Verdana"/>
              </a:rPr>
              <a:t>remote</a:t>
            </a:r>
            <a:r>
              <a:rPr dirty="0" sz="1700" spc="-220">
                <a:latin typeface="Verdana"/>
                <a:cs typeface="Verdana"/>
              </a:rPr>
              <a:t> </a:t>
            </a:r>
            <a:r>
              <a:rPr dirty="0" sz="1700" spc="-70">
                <a:latin typeface="Verdana"/>
                <a:cs typeface="Verdana"/>
              </a:rPr>
              <a:t>accessibility</a:t>
            </a:r>
            <a:r>
              <a:rPr dirty="0" sz="1700" spc="-220">
                <a:latin typeface="Verdana"/>
                <a:cs typeface="Verdana"/>
              </a:rPr>
              <a:t> </a:t>
            </a:r>
            <a:r>
              <a:rPr dirty="0" sz="1700" spc="-90">
                <a:latin typeface="Verdana"/>
                <a:cs typeface="Verdana"/>
              </a:rPr>
              <a:t>and</a:t>
            </a:r>
            <a:r>
              <a:rPr dirty="0" sz="1700" spc="-220">
                <a:latin typeface="Verdana"/>
                <a:cs typeface="Verdana"/>
              </a:rPr>
              <a:t> </a:t>
            </a:r>
            <a:r>
              <a:rPr dirty="0" sz="1700" spc="-130">
                <a:latin typeface="Verdana"/>
                <a:cs typeface="Verdana"/>
              </a:rPr>
              <a:t>real-</a:t>
            </a:r>
            <a:r>
              <a:rPr dirty="0" sz="1700" spc="-110">
                <a:latin typeface="Verdana"/>
                <a:cs typeface="Verdana"/>
              </a:rPr>
              <a:t>time</a:t>
            </a:r>
            <a:r>
              <a:rPr dirty="0" sz="1700" spc="-5">
                <a:latin typeface="Verdana"/>
                <a:cs typeface="Verdana"/>
              </a:rPr>
              <a:t> </a:t>
            </a:r>
            <a:r>
              <a:rPr dirty="0" sz="1700" spc="-110">
                <a:latin typeface="Verdana"/>
                <a:cs typeface="Verdana"/>
              </a:rPr>
              <a:t>synchronization</a:t>
            </a:r>
            <a:r>
              <a:rPr dirty="0" sz="1700" spc="-5">
                <a:latin typeface="Verdana"/>
                <a:cs typeface="Verdana"/>
              </a:rPr>
              <a:t> </a:t>
            </a:r>
            <a:r>
              <a:rPr dirty="0" sz="1700" spc="-45">
                <a:latin typeface="Verdana"/>
                <a:cs typeface="Verdana"/>
              </a:rPr>
              <a:t>across</a:t>
            </a:r>
            <a:r>
              <a:rPr dirty="0" sz="1700" spc="-5">
                <a:latin typeface="Verdana"/>
                <a:cs typeface="Verdana"/>
              </a:rPr>
              <a:t> </a:t>
            </a:r>
            <a:r>
              <a:rPr dirty="0" sz="1700" spc="-85">
                <a:latin typeface="Verdana"/>
                <a:cs typeface="Verdana"/>
              </a:rPr>
              <a:t>devices.</a:t>
            </a:r>
            <a:r>
              <a:rPr dirty="0" sz="1700" spc="-5">
                <a:latin typeface="Verdana"/>
                <a:cs typeface="Verdana"/>
              </a:rPr>
              <a:t> </a:t>
            </a:r>
            <a:r>
              <a:rPr dirty="0" sz="1700" spc="-55">
                <a:latin typeface="Verdana"/>
                <a:cs typeface="Verdana"/>
              </a:rPr>
              <a:t>Users</a:t>
            </a:r>
            <a:r>
              <a:rPr dirty="0" sz="1700" spc="-5">
                <a:latin typeface="Verdana"/>
                <a:cs typeface="Verdana"/>
              </a:rPr>
              <a:t> </a:t>
            </a:r>
            <a:r>
              <a:rPr dirty="0" sz="1700" spc="-95">
                <a:latin typeface="Verdana"/>
                <a:cs typeface="Verdana"/>
              </a:rPr>
              <a:t>are</a:t>
            </a:r>
            <a:r>
              <a:rPr dirty="0" sz="1700" spc="-5">
                <a:latin typeface="Verdana"/>
                <a:cs typeface="Verdana"/>
              </a:rPr>
              <a:t> </a:t>
            </a:r>
            <a:r>
              <a:rPr dirty="0" sz="1700" spc="-100">
                <a:latin typeface="Verdana"/>
                <a:cs typeface="Verdana"/>
              </a:rPr>
              <a:t>unable</a:t>
            </a:r>
            <a:r>
              <a:rPr dirty="0" sz="1700" spc="-5">
                <a:latin typeface="Verdana"/>
                <a:cs typeface="Verdana"/>
              </a:rPr>
              <a:t> </a:t>
            </a:r>
            <a:r>
              <a:rPr dirty="0" sz="1700" spc="-55">
                <a:latin typeface="Verdana"/>
                <a:cs typeface="Verdana"/>
              </a:rPr>
              <a:t>to</a:t>
            </a:r>
            <a:r>
              <a:rPr dirty="0" sz="1700" spc="-5">
                <a:latin typeface="Verdana"/>
                <a:cs typeface="Verdana"/>
              </a:rPr>
              <a:t> </a:t>
            </a:r>
            <a:r>
              <a:rPr dirty="0" sz="1700" spc="5">
                <a:latin typeface="Verdana"/>
                <a:cs typeface="Verdana"/>
              </a:rPr>
              <a:t>access</a:t>
            </a:r>
            <a:r>
              <a:rPr dirty="0" sz="1700" spc="45">
                <a:latin typeface="Verdana"/>
                <a:cs typeface="Verdana"/>
              </a:rPr>
              <a:t> </a:t>
            </a:r>
            <a:r>
              <a:rPr dirty="0" sz="1700" spc="-120">
                <a:latin typeface="Verdana"/>
                <a:cs typeface="Verdana"/>
              </a:rPr>
              <a:t>their</a:t>
            </a:r>
            <a:r>
              <a:rPr dirty="0" sz="1700" spc="630">
                <a:latin typeface="Verdana"/>
                <a:cs typeface="Verdana"/>
              </a:rPr>
              <a:t> </a:t>
            </a:r>
            <a:r>
              <a:rPr dirty="0" sz="1700" spc="-65">
                <a:latin typeface="Verdana"/>
                <a:cs typeface="Verdana"/>
              </a:rPr>
              <a:t>files</a:t>
            </a:r>
            <a:r>
              <a:rPr dirty="0" sz="1700" spc="630">
                <a:latin typeface="Verdana"/>
                <a:cs typeface="Verdana"/>
              </a:rPr>
              <a:t> </a:t>
            </a:r>
            <a:r>
              <a:rPr dirty="0" sz="1700" spc="-110">
                <a:latin typeface="Verdana"/>
                <a:cs typeface="Verdana"/>
              </a:rPr>
              <a:t>from</a:t>
            </a:r>
            <a:r>
              <a:rPr dirty="0" sz="1700" spc="630">
                <a:latin typeface="Verdana"/>
                <a:cs typeface="Verdana"/>
              </a:rPr>
              <a:t> </a:t>
            </a:r>
            <a:r>
              <a:rPr dirty="0" sz="1700" spc="-125">
                <a:latin typeface="Verdana"/>
                <a:cs typeface="Verdana"/>
              </a:rPr>
              <a:t>anywhere,</a:t>
            </a:r>
            <a:r>
              <a:rPr dirty="0" sz="1700" spc="630">
                <a:latin typeface="Verdana"/>
                <a:cs typeface="Verdana"/>
              </a:rPr>
              <a:t> </a:t>
            </a:r>
            <a:r>
              <a:rPr dirty="0" sz="1700" spc="-70">
                <a:latin typeface="Verdana"/>
                <a:cs typeface="Verdana"/>
              </a:rPr>
              <a:t>collaborate</a:t>
            </a:r>
            <a:r>
              <a:rPr dirty="0" sz="1700" spc="630">
                <a:latin typeface="Verdana"/>
                <a:cs typeface="Verdana"/>
              </a:rPr>
              <a:t> </a:t>
            </a:r>
            <a:r>
              <a:rPr dirty="0" sz="1700" spc="-105">
                <a:latin typeface="Verdana"/>
                <a:cs typeface="Verdana"/>
              </a:rPr>
              <a:t>efficiently,</a:t>
            </a:r>
            <a:r>
              <a:rPr dirty="0" sz="1700" spc="630">
                <a:latin typeface="Verdana"/>
                <a:cs typeface="Verdana"/>
              </a:rPr>
              <a:t> </a:t>
            </a:r>
            <a:r>
              <a:rPr dirty="0" sz="1700" spc="-65">
                <a:latin typeface="Verdana"/>
                <a:cs typeface="Verdana"/>
              </a:rPr>
              <a:t>or</a:t>
            </a:r>
            <a:r>
              <a:rPr dirty="0" sz="1700" spc="630">
                <a:latin typeface="Verdana"/>
                <a:cs typeface="Verdana"/>
              </a:rPr>
              <a:t> </a:t>
            </a:r>
            <a:r>
              <a:rPr dirty="0" sz="1700" spc="-150">
                <a:latin typeface="Verdana"/>
                <a:cs typeface="Verdana"/>
              </a:rPr>
              <a:t>maintain</a:t>
            </a:r>
            <a:r>
              <a:rPr dirty="0" sz="1700" spc="-50">
                <a:latin typeface="Verdana"/>
                <a:cs typeface="Verdana"/>
              </a:rPr>
              <a:t> </a:t>
            </a:r>
            <a:r>
              <a:rPr dirty="0" sz="1700" spc="-80">
                <a:latin typeface="Verdana"/>
                <a:cs typeface="Verdana"/>
              </a:rPr>
              <a:t>consistent</a:t>
            </a:r>
            <a:r>
              <a:rPr dirty="0" sz="1700" spc="-170">
                <a:latin typeface="Verdana"/>
                <a:cs typeface="Verdana"/>
              </a:rPr>
              <a:t> </a:t>
            </a:r>
            <a:r>
              <a:rPr dirty="0" sz="1700" spc="-90">
                <a:latin typeface="Verdana"/>
                <a:cs typeface="Verdana"/>
              </a:rPr>
              <a:t>data</a:t>
            </a:r>
            <a:r>
              <a:rPr dirty="0" sz="1700" spc="-170">
                <a:latin typeface="Verdana"/>
                <a:cs typeface="Verdana"/>
              </a:rPr>
              <a:t> </a:t>
            </a:r>
            <a:r>
              <a:rPr dirty="0" sz="1700" spc="-45">
                <a:latin typeface="Verdana"/>
                <a:cs typeface="Verdana"/>
              </a:rPr>
              <a:t>across</a:t>
            </a:r>
            <a:r>
              <a:rPr dirty="0" sz="1700" spc="-170">
                <a:latin typeface="Verdana"/>
                <a:cs typeface="Verdana"/>
              </a:rPr>
              <a:t> </a:t>
            </a:r>
            <a:r>
              <a:rPr dirty="0" sz="1700" spc="-114">
                <a:latin typeface="Verdana"/>
                <a:cs typeface="Verdana"/>
              </a:rPr>
              <a:t>platforms.</a:t>
            </a:r>
            <a:r>
              <a:rPr dirty="0" sz="1700" spc="-170">
                <a:latin typeface="Verdana"/>
                <a:cs typeface="Verdana"/>
              </a:rPr>
              <a:t> </a:t>
            </a:r>
            <a:r>
              <a:rPr dirty="0" sz="1700" spc="-100">
                <a:latin typeface="Verdana"/>
                <a:cs typeface="Verdana"/>
              </a:rPr>
              <a:t>Our</a:t>
            </a:r>
            <a:r>
              <a:rPr dirty="0" sz="1700" spc="-170">
                <a:latin typeface="Verdana"/>
                <a:cs typeface="Verdana"/>
              </a:rPr>
              <a:t> </a:t>
            </a:r>
            <a:r>
              <a:rPr dirty="0" sz="1700" spc="-145">
                <a:latin typeface="Verdana"/>
                <a:cs typeface="Verdana"/>
              </a:rPr>
              <a:t>goal:</a:t>
            </a:r>
            <a:r>
              <a:rPr dirty="0" sz="1700" spc="-170">
                <a:latin typeface="Verdana"/>
                <a:cs typeface="Verdana"/>
              </a:rPr>
              <a:t> </a:t>
            </a:r>
            <a:r>
              <a:rPr dirty="0" sz="1700" spc="-95">
                <a:latin typeface="Verdana"/>
                <a:cs typeface="Verdana"/>
              </a:rPr>
              <a:t>build</a:t>
            </a:r>
            <a:r>
              <a:rPr dirty="0" sz="1700" spc="-170">
                <a:latin typeface="Verdana"/>
                <a:cs typeface="Verdana"/>
              </a:rPr>
              <a:t> </a:t>
            </a:r>
            <a:r>
              <a:rPr dirty="0" sz="1700" spc="-35">
                <a:latin typeface="Verdana"/>
                <a:cs typeface="Verdana"/>
              </a:rPr>
              <a:t>a</a:t>
            </a:r>
            <a:r>
              <a:rPr dirty="0" sz="1700" spc="-170">
                <a:latin typeface="Verdana"/>
                <a:cs typeface="Verdana"/>
              </a:rPr>
              <a:t> </a:t>
            </a:r>
            <a:r>
              <a:rPr dirty="0" sz="1700" spc="-95">
                <a:latin typeface="Verdana"/>
                <a:cs typeface="Verdana"/>
              </a:rPr>
              <a:t>robust</a:t>
            </a:r>
            <a:r>
              <a:rPr dirty="0" sz="1700" spc="-170">
                <a:latin typeface="Verdana"/>
                <a:cs typeface="Verdana"/>
              </a:rPr>
              <a:t> </a:t>
            </a:r>
            <a:r>
              <a:rPr dirty="0" sz="1700" spc="-75">
                <a:latin typeface="Verdana"/>
                <a:cs typeface="Verdana"/>
              </a:rPr>
              <a:t>personal</a:t>
            </a:r>
            <a:r>
              <a:rPr dirty="0" sz="1700" spc="15">
                <a:latin typeface="Verdana"/>
                <a:cs typeface="Verdana"/>
              </a:rPr>
              <a:t> </a:t>
            </a:r>
            <a:r>
              <a:rPr dirty="0" sz="1700" spc="-45">
                <a:latin typeface="Verdana"/>
                <a:cs typeface="Verdana"/>
              </a:rPr>
              <a:t>cloud</a:t>
            </a:r>
            <a:r>
              <a:rPr dirty="0" sz="1700" spc="-290">
                <a:latin typeface="Verdana"/>
                <a:cs typeface="Verdana"/>
              </a:rPr>
              <a:t> </a:t>
            </a:r>
            <a:r>
              <a:rPr dirty="0" sz="1700" spc="-114">
                <a:latin typeface="Verdana"/>
                <a:cs typeface="Verdana"/>
              </a:rPr>
              <a:t>drive</a:t>
            </a:r>
            <a:r>
              <a:rPr dirty="0" sz="1700" spc="-290">
                <a:latin typeface="Verdana"/>
                <a:cs typeface="Verdana"/>
              </a:rPr>
              <a:t> </a:t>
            </a:r>
            <a:r>
              <a:rPr dirty="0" sz="1700" spc="-60">
                <a:latin typeface="Verdana"/>
                <a:cs typeface="Verdana"/>
              </a:rPr>
              <a:t>on</a:t>
            </a:r>
            <a:r>
              <a:rPr dirty="0" sz="1700" spc="-290">
                <a:latin typeface="Verdana"/>
                <a:cs typeface="Verdana"/>
              </a:rPr>
              <a:t> </a:t>
            </a:r>
            <a:r>
              <a:rPr dirty="0" sz="1700" spc="-35">
                <a:latin typeface="Verdana"/>
                <a:cs typeface="Verdana"/>
              </a:rPr>
              <a:t>AWS</a:t>
            </a:r>
            <a:r>
              <a:rPr dirty="0" sz="1700" spc="-290">
                <a:latin typeface="Verdana"/>
                <a:cs typeface="Verdana"/>
              </a:rPr>
              <a:t> </a:t>
            </a:r>
            <a:r>
              <a:rPr dirty="0" sz="1700" spc="-125">
                <a:latin typeface="Verdana"/>
                <a:cs typeface="Verdana"/>
              </a:rPr>
              <a:t>infrastructure</a:t>
            </a:r>
            <a:r>
              <a:rPr dirty="0" sz="1700" spc="-290">
                <a:latin typeface="Verdana"/>
                <a:cs typeface="Verdana"/>
              </a:rPr>
              <a:t> </a:t>
            </a:r>
            <a:r>
              <a:rPr dirty="0" sz="1700" spc="-55">
                <a:latin typeface="Verdana"/>
                <a:cs typeface="Verdana"/>
              </a:rPr>
              <a:t>to</a:t>
            </a:r>
            <a:r>
              <a:rPr dirty="0" sz="1700" spc="-290">
                <a:latin typeface="Verdana"/>
                <a:cs typeface="Verdana"/>
              </a:rPr>
              <a:t> </a:t>
            </a:r>
            <a:r>
              <a:rPr dirty="0" sz="1700" spc="-75">
                <a:latin typeface="Verdana"/>
                <a:cs typeface="Verdana"/>
              </a:rPr>
              <a:t>overcome</a:t>
            </a:r>
            <a:r>
              <a:rPr dirty="0" sz="1700" spc="-290">
                <a:latin typeface="Verdana"/>
                <a:cs typeface="Verdana"/>
              </a:rPr>
              <a:t> </a:t>
            </a:r>
            <a:r>
              <a:rPr dirty="0" sz="1700" spc="-60">
                <a:latin typeface="Verdana"/>
                <a:cs typeface="Verdana"/>
              </a:rPr>
              <a:t>these</a:t>
            </a:r>
            <a:r>
              <a:rPr dirty="0" sz="1700" spc="-290">
                <a:latin typeface="Verdana"/>
                <a:cs typeface="Verdana"/>
              </a:rPr>
              <a:t> </a:t>
            </a:r>
            <a:r>
              <a:rPr dirty="0" sz="1700" spc="-135">
                <a:latin typeface="Verdana"/>
                <a:cs typeface="Verdana"/>
              </a:rPr>
              <a:t>limitations.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7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</a:pPr>
            <a:r>
              <a:rPr dirty="0" sz="1700" spc="-60">
                <a:latin typeface="Verdana"/>
                <a:cs typeface="Verdana"/>
              </a:rPr>
              <a:t>Powered</a:t>
            </a:r>
            <a:r>
              <a:rPr dirty="0" sz="1700" spc="-260">
                <a:latin typeface="Verdana"/>
                <a:cs typeface="Verdana"/>
              </a:rPr>
              <a:t> </a:t>
            </a:r>
            <a:r>
              <a:rPr dirty="0" sz="1700" spc="-60">
                <a:latin typeface="Verdana"/>
                <a:cs typeface="Verdana"/>
              </a:rPr>
              <a:t>by</a:t>
            </a:r>
            <a:r>
              <a:rPr dirty="0" sz="1700" spc="-265">
                <a:latin typeface="Verdana"/>
                <a:cs typeface="Verdana"/>
              </a:rPr>
              <a:t> </a:t>
            </a:r>
            <a:r>
              <a:rPr dirty="0" sz="1700" spc="-100">
                <a:latin typeface="Verdana"/>
                <a:cs typeface="Verdana"/>
              </a:rPr>
              <a:t>Amazon</a:t>
            </a:r>
            <a:r>
              <a:rPr dirty="0" sz="1700" spc="-260">
                <a:latin typeface="Verdana"/>
                <a:cs typeface="Verdana"/>
              </a:rPr>
              <a:t> </a:t>
            </a:r>
            <a:r>
              <a:rPr dirty="0" sz="1700">
                <a:latin typeface="Verdana"/>
                <a:cs typeface="Verdana"/>
              </a:rPr>
              <a:t>Web</a:t>
            </a:r>
            <a:r>
              <a:rPr dirty="0" sz="1700" spc="-260">
                <a:latin typeface="Verdana"/>
                <a:cs typeface="Verdana"/>
              </a:rPr>
              <a:t> </a:t>
            </a:r>
            <a:r>
              <a:rPr dirty="0" sz="1700" spc="-10">
                <a:latin typeface="Verdana"/>
                <a:cs typeface="Verdana"/>
              </a:rPr>
              <a:t>Services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87316" y="1014843"/>
            <a:ext cx="124587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95">
                <a:latin typeface="Verdana"/>
                <a:cs typeface="Verdana"/>
              </a:rPr>
              <a:t>Presentation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427147" y="1014843"/>
            <a:ext cx="84518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50">
                <a:solidFill>
                  <a:srgbClr val="F99C00"/>
                </a:solidFill>
                <a:latin typeface="Verdana"/>
                <a:cs typeface="Verdana"/>
              </a:rPr>
              <a:t>Page</a:t>
            </a:r>
            <a:r>
              <a:rPr dirty="0" sz="1700" spc="-254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F99C00"/>
                </a:solidFill>
                <a:latin typeface="Verdana"/>
                <a:cs typeface="Verdana"/>
              </a:rPr>
              <a:t>03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6000" y="2228953"/>
            <a:ext cx="10519410" cy="23228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950" spc="-250">
                <a:solidFill>
                  <a:srgbClr val="202A20"/>
                </a:solidFill>
                <a:latin typeface="Verdana"/>
                <a:cs typeface="Verdana"/>
              </a:rPr>
              <a:t>PROBLEM</a:t>
            </a:r>
            <a:r>
              <a:rPr dirty="0" sz="7950" spc="-134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7950" spc="-480">
                <a:solidFill>
                  <a:srgbClr val="202A20"/>
                </a:solidFill>
                <a:latin typeface="Verdana"/>
                <a:cs typeface="Verdana"/>
              </a:rPr>
              <a:t>S</a:t>
            </a:r>
            <a:r>
              <a:rPr dirty="0" sz="7950" spc="-1025">
                <a:solidFill>
                  <a:srgbClr val="202A20"/>
                </a:solidFill>
                <a:latin typeface="Verdana"/>
                <a:cs typeface="Verdana"/>
              </a:rPr>
              <a:t>T</a:t>
            </a:r>
            <a:r>
              <a:rPr dirty="0" sz="7950" spc="-1010">
                <a:solidFill>
                  <a:srgbClr val="202A20"/>
                </a:solidFill>
                <a:latin typeface="Verdana"/>
                <a:cs typeface="Verdana"/>
              </a:rPr>
              <a:t>A</a:t>
            </a:r>
            <a:r>
              <a:rPr dirty="0" sz="7950" spc="-310">
                <a:solidFill>
                  <a:srgbClr val="202A20"/>
                </a:solidFill>
                <a:latin typeface="Verdana"/>
                <a:cs typeface="Verdana"/>
              </a:rPr>
              <a:t>T</a:t>
            </a:r>
            <a:r>
              <a:rPr dirty="0" sz="7950" spc="-330">
                <a:solidFill>
                  <a:srgbClr val="202A20"/>
                </a:solidFill>
                <a:latin typeface="Verdana"/>
                <a:cs typeface="Verdana"/>
              </a:rPr>
              <a:t>E</a:t>
            </a:r>
            <a:r>
              <a:rPr dirty="0" sz="7950" spc="-295">
                <a:solidFill>
                  <a:srgbClr val="202A20"/>
                </a:solidFill>
                <a:latin typeface="Verdana"/>
                <a:cs typeface="Verdana"/>
              </a:rPr>
              <a:t>M</a:t>
            </a:r>
            <a:r>
              <a:rPr dirty="0" sz="7950" spc="-330">
                <a:solidFill>
                  <a:srgbClr val="202A20"/>
                </a:solidFill>
                <a:latin typeface="Verdana"/>
                <a:cs typeface="Verdana"/>
              </a:rPr>
              <a:t>E</a:t>
            </a:r>
            <a:r>
              <a:rPr dirty="0" sz="7950" spc="-325">
                <a:solidFill>
                  <a:srgbClr val="202A20"/>
                </a:solidFill>
                <a:latin typeface="Verdana"/>
                <a:cs typeface="Verdana"/>
              </a:rPr>
              <a:t>N</a:t>
            </a:r>
            <a:r>
              <a:rPr dirty="0" sz="7950" spc="80">
                <a:solidFill>
                  <a:srgbClr val="202A20"/>
                </a:solidFill>
                <a:latin typeface="Verdana"/>
                <a:cs typeface="Verdana"/>
              </a:rPr>
              <a:t>T</a:t>
            </a:r>
            <a:endParaRPr sz="7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105"/>
              </a:spcBef>
            </a:pPr>
            <a:r>
              <a:rPr dirty="0" sz="2000" spc="-85">
                <a:solidFill>
                  <a:srgbClr val="F99C00"/>
                </a:solidFill>
                <a:latin typeface="Verdana"/>
                <a:cs typeface="Verdana"/>
              </a:rPr>
              <a:t>Challenges</a:t>
            </a:r>
            <a:r>
              <a:rPr dirty="0" sz="2000" spc="-280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000" spc="-140">
                <a:solidFill>
                  <a:srgbClr val="F99C00"/>
                </a:solidFill>
                <a:latin typeface="Verdana"/>
                <a:cs typeface="Verdana"/>
              </a:rPr>
              <a:t>with</a:t>
            </a:r>
            <a:r>
              <a:rPr dirty="0" sz="2000" spc="-275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000" spc="-155">
                <a:solidFill>
                  <a:srgbClr val="F99C00"/>
                </a:solidFill>
                <a:latin typeface="Verdana"/>
                <a:cs typeface="Verdana"/>
              </a:rPr>
              <a:t>Traditional</a:t>
            </a:r>
            <a:r>
              <a:rPr dirty="0" sz="2000" spc="-275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99C00"/>
                </a:solidFill>
                <a:latin typeface="Verdana"/>
                <a:cs typeface="Verdana"/>
              </a:rPr>
              <a:t>Storage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57679" y="1191822"/>
            <a:ext cx="3872229" cy="0"/>
          </a:xfrm>
          <a:custGeom>
            <a:avLst/>
            <a:gdLst/>
            <a:ahLst/>
            <a:cxnLst/>
            <a:rect l="l" t="t" r="r" b="b"/>
            <a:pathLst>
              <a:path w="3872229" h="0">
                <a:moveTo>
                  <a:pt x="0" y="0"/>
                </a:moveTo>
                <a:lnTo>
                  <a:pt x="3872037" y="0"/>
                </a:lnTo>
              </a:path>
            </a:pathLst>
          </a:custGeom>
          <a:ln w="19049">
            <a:solidFill>
              <a:srgbClr val="F99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6613489" y="8859495"/>
            <a:ext cx="645795" cy="358775"/>
          </a:xfrm>
          <a:custGeom>
            <a:avLst/>
            <a:gdLst/>
            <a:ahLst/>
            <a:cxnLst/>
            <a:rect l="l" t="t" r="r" b="b"/>
            <a:pathLst>
              <a:path w="645794" h="358775">
                <a:moveTo>
                  <a:pt x="645382" y="358732"/>
                </a:moveTo>
                <a:lnTo>
                  <a:pt x="0" y="358732"/>
                </a:lnTo>
                <a:lnTo>
                  <a:pt x="0" y="240917"/>
                </a:lnTo>
                <a:lnTo>
                  <a:pt x="235708" y="286649"/>
                </a:lnTo>
                <a:lnTo>
                  <a:pt x="36692" y="152363"/>
                </a:lnTo>
                <a:lnTo>
                  <a:pt x="152363" y="36692"/>
                </a:lnTo>
                <a:lnTo>
                  <a:pt x="286649" y="235708"/>
                </a:lnTo>
                <a:lnTo>
                  <a:pt x="240917" y="0"/>
                </a:lnTo>
                <a:lnTo>
                  <a:pt x="404465" y="0"/>
                </a:lnTo>
                <a:lnTo>
                  <a:pt x="358732" y="235708"/>
                </a:lnTo>
                <a:lnTo>
                  <a:pt x="493095" y="36692"/>
                </a:lnTo>
                <a:lnTo>
                  <a:pt x="608689" y="152363"/>
                </a:lnTo>
                <a:lnTo>
                  <a:pt x="409750" y="286649"/>
                </a:lnTo>
                <a:lnTo>
                  <a:pt x="645382" y="240917"/>
                </a:lnTo>
                <a:lnTo>
                  <a:pt x="645382" y="358732"/>
                </a:lnTo>
                <a:close/>
              </a:path>
            </a:pathLst>
          </a:custGeom>
          <a:solidFill>
            <a:srgbClr val="F99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33846" y="1014843"/>
            <a:ext cx="145796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50">
                <a:latin typeface="Verdana"/>
                <a:cs typeface="Verdana"/>
              </a:rPr>
              <a:t>Core</a:t>
            </a:r>
            <a:r>
              <a:rPr dirty="0" sz="1700" spc="-260">
                <a:latin typeface="Verdana"/>
                <a:cs typeface="Verdana"/>
              </a:rPr>
              <a:t> </a:t>
            </a:r>
            <a:r>
              <a:rPr dirty="0" sz="1700" spc="-80">
                <a:latin typeface="Verdana"/>
                <a:cs typeface="Verdana"/>
              </a:rPr>
              <a:t>Solutions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87316" y="1014843"/>
            <a:ext cx="124587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95">
                <a:latin typeface="Verdana"/>
                <a:cs typeface="Verdana"/>
              </a:rPr>
              <a:t>Presentation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425361" y="1014843"/>
            <a:ext cx="84709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50">
                <a:solidFill>
                  <a:srgbClr val="F99C00"/>
                </a:solidFill>
                <a:latin typeface="Verdana"/>
                <a:cs typeface="Verdana"/>
              </a:rPr>
              <a:t>Page</a:t>
            </a:r>
            <a:r>
              <a:rPr dirty="0" sz="1700" spc="-254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F99C00"/>
                </a:solidFill>
                <a:latin typeface="Verdana"/>
                <a:cs typeface="Verdana"/>
              </a:rPr>
              <a:t>04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000" y="8973085"/>
            <a:ext cx="242951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105">
                <a:latin typeface="Verdana"/>
                <a:cs typeface="Verdana"/>
                <a:hlinkClick r:id="rId2"/>
              </a:rPr>
              <a:t>www.reallygreatsite.com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6000" y="1778065"/>
            <a:ext cx="7666355" cy="12357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900" spc="-605">
                <a:solidFill>
                  <a:srgbClr val="202A20"/>
                </a:solidFill>
                <a:latin typeface="Verdana"/>
                <a:cs typeface="Verdana"/>
              </a:rPr>
              <a:t>A</a:t>
            </a:r>
            <a:r>
              <a:rPr dirty="0" sz="7900" spc="-110">
                <a:solidFill>
                  <a:srgbClr val="202A20"/>
                </a:solidFill>
                <a:latin typeface="Verdana"/>
                <a:cs typeface="Verdana"/>
              </a:rPr>
              <a:t>W</a:t>
            </a:r>
            <a:r>
              <a:rPr dirty="0" sz="7900" spc="310">
                <a:solidFill>
                  <a:srgbClr val="202A20"/>
                </a:solidFill>
                <a:latin typeface="Verdana"/>
                <a:cs typeface="Verdana"/>
              </a:rPr>
              <a:t>S</a:t>
            </a:r>
            <a:r>
              <a:rPr dirty="0" sz="7900" spc="-138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7900" spc="-610">
                <a:solidFill>
                  <a:srgbClr val="202A20"/>
                </a:solidFill>
                <a:latin typeface="Verdana"/>
                <a:cs typeface="Verdana"/>
              </a:rPr>
              <a:t>O</a:t>
            </a:r>
            <a:r>
              <a:rPr dirty="0" sz="7900" spc="-409">
                <a:solidFill>
                  <a:srgbClr val="202A20"/>
                </a:solidFill>
                <a:latin typeface="Verdana"/>
                <a:cs typeface="Verdana"/>
              </a:rPr>
              <a:t>V</a:t>
            </a:r>
            <a:r>
              <a:rPr dirty="0" sz="7900" spc="-425">
                <a:solidFill>
                  <a:srgbClr val="202A20"/>
                </a:solidFill>
                <a:latin typeface="Verdana"/>
                <a:cs typeface="Verdana"/>
              </a:rPr>
              <a:t>E</a:t>
            </a:r>
            <a:r>
              <a:rPr dirty="0" sz="7900" spc="-445">
                <a:solidFill>
                  <a:srgbClr val="202A20"/>
                </a:solidFill>
                <a:latin typeface="Verdana"/>
                <a:cs typeface="Verdana"/>
              </a:rPr>
              <a:t>R</a:t>
            </a:r>
            <a:r>
              <a:rPr dirty="0" sz="7900" spc="-409">
                <a:solidFill>
                  <a:srgbClr val="202A20"/>
                </a:solidFill>
                <a:latin typeface="Verdana"/>
                <a:cs typeface="Verdana"/>
              </a:rPr>
              <a:t>V</a:t>
            </a:r>
            <a:r>
              <a:rPr dirty="0" sz="7900" spc="-650">
                <a:solidFill>
                  <a:srgbClr val="202A20"/>
                </a:solidFill>
                <a:latin typeface="Verdana"/>
                <a:cs typeface="Verdana"/>
              </a:rPr>
              <a:t>I</a:t>
            </a:r>
            <a:r>
              <a:rPr dirty="0" sz="7900" spc="-425">
                <a:solidFill>
                  <a:srgbClr val="202A20"/>
                </a:solidFill>
                <a:latin typeface="Verdana"/>
                <a:cs typeface="Verdana"/>
              </a:rPr>
              <a:t>E</a:t>
            </a:r>
            <a:r>
              <a:rPr dirty="0" sz="7900" spc="-15">
                <a:solidFill>
                  <a:srgbClr val="202A20"/>
                </a:solidFill>
                <a:latin typeface="Verdana"/>
                <a:cs typeface="Verdana"/>
              </a:rPr>
              <a:t>W</a:t>
            </a:r>
            <a:endParaRPr sz="79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56966" y="6043897"/>
            <a:ext cx="4878705" cy="2330450"/>
          </a:xfrm>
          <a:custGeom>
            <a:avLst/>
            <a:gdLst/>
            <a:ahLst/>
            <a:cxnLst/>
            <a:rect l="l" t="t" r="r" b="b"/>
            <a:pathLst>
              <a:path w="4878705" h="2330450">
                <a:moveTo>
                  <a:pt x="4878601" y="2330078"/>
                </a:moveTo>
                <a:lnTo>
                  <a:pt x="0" y="2330078"/>
                </a:lnTo>
                <a:lnTo>
                  <a:pt x="0" y="0"/>
                </a:lnTo>
                <a:lnTo>
                  <a:pt x="4878601" y="0"/>
                </a:lnTo>
                <a:lnTo>
                  <a:pt x="4878601" y="2330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356966" y="3485219"/>
            <a:ext cx="4878705" cy="2330450"/>
          </a:xfrm>
          <a:custGeom>
            <a:avLst/>
            <a:gdLst/>
            <a:ahLst/>
            <a:cxnLst/>
            <a:rect l="l" t="t" r="r" b="b"/>
            <a:pathLst>
              <a:path w="4878705" h="2330450">
                <a:moveTo>
                  <a:pt x="4878601" y="2330078"/>
                </a:moveTo>
                <a:lnTo>
                  <a:pt x="0" y="2330078"/>
                </a:lnTo>
                <a:lnTo>
                  <a:pt x="0" y="0"/>
                </a:lnTo>
                <a:lnTo>
                  <a:pt x="4878601" y="0"/>
                </a:lnTo>
                <a:lnTo>
                  <a:pt x="4878601" y="2330078"/>
                </a:lnTo>
                <a:close/>
              </a:path>
            </a:pathLst>
          </a:custGeom>
          <a:solidFill>
            <a:srgbClr val="202A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382265" y="6043905"/>
            <a:ext cx="4877435" cy="2330450"/>
          </a:xfrm>
          <a:custGeom>
            <a:avLst/>
            <a:gdLst/>
            <a:ahLst/>
            <a:cxnLst/>
            <a:rect l="l" t="t" r="r" b="b"/>
            <a:pathLst>
              <a:path w="4877434" h="2330450">
                <a:moveTo>
                  <a:pt x="0" y="0"/>
                </a:moveTo>
                <a:lnTo>
                  <a:pt x="4876948" y="0"/>
                </a:lnTo>
                <a:lnTo>
                  <a:pt x="4876948" y="2330037"/>
                </a:lnTo>
                <a:lnTo>
                  <a:pt x="0" y="2330037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202A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382265" y="3485219"/>
            <a:ext cx="4878705" cy="2330450"/>
          </a:xfrm>
          <a:custGeom>
            <a:avLst/>
            <a:gdLst/>
            <a:ahLst/>
            <a:cxnLst/>
            <a:rect l="l" t="t" r="r" b="b"/>
            <a:pathLst>
              <a:path w="4878705" h="2330450">
                <a:moveTo>
                  <a:pt x="4878601" y="2330078"/>
                </a:moveTo>
                <a:lnTo>
                  <a:pt x="0" y="2330078"/>
                </a:lnTo>
                <a:lnTo>
                  <a:pt x="0" y="0"/>
                </a:lnTo>
                <a:lnTo>
                  <a:pt x="4878601" y="0"/>
                </a:lnTo>
                <a:lnTo>
                  <a:pt x="4878601" y="2330078"/>
                </a:lnTo>
                <a:close/>
              </a:path>
            </a:pathLst>
          </a:custGeom>
          <a:solidFill>
            <a:srgbClr val="F99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687016" y="4554968"/>
            <a:ext cx="425386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17600"/>
              </a:lnSpc>
              <a:spcBef>
                <a:spcPts val="95"/>
              </a:spcBef>
              <a:tabLst>
                <a:tab pos="899160" algn="l"/>
                <a:tab pos="1004569" algn="l"/>
                <a:tab pos="1583690" algn="l"/>
                <a:tab pos="1944370" algn="l"/>
                <a:tab pos="2671445" algn="l"/>
                <a:tab pos="2943225" algn="l"/>
                <a:tab pos="3382010" algn="l"/>
                <a:tab pos="3869690" algn="l"/>
              </a:tabLst>
            </a:pP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Provides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1700" spc="-20">
                <a:solidFill>
                  <a:srgbClr val="FFFFFF"/>
                </a:solidFill>
                <a:latin typeface="Verdana"/>
                <a:cs typeface="Verdana"/>
              </a:rPr>
              <a:t>high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1700" spc="-20">
                <a:solidFill>
                  <a:srgbClr val="FFFFFF"/>
                </a:solidFill>
                <a:latin typeface="Verdana"/>
                <a:cs typeface="Verdana"/>
              </a:rPr>
              <a:t>durability,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1700" spc="-35">
                <a:solidFill>
                  <a:srgbClr val="FFFFFF"/>
                </a:solidFill>
                <a:latin typeface="Verdana"/>
                <a:cs typeface="Verdana"/>
              </a:rPr>
              <a:t>availability,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1700" spc="-10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virtually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unlimited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capacity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1700" spc="-25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1700" spc="-80">
                <a:solidFill>
                  <a:srgbClr val="FFFFFF"/>
                </a:solidFill>
                <a:latin typeface="Verdana"/>
                <a:cs typeface="Verdana"/>
              </a:rPr>
              <a:t>personal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87016" y="5205334"/>
            <a:ext cx="181356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700" spc="-50">
                <a:solidFill>
                  <a:srgbClr val="FFFFFF"/>
                </a:solidFill>
                <a:latin typeface="Verdana"/>
                <a:cs typeface="Verdana"/>
              </a:rPr>
              <a:t>cloud</a:t>
            </a:r>
            <a:r>
              <a:rPr dirty="0" sz="17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20">
                <a:solidFill>
                  <a:srgbClr val="FFFFFF"/>
                </a:solidFill>
                <a:latin typeface="Verdana"/>
                <a:cs typeface="Verdana"/>
              </a:rPr>
              <a:t>drive</a:t>
            </a:r>
            <a:r>
              <a:rPr dirty="0" sz="1700" spc="-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65">
                <a:solidFill>
                  <a:srgbClr val="FFFFFF"/>
                </a:solidFill>
                <a:latin typeface="Verdana"/>
                <a:cs typeface="Verdana"/>
              </a:rPr>
              <a:t>assets.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56966" y="6043897"/>
            <a:ext cx="4878705" cy="2330450"/>
          </a:xfrm>
          <a:prstGeom prst="rect">
            <a:avLst/>
          </a:prstGeom>
        </p:spPr>
        <p:txBody>
          <a:bodyPr wrap="square" lIns="0" tIns="224154" rIns="0" bIns="0" rtlCol="0" vert="horz">
            <a:spAutoFit/>
          </a:bodyPr>
          <a:lstStyle/>
          <a:p>
            <a:pPr marL="329565">
              <a:lnSpc>
                <a:spcPct val="100000"/>
              </a:lnSpc>
              <a:spcBef>
                <a:spcPts val="1764"/>
              </a:spcBef>
            </a:pPr>
            <a:r>
              <a:rPr dirty="0" sz="2350" spc="-100">
                <a:solidFill>
                  <a:srgbClr val="F99C00"/>
                </a:solidFill>
                <a:latin typeface="Verdana"/>
                <a:cs typeface="Verdana"/>
              </a:rPr>
              <a:t>AWS</a:t>
            </a:r>
            <a:r>
              <a:rPr dirty="0" sz="2350" spc="-380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350" spc="-10">
                <a:solidFill>
                  <a:srgbClr val="F99C00"/>
                </a:solidFill>
                <a:latin typeface="Verdana"/>
                <a:cs typeface="Verdana"/>
              </a:rPr>
              <a:t>Lambda</a:t>
            </a:r>
            <a:endParaRPr sz="2350">
              <a:latin typeface="Verdana"/>
              <a:cs typeface="Verdana"/>
            </a:endParaRPr>
          </a:p>
          <a:p>
            <a:pPr algn="just" marL="329565" marR="299720">
              <a:lnSpc>
                <a:spcPct val="117600"/>
              </a:lnSpc>
              <a:spcBef>
                <a:spcPts val="1530"/>
              </a:spcBef>
            </a:pPr>
            <a:r>
              <a:rPr dirty="0" sz="1700" spc="-60">
                <a:solidFill>
                  <a:srgbClr val="FFFFFF"/>
                </a:solidFill>
                <a:latin typeface="Verdana"/>
                <a:cs typeface="Verdana"/>
              </a:rPr>
              <a:t>Serverless</a:t>
            </a:r>
            <a:r>
              <a:rPr dirty="0" sz="170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35">
                <a:solidFill>
                  <a:srgbClr val="FFFFFF"/>
                </a:solidFill>
                <a:latin typeface="Verdana"/>
                <a:cs typeface="Verdana"/>
              </a:rPr>
              <a:t>backend</a:t>
            </a:r>
            <a:r>
              <a:rPr dirty="0" sz="17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logic</a:t>
            </a:r>
            <a:r>
              <a:rPr dirty="0" sz="17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7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20">
                <a:solidFill>
                  <a:srgbClr val="FFFFFF"/>
                </a:solidFill>
                <a:latin typeface="Verdana"/>
                <a:cs typeface="Verdana"/>
              </a:rPr>
              <a:t>automation.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Handles</a:t>
            </a:r>
            <a:r>
              <a:rPr dirty="0" sz="1700" spc="4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file</a:t>
            </a:r>
            <a:r>
              <a:rPr dirty="0" sz="1700" spc="4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operations,</a:t>
            </a:r>
            <a:r>
              <a:rPr dirty="0" sz="1700" spc="4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triggers,</a:t>
            </a:r>
            <a:r>
              <a:rPr dirty="0" sz="1700" spc="4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dirty="0" sz="1700" spc="-60">
                <a:solidFill>
                  <a:srgbClr val="FFFFFF"/>
                </a:solidFill>
                <a:latin typeface="Verdana"/>
                <a:cs typeface="Verdana"/>
              </a:rPr>
              <a:t>processing</a:t>
            </a:r>
            <a:r>
              <a:rPr dirty="0" sz="170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20">
                <a:solidFill>
                  <a:srgbClr val="FFFFFF"/>
                </a:solidFill>
                <a:latin typeface="Verdana"/>
                <a:cs typeface="Verdana"/>
              </a:rPr>
              <a:t>without</a:t>
            </a:r>
            <a:r>
              <a:rPr dirty="0" sz="170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30">
                <a:solidFill>
                  <a:srgbClr val="FFFFFF"/>
                </a:solidFill>
                <a:latin typeface="Verdana"/>
                <a:cs typeface="Verdana"/>
              </a:rPr>
              <a:t>managing</a:t>
            </a:r>
            <a:r>
              <a:rPr dirty="0" sz="170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10">
                <a:solidFill>
                  <a:srgbClr val="FFFFFF"/>
                </a:solidFill>
                <a:latin typeface="Verdana"/>
                <a:cs typeface="Verdana"/>
              </a:rPr>
              <a:t>infrastructure </a:t>
            </a:r>
            <a:r>
              <a:rPr dirty="0" sz="1700" spc="-70">
                <a:solidFill>
                  <a:srgbClr val="FFFFFF"/>
                </a:solidFill>
                <a:latin typeface="Verdana"/>
                <a:cs typeface="Verdana"/>
              </a:rPr>
              <a:t>or</a:t>
            </a:r>
            <a:r>
              <a:rPr dirty="0" sz="1700" spc="-2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servers.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87016" y="3697437"/>
            <a:ext cx="4253865" cy="883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350" spc="-165">
                <a:solidFill>
                  <a:srgbClr val="F99C00"/>
                </a:solidFill>
                <a:latin typeface="Verdana"/>
                <a:cs typeface="Verdana"/>
              </a:rPr>
              <a:t>Amazon</a:t>
            </a:r>
            <a:r>
              <a:rPr dirty="0" sz="2350" spc="-355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350" spc="-25">
                <a:solidFill>
                  <a:srgbClr val="F99C00"/>
                </a:solidFill>
                <a:latin typeface="Verdana"/>
                <a:cs typeface="Verdana"/>
              </a:rPr>
              <a:t>S3</a:t>
            </a:r>
            <a:endParaRPr sz="2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89"/>
              </a:spcBef>
            </a:pPr>
            <a:r>
              <a:rPr dirty="0" sz="1700" spc="-40">
                <a:solidFill>
                  <a:srgbClr val="FFFFFF"/>
                </a:solidFill>
                <a:latin typeface="Verdana"/>
                <a:cs typeface="Verdana"/>
              </a:rPr>
              <a:t>Scalable</a:t>
            </a:r>
            <a:r>
              <a:rPr dirty="0" sz="17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40">
                <a:solidFill>
                  <a:srgbClr val="FFFFFF"/>
                </a:solidFill>
                <a:latin typeface="Verdana"/>
                <a:cs typeface="Verdana"/>
              </a:rPr>
              <a:t>object</a:t>
            </a:r>
            <a:r>
              <a:rPr dirty="0" sz="17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70">
                <a:solidFill>
                  <a:srgbClr val="FFFFFF"/>
                </a:solidFill>
                <a:latin typeface="Verdana"/>
                <a:cs typeface="Verdana"/>
              </a:rPr>
              <a:t>storage</a:t>
            </a:r>
            <a:r>
              <a:rPr dirty="0" sz="17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35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17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40">
                <a:solidFill>
                  <a:srgbClr val="FFFFFF"/>
                </a:solidFill>
                <a:latin typeface="Verdana"/>
                <a:cs typeface="Verdana"/>
              </a:rPr>
              <a:t>files</a:t>
            </a:r>
            <a:r>
              <a:rPr dirty="0" sz="17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45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7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70">
                <a:solidFill>
                  <a:srgbClr val="FFFFFF"/>
                </a:solidFill>
                <a:latin typeface="Verdana"/>
                <a:cs typeface="Verdana"/>
              </a:rPr>
              <a:t>data.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401315" y="6256115"/>
            <a:ext cx="4857750" cy="149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04165">
              <a:lnSpc>
                <a:spcPct val="100000"/>
              </a:lnSpc>
              <a:spcBef>
                <a:spcPts val="95"/>
              </a:spcBef>
            </a:pPr>
            <a:r>
              <a:rPr dirty="0" sz="2350" spc="-165">
                <a:solidFill>
                  <a:srgbClr val="202A20"/>
                </a:solidFill>
                <a:latin typeface="Verdana"/>
                <a:cs typeface="Verdana"/>
              </a:rPr>
              <a:t>Amazon</a:t>
            </a:r>
            <a:r>
              <a:rPr dirty="0" sz="2350" spc="-35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2350" spc="-55">
                <a:solidFill>
                  <a:srgbClr val="202A20"/>
                </a:solidFill>
                <a:latin typeface="Verdana"/>
                <a:cs typeface="Verdana"/>
              </a:rPr>
              <a:t>CloudFront</a:t>
            </a:r>
            <a:endParaRPr sz="2350">
              <a:latin typeface="Verdana"/>
              <a:cs typeface="Verdana"/>
            </a:endParaRPr>
          </a:p>
          <a:p>
            <a:pPr algn="just" marL="304165" marR="304800">
              <a:lnSpc>
                <a:spcPct val="117600"/>
              </a:lnSpc>
              <a:spcBef>
                <a:spcPts val="1530"/>
              </a:spcBef>
            </a:pPr>
            <a:r>
              <a:rPr dirty="0" sz="1700" spc="-120">
                <a:solidFill>
                  <a:srgbClr val="202A20"/>
                </a:solidFill>
                <a:latin typeface="Verdana"/>
                <a:cs typeface="Verdana"/>
              </a:rPr>
              <a:t>Content</a:t>
            </a:r>
            <a:r>
              <a:rPr dirty="0" sz="1700" spc="-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130">
                <a:solidFill>
                  <a:srgbClr val="202A20"/>
                </a:solidFill>
                <a:latin typeface="Verdana"/>
                <a:cs typeface="Verdana"/>
              </a:rPr>
              <a:t>delivery</a:t>
            </a:r>
            <a:r>
              <a:rPr dirty="0" sz="170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125">
                <a:solidFill>
                  <a:srgbClr val="202A20"/>
                </a:solidFill>
                <a:latin typeface="Verdana"/>
                <a:cs typeface="Verdana"/>
              </a:rPr>
              <a:t>network</a:t>
            </a:r>
            <a:r>
              <a:rPr dirty="0" sz="170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140">
                <a:solidFill>
                  <a:srgbClr val="202A20"/>
                </a:solidFill>
                <a:latin typeface="Verdana"/>
                <a:cs typeface="Verdana"/>
              </a:rPr>
              <a:t>for</a:t>
            </a:r>
            <a:r>
              <a:rPr dirty="0" sz="170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145">
                <a:solidFill>
                  <a:srgbClr val="202A20"/>
                </a:solidFill>
                <a:latin typeface="Verdana"/>
                <a:cs typeface="Verdana"/>
              </a:rPr>
              <a:t>fast,</a:t>
            </a:r>
            <a:r>
              <a:rPr dirty="0" sz="170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85">
                <a:solidFill>
                  <a:srgbClr val="202A20"/>
                </a:solidFill>
                <a:latin typeface="Verdana"/>
                <a:cs typeface="Verdana"/>
              </a:rPr>
              <a:t>global</a:t>
            </a:r>
            <a:r>
              <a:rPr dirty="0" sz="170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202A20"/>
                </a:solidFill>
                <a:latin typeface="Verdana"/>
                <a:cs typeface="Verdana"/>
              </a:rPr>
              <a:t>file </a:t>
            </a:r>
            <a:r>
              <a:rPr dirty="0" sz="1700" spc="-65">
                <a:solidFill>
                  <a:srgbClr val="202A20"/>
                </a:solidFill>
                <a:latin typeface="Verdana"/>
                <a:cs typeface="Verdana"/>
              </a:rPr>
              <a:t>access.</a:t>
            </a:r>
            <a:r>
              <a:rPr dirty="0" sz="1700" spc="-8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65">
                <a:solidFill>
                  <a:srgbClr val="202A20"/>
                </a:solidFill>
                <a:latin typeface="Verdana"/>
                <a:cs typeface="Verdana"/>
              </a:rPr>
              <a:t>Reduces</a:t>
            </a:r>
            <a:r>
              <a:rPr dirty="0" sz="1700" spc="-3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110">
                <a:solidFill>
                  <a:srgbClr val="202A20"/>
                </a:solidFill>
                <a:latin typeface="Verdana"/>
                <a:cs typeface="Verdana"/>
              </a:rPr>
              <a:t>latency</a:t>
            </a:r>
            <a:r>
              <a:rPr dirty="0" sz="1700" spc="-2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195">
                <a:solidFill>
                  <a:srgbClr val="202A20"/>
                </a:solidFill>
                <a:latin typeface="Verdana"/>
                <a:cs typeface="Verdana"/>
              </a:rPr>
              <a:t>by</a:t>
            </a:r>
            <a:r>
              <a:rPr dirty="0" sz="1700" spc="4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100">
                <a:solidFill>
                  <a:srgbClr val="202A20"/>
                </a:solidFill>
                <a:latin typeface="Verdana"/>
                <a:cs typeface="Verdana"/>
              </a:rPr>
              <a:t>caching</a:t>
            </a:r>
            <a:r>
              <a:rPr dirty="0" sz="1700" spc="-2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100">
                <a:solidFill>
                  <a:srgbClr val="202A20"/>
                </a:solidFill>
                <a:latin typeface="Verdana"/>
                <a:cs typeface="Verdana"/>
              </a:rPr>
              <a:t>files</a:t>
            </a:r>
            <a:r>
              <a:rPr dirty="0" sz="1700" spc="-25">
                <a:solidFill>
                  <a:srgbClr val="202A20"/>
                </a:solidFill>
                <a:latin typeface="Verdana"/>
                <a:cs typeface="Verdana"/>
              </a:rPr>
              <a:t> at </a:t>
            </a:r>
            <a:r>
              <a:rPr dirty="0" sz="1700" spc="-35">
                <a:solidFill>
                  <a:srgbClr val="202A20"/>
                </a:solidFill>
                <a:latin typeface="Verdana"/>
                <a:cs typeface="Verdana"/>
              </a:rPr>
              <a:t>edge</a:t>
            </a:r>
            <a:r>
              <a:rPr dirty="0" sz="1700" spc="-26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80">
                <a:solidFill>
                  <a:srgbClr val="202A20"/>
                </a:solidFill>
                <a:latin typeface="Verdana"/>
                <a:cs typeface="Verdana"/>
              </a:rPr>
              <a:t>locations</a:t>
            </a:r>
            <a:r>
              <a:rPr dirty="0" sz="1700" spc="-26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35">
                <a:solidFill>
                  <a:srgbClr val="202A20"/>
                </a:solidFill>
                <a:latin typeface="Verdana"/>
                <a:cs typeface="Verdana"/>
              </a:rPr>
              <a:t>closest</a:t>
            </a:r>
            <a:r>
              <a:rPr dirty="0" sz="1700" spc="-254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60">
                <a:solidFill>
                  <a:srgbClr val="202A20"/>
                </a:solidFill>
                <a:latin typeface="Verdana"/>
                <a:cs typeface="Verdana"/>
              </a:rPr>
              <a:t>to</a:t>
            </a:r>
            <a:r>
              <a:rPr dirty="0" sz="1700" spc="-26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90">
                <a:solidFill>
                  <a:srgbClr val="202A20"/>
                </a:solidFill>
                <a:latin typeface="Verdana"/>
                <a:cs typeface="Verdana"/>
              </a:rPr>
              <a:t>the</a:t>
            </a:r>
            <a:r>
              <a:rPr dirty="0" sz="1700" spc="-254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60">
                <a:solidFill>
                  <a:srgbClr val="202A20"/>
                </a:solidFill>
                <a:latin typeface="Verdana"/>
                <a:cs typeface="Verdana"/>
              </a:rPr>
              <a:t>end</a:t>
            </a:r>
            <a:r>
              <a:rPr dirty="0" sz="1700" spc="-26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202A20"/>
                </a:solidFill>
                <a:latin typeface="Verdana"/>
                <a:cs typeface="Verdana"/>
              </a:rPr>
              <a:t>user.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382265" y="3485219"/>
            <a:ext cx="4878705" cy="2330450"/>
          </a:xfrm>
          <a:prstGeom prst="rect">
            <a:avLst/>
          </a:prstGeom>
        </p:spPr>
        <p:txBody>
          <a:bodyPr wrap="square" lIns="0" tIns="224154" rIns="0" bIns="0" rtlCol="0" vert="horz">
            <a:spAutoFit/>
          </a:bodyPr>
          <a:lstStyle/>
          <a:p>
            <a:pPr marL="323215">
              <a:lnSpc>
                <a:spcPct val="100000"/>
              </a:lnSpc>
              <a:spcBef>
                <a:spcPts val="1764"/>
              </a:spcBef>
            </a:pPr>
            <a:r>
              <a:rPr dirty="0" sz="2350" spc="-100">
                <a:solidFill>
                  <a:srgbClr val="FFFFFF"/>
                </a:solidFill>
                <a:latin typeface="Verdana"/>
                <a:cs typeface="Verdana"/>
              </a:rPr>
              <a:t>AWS</a:t>
            </a:r>
            <a:r>
              <a:rPr dirty="0" sz="2350" spc="-3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350" spc="-25">
                <a:solidFill>
                  <a:srgbClr val="FFFFFF"/>
                </a:solidFill>
                <a:latin typeface="Verdana"/>
                <a:cs typeface="Verdana"/>
              </a:rPr>
              <a:t>IAM</a:t>
            </a:r>
            <a:endParaRPr sz="2350">
              <a:latin typeface="Verdana"/>
              <a:cs typeface="Verdana"/>
            </a:endParaRPr>
          </a:p>
          <a:p>
            <a:pPr algn="just" marL="323215" marR="306070">
              <a:lnSpc>
                <a:spcPct val="117600"/>
              </a:lnSpc>
              <a:spcBef>
                <a:spcPts val="1530"/>
              </a:spcBef>
            </a:pP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Secure</a:t>
            </a:r>
            <a:r>
              <a:rPr dirty="0" sz="1700" spc="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access</a:t>
            </a:r>
            <a:r>
              <a:rPr dirty="0" sz="1700" spc="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control</a:t>
            </a:r>
            <a:r>
              <a:rPr dirty="0" sz="1700" spc="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700" spc="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75">
                <a:solidFill>
                  <a:srgbClr val="FFFFFF"/>
                </a:solidFill>
                <a:latin typeface="Verdana"/>
                <a:cs typeface="Verdana"/>
              </a:rPr>
              <a:t>permissions </a:t>
            </a:r>
            <a:r>
              <a:rPr dirty="0" sz="1700" spc="-140">
                <a:solidFill>
                  <a:srgbClr val="FFFFFF"/>
                </a:solidFill>
                <a:latin typeface="Verdana"/>
                <a:cs typeface="Verdana"/>
              </a:rPr>
              <a:t>management.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85">
                <a:solidFill>
                  <a:srgbClr val="FFFFFF"/>
                </a:solidFill>
                <a:latin typeface="Verdana"/>
                <a:cs typeface="Verdana"/>
              </a:rPr>
              <a:t>Defines</a:t>
            </a:r>
            <a:r>
              <a:rPr dirty="0" sz="1700" spc="-65">
                <a:solidFill>
                  <a:srgbClr val="FFFFFF"/>
                </a:solidFill>
                <a:latin typeface="Verdana"/>
                <a:cs typeface="Verdana"/>
              </a:rPr>
              <a:t> roles</a:t>
            </a:r>
            <a:r>
              <a:rPr dirty="0" sz="17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70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45">
                <a:solidFill>
                  <a:srgbClr val="FFFFFF"/>
                </a:solidFill>
                <a:latin typeface="Verdana"/>
                <a:cs typeface="Verdana"/>
              </a:rPr>
              <a:t>policies</a:t>
            </a:r>
            <a:r>
              <a:rPr dirty="0" sz="170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dirty="0" sz="1700" spc="-40">
                <a:solidFill>
                  <a:srgbClr val="FFFFFF"/>
                </a:solidFill>
                <a:latin typeface="Verdana"/>
                <a:cs typeface="Verdana"/>
              </a:rPr>
              <a:t>ensure</a:t>
            </a:r>
            <a:r>
              <a:rPr dirty="0" sz="170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only</a:t>
            </a:r>
            <a:r>
              <a:rPr dirty="0" sz="17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80">
                <a:solidFill>
                  <a:srgbClr val="FFFFFF"/>
                </a:solidFill>
                <a:latin typeface="Verdana"/>
                <a:cs typeface="Verdana"/>
              </a:rPr>
              <a:t>authorized</a:t>
            </a:r>
            <a:r>
              <a:rPr dirty="0" sz="17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users</a:t>
            </a:r>
            <a:r>
              <a:rPr dirty="0" sz="17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can</a:t>
            </a:r>
            <a:r>
              <a:rPr dirty="0" sz="17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access </a:t>
            </a:r>
            <a:r>
              <a:rPr dirty="0" sz="1700" spc="-50">
                <a:solidFill>
                  <a:srgbClr val="FFFFFF"/>
                </a:solidFill>
                <a:latin typeface="Verdana"/>
                <a:cs typeface="Verdana"/>
              </a:rPr>
              <a:t>cloud</a:t>
            </a:r>
            <a:r>
              <a:rPr dirty="0" sz="17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20">
                <a:solidFill>
                  <a:srgbClr val="FFFFFF"/>
                </a:solidFill>
                <a:latin typeface="Verdana"/>
                <a:cs typeface="Verdana"/>
              </a:rPr>
              <a:t>drive</a:t>
            </a:r>
            <a:r>
              <a:rPr dirty="0" sz="1700" spc="-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resources.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561153" y="6291554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257683" y="178917"/>
                </a:moveTo>
                <a:lnTo>
                  <a:pt x="257581" y="178676"/>
                </a:lnTo>
                <a:lnTo>
                  <a:pt x="257581" y="177977"/>
                </a:lnTo>
                <a:lnTo>
                  <a:pt x="257073" y="177482"/>
                </a:lnTo>
                <a:lnTo>
                  <a:pt x="256438" y="175933"/>
                </a:lnTo>
                <a:lnTo>
                  <a:pt x="184238" y="103682"/>
                </a:lnTo>
                <a:lnTo>
                  <a:pt x="179514" y="103682"/>
                </a:lnTo>
                <a:lnTo>
                  <a:pt x="173659" y="109499"/>
                </a:lnTo>
                <a:lnTo>
                  <a:pt x="173659" y="114211"/>
                </a:lnTo>
                <a:lnTo>
                  <a:pt x="234099" y="174650"/>
                </a:lnTo>
                <a:lnTo>
                  <a:pt x="102400" y="174650"/>
                </a:lnTo>
                <a:lnTo>
                  <a:pt x="99072" y="177977"/>
                </a:lnTo>
                <a:lnTo>
                  <a:pt x="99072" y="186220"/>
                </a:lnTo>
                <a:lnTo>
                  <a:pt x="102400" y="189547"/>
                </a:lnTo>
                <a:lnTo>
                  <a:pt x="234073" y="189547"/>
                </a:lnTo>
                <a:lnTo>
                  <a:pt x="173659" y="249923"/>
                </a:lnTo>
                <a:lnTo>
                  <a:pt x="173659" y="254647"/>
                </a:lnTo>
                <a:lnTo>
                  <a:pt x="178028" y="259016"/>
                </a:lnTo>
                <a:lnTo>
                  <a:pt x="179959" y="259765"/>
                </a:lnTo>
                <a:lnTo>
                  <a:pt x="181851" y="259765"/>
                </a:lnTo>
                <a:lnTo>
                  <a:pt x="183743" y="259765"/>
                </a:lnTo>
                <a:lnTo>
                  <a:pt x="185674" y="259016"/>
                </a:lnTo>
                <a:lnTo>
                  <a:pt x="256438" y="188302"/>
                </a:lnTo>
                <a:lnTo>
                  <a:pt x="257086" y="186715"/>
                </a:lnTo>
                <a:lnTo>
                  <a:pt x="257581" y="186220"/>
                </a:lnTo>
                <a:lnTo>
                  <a:pt x="257581" y="185521"/>
                </a:lnTo>
                <a:lnTo>
                  <a:pt x="257683" y="185267"/>
                </a:lnTo>
                <a:lnTo>
                  <a:pt x="257683" y="178917"/>
                </a:lnTo>
                <a:close/>
              </a:path>
              <a:path w="352425" h="352425">
                <a:moveTo>
                  <a:pt x="352425" y="154940"/>
                </a:moveTo>
                <a:lnTo>
                  <a:pt x="349148" y="130568"/>
                </a:lnTo>
                <a:lnTo>
                  <a:pt x="340601" y="110337"/>
                </a:lnTo>
                <a:lnTo>
                  <a:pt x="340601" y="177774"/>
                </a:lnTo>
                <a:lnTo>
                  <a:pt x="334784" y="221030"/>
                </a:lnTo>
                <a:lnTo>
                  <a:pt x="318350" y="259930"/>
                </a:lnTo>
                <a:lnTo>
                  <a:pt x="292874" y="292900"/>
                </a:lnTo>
                <a:lnTo>
                  <a:pt x="259918" y="318389"/>
                </a:lnTo>
                <a:lnTo>
                  <a:pt x="221030" y="334822"/>
                </a:lnTo>
                <a:lnTo>
                  <a:pt x="177774" y="340652"/>
                </a:lnTo>
                <a:lnTo>
                  <a:pt x="134518" y="334822"/>
                </a:lnTo>
                <a:lnTo>
                  <a:pt x="95631" y="318389"/>
                </a:lnTo>
                <a:lnTo>
                  <a:pt x="62649" y="292900"/>
                </a:lnTo>
                <a:lnTo>
                  <a:pt x="37160" y="259930"/>
                </a:lnTo>
                <a:lnTo>
                  <a:pt x="20726" y="221030"/>
                </a:lnTo>
                <a:lnTo>
                  <a:pt x="14897" y="177774"/>
                </a:lnTo>
                <a:lnTo>
                  <a:pt x="20726" y="134518"/>
                </a:lnTo>
                <a:lnTo>
                  <a:pt x="37160" y="95618"/>
                </a:lnTo>
                <a:lnTo>
                  <a:pt x="62649" y="62649"/>
                </a:lnTo>
                <a:lnTo>
                  <a:pt x="95631" y="37160"/>
                </a:lnTo>
                <a:lnTo>
                  <a:pt x="134518" y="20726"/>
                </a:lnTo>
                <a:lnTo>
                  <a:pt x="177774" y="14897"/>
                </a:lnTo>
                <a:lnTo>
                  <a:pt x="221018" y="20726"/>
                </a:lnTo>
                <a:lnTo>
                  <a:pt x="259892" y="37160"/>
                </a:lnTo>
                <a:lnTo>
                  <a:pt x="292862" y="62649"/>
                </a:lnTo>
                <a:lnTo>
                  <a:pt x="318338" y="95618"/>
                </a:lnTo>
                <a:lnTo>
                  <a:pt x="334784" y="134518"/>
                </a:lnTo>
                <a:lnTo>
                  <a:pt x="340601" y="177774"/>
                </a:lnTo>
                <a:lnTo>
                  <a:pt x="340601" y="110337"/>
                </a:lnTo>
                <a:lnTo>
                  <a:pt x="303403" y="52133"/>
                </a:lnTo>
                <a:lnTo>
                  <a:pt x="267423" y="24307"/>
                </a:lnTo>
                <a:lnTo>
                  <a:pt x="224980" y="6362"/>
                </a:lnTo>
                <a:lnTo>
                  <a:pt x="177774" y="0"/>
                </a:lnTo>
                <a:lnTo>
                  <a:pt x="130594" y="6362"/>
                </a:lnTo>
                <a:lnTo>
                  <a:pt x="88150" y="24307"/>
                </a:lnTo>
                <a:lnTo>
                  <a:pt x="52158" y="52133"/>
                </a:lnTo>
                <a:lnTo>
                  <a:pt x="24320" y="88112"/>
                </a:lnTo>
                <a:lnTo>
                  <a:pt x="6375" y="130568"/>
                </a:lnTo>
                <a:lnTo>
                  <a:pt x="0" y="177774"/>
                </a:lnTo>
                <a:lnTo>
                  <a:pt x="6362" y="224955"/>
                </a:lnTo>
                <a:lnTo>
                  <a:pt x="24307" y="267398"/>
                </a:lnTo>
                <a:lnTo>
                  <a:pt x="52133" y="303377"/>
                </a:lnTo>
                <a:lnTo>
                  <a:pt x="88125" y="331190"/>
                </a:lnTo>
                <a:lnTo>
                  <a:pt x="130568" y="349135"/>
                </a:lnTo>
                <a:lnTo>
                  <a:pt x="154952" y="352425"/>
                </a:lnTo>
                <a:lnTo>
                  <a:pt x="200964" y="352425"/>
                </a:lnTo>
                <a:lnTo>
                  <a:pt x="225323" y="349135"/>
                </a:lnTo>
                <a:lnTo>
                  <a:pt x="225082" y="349135"/>
                </a:lnTo>
                <a:lnTo>
                  <a:pt x="245148" y="340652"/>
                </a:lnTo>
                <a:lnTo>
                  <a:pt x="303415" y="303377"/>
                </a:lnTo>
                <a:lnTo>
                  <a:pt x="331216" y="267398"/>
                </a:lnTo>
                <a:lnTo>
                  <a:pt x="349148" y="224955"/>
                </a:lnTo>
                <a:lnTo>
                  <a:pt x="352425" y="200596"/>
                </a:lnTo>
                <a:lnTo>
                  <a:pt x="352425" y="1549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1561153" y="3732872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257683" y="178917"/>
                </a:moveTo>
                <a:lnTo>
                  <a:pt x="257581" y="178676"/>
                </a:lnTo>
                <a:lnTo>
                  <a:pt x="257581" y="177977"/>
                </a:lnTo>
                <a:lnTo>
                  <a:pt x="257073" y="177482"/>
                </a:lnTo>
                <a:lnTo>
                  <a:pt x="256438" y="175945"/>
                </a:lnTo>
                <a:lnTo>
                  <a:pt x="184238" y="103682"/>
                </a:lnTo>
                <a:lnTo>
                  <a:pt x="179514" y="103682"/>
                </a:lnTo>
                <a:lnTo>
                  <a:pt x="173659" y="109499"/>
                </a:lnTo>
                <a:lnTo>
                  <a:pt x="173659" y="114211"/>
                </a:lnTo>
                <a:lnTo>
                  <a:pt x="234099" y="174650"/>
                </a:lnTo>
                <a:lnTo>
                  <a:pt x="102400" y="174650"/>
                </a:lnTo>
                <a:lnTo>
                  <a:pt x="99072" y="177977"/>
                </a:lnTo>
                <a:lnTo>
                  <a:pt x="99072" y="186220"/>
                </a:lnTo>
                <a:lnTo>
                  <a:pt x="102400" y="189547"/>
                </a:lnTo>
                <a:lnTo>
                  <a:pt x="234073" y="189547"/>
                </a:lnTo>
                <a:lnTo>
                  <a:pt x="173659" y="249936"/>
                </a:lnTo>
                <a:lnTo>
                  <a:pt x="173659" y="254647"/>
                </a:lnTo>
                <a:lnTo>
                  <a:pt x="178028" y="259016"/>
                </a:lnTo>
                <a:lnTo>
                  <a:pt x="179959" y="259765"/>
                </a:lnTo>
                <a:lnTo>
                  <a:pt x="181851" y="259765"/>
                </a:lnTo>
                <a:lnTo>
                  <a:pt x="183743" y="259765"/>
                </a:lnTo>
                <a:lnTo>
                  <a:pt x="185674" y="259016"/>
                </a:lnTo>
                <a:lnTo>
                  <a:pt x="256438" y="188302"/>
                </a:lnTo>
                <a:lnTo>
                  <a:pt x="257086" y="186715"/>
                </a:lnTo>
                <a:lnTo>
                  <a:pt x="257581" y="186220"/>
                </a:lnTo>
                <a:lnTo>
                  <a:pt x="257581" y="185534"/>
                </a:lnTo>
                <a:lnTo>
                  <a:pt x="257683" y="185280"/>
                </a:lnTo>
                <a:lnTo>
                  <a:pt x="257683" y="178917"/>
                </a:lnTo>
                <a:close/>
              </a:path>
              <a:path w="352425" h="352425">
                <a:moveTo>
                  <a:pt x="352425" y="154940"/>
                </a:moveTo>
                <a:lnTo>
                  <a:pt x="349148" y="130568"/>
                </a:lnTo>
                <a:lnTo>
                  <a:pt x="340601" y="110350"/>
                </a:lnTo>
                <a:lnTo>
                  <a:pt x="340601" y="177774"/>
                </a:lnTo>
                <a:lnTo>
                  <a:pt x="334784" y="221030"/>
                </a:lnTo>
                <a:lnTo>
                  <a:pt x="318350" y="259930"/>
                </a:lnTo>
                <a:lnTo>
                  <a:pt x="292874" y="292900"/>
                </a:lnTo>
                <a:lnTo>
                  <a:pt x="259918" y="318389"/>
                </a:lnTo>
                <a:lnTo>
                  <a:pt x="221030" y="334822"/>
                </a:lnTo>
                <a:lnTo>
                  <a:pt x="177774" y="340652"/>
                </a:lnTo>
                <a:lnTo>
                  <a:pt x="134518" y="334822"/>
                </a:lnTo>
                <a:lnTo>
                  <a:pt x="95631" y="318389"/>
                </a:lnTo>
                <a:lnTo>
                  <a:pt x="62649" y="292900"/>
                </a:lnTo>
                <a:lnTo>
                  <a:pt x="37160" y="259930"/>
                </a:lnTo>
                <a:lnTo>
                  <a:pt x="20726" y="221030"/>
                </a:lnTo>
                <a:lnTo>
                  <a:pt x="14897" y="177774"/>
                </a:lnTo>
                <a:lnTo>
                  <a:pt x="20726" y="134518"/>
                </a:lnTo>
                <a:lnTo>
                  <a:pt x="37160" y="95631"/>
                </a:lnTo>
                <a:lnTo>
                  <a:pt x="62649" y="62649"/>
                </a:lnTo>
                <a:lnTo>
                  <a:pt x="95631" y="37160"/>
                </a:lnTo>
                <a:lnTo>
                  <a:pt x="134518" y="20726"/>
                </a:lnTo>
                <a:lnTo>
                  <a:pt x="177774" y="14897"/>
                </a:lnTo>
                <a:lnTo>
                  <a:pt x="221018" y="20726"/>
                </a:lnTo>
                <a:lnTo>
                  <a:pt x="259892" y="37160"/>
                </a:lnTo>
                <a:lnTo>
                  <a:pt x="292862" y="62649"/>
                </a:lnTo>
                <a:lnTo>
                  <a:pt x="318338" y="95631"/>
                </a:lnTo>
                <a:lnTo>
                  <a:pt x="334784" y="134518"/>
                </a:lnTo>
                <a:lnTo>
                  <a:pt x="340601" y="177774"/>
                </a:lnTo>
                <a:lnTo>
                  <a:pt x="340601" y="110350"/>
                </a:lnTo>
                <a:lnTo>
                  <a:pt x="303403" y="52133"/>
                </a:lnTo>
                <a:lnTo>
                  <a:pt x="267423" y="24307"/>
                </a:lnTo>
                <a:lnTo>
                  <a:pt x="224980" y="6362"/>
                </a:lnTo>
                <a:lnTo>
                  <a:pt x="177774" y="0"/>
                </a:lnTo>
                <a:lnTo>
                  <a:pt x="130594" y="6362"/>
                </a:lnTo>
                <a:lnTo>
                  <a:pt x="88150" y="24307"/>
                </a:lnTo>
                <a:lnTo>
                  <a:pt x="52158" y="52133"/>
                </a:lnTo>
                <a:lnTo>
                  <a:pt x="24320" y="88125"/>
                </a:lnTo>
                <a:lnTo>
                  <a:pt x="6375" y="130568"/>
                </a:lnTo>
                <a:lnTo>
                  <a:pt x="0" y="177774"/>
                </a:lnTo>
                <a:lnTo>
                  <a:pt x="6362" y="224967"/>
                </a:lnTo>
                <a:lnTo>
                  <a:pt x="24307" y="267398"/>
                </a:lnTo>
                <a:lnTo>
                  <a:pt x="52133" y="303377"/>
                </a:lnTo>
                <a:lnTo>
                  <a:pt x="88125" y="331203"/>
                </a:lnTo>
                <a:lnTo>
                  <a:pt x="130568" y="349148"/>
                </a:lnTo>
                <a:lnTo>
                  <a:pt x="154952" y="352425"/>
                </a:lnTo>
                <a:lnTo>
                  <a:pt x="200964" y="352425"/>
                </a:lnTo>
                <a:lnTo>
                  <a:pt x="225323" y="349148"/>
                </a:lnTo>
                <a:lnTo>
                  <a:pt x="225082" y="349148"/>
                </a:lnTo>
                <a:lnTo>
                  <a:pt x="245148" y="340652"/>
                </a:lnTo>
                <a:lnTo>
                  <a:pt x="303415" y="303377"/>
                </a:lnTo>
                <a:lnTo>
                  <a:pt x="331216" y="267398"/>
                </a:lnTo>
                <a:lnTo>
                  <a:pt x="349148" y="224967"/>
                </a:lnTo>
                <a:lnTo>
                  <a:pt x="352425" y="200596"/>
                </a:lnTo>
                <a:lnTo>
                  <a:pt x="352425" y="1549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6575520" y="6291554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257683" y="178917"/>
                </a:moveTo>
                <a:lnTo>
                  <a:pt x="257581" y="178676"/>
                </a:lnTo>
                <a:lnTo>
                  <a:pt x="257581" y="177977"/>
                </a:lnTo>
                <a:lnTo>
                  <a:pt x="257073" y="177482"/>
                </a:lnTo>
                <a:lnTo>
                  <a:pt x="256438" y="175933"/>
                </a:lnTo>
                <a:lnTo>
                  <a:pt x="184238" y="103682"/>
                </a:lnTo>
                <a:lnTo>
                  <a:pt x="179514" y="103682"/>
                </a:lnTo>
                <a:lnTo>
                  <a:pt x="173659" y="109499"/>
                </a:lnTo>
                <a:lnTo>
                  <a:pt x="173659" y="114211"/>
                </a:lnTo>
                <a:lnTo>
                  <a:pt x="234099" y="174650"/>
                </a:lnTo>
                <a:lnTo>
                  <a:pt x="102400" y="174650"/>
                </a:lnTo>
                <a:lnTo>
                  <a:pt x="99072" y="177977"/>
                </a:lnTo>
                <a:lnTo>
                  <a:pt x="99072" y="186220"/>
                </a:lnTo>
                <a:lnTo>
                  <a:pt x="102400" y="189547"/>
                </a:lnTo>
                <a:lnTo>
                  <a:pt x="234073" y="189547"/>
                </a:lnTo>
                <a:lnTo>
                  <a:pt x="173659" y="249923"/>
                </a:lnTo>
                <a:lnTo>
                  <a:pt x="173659" y="254647"/>
                </a:lnTo>
                <a:lnTo>
                  <a:pt x="178028" y="259016"/>
                </a:lnTo>
                <a:lnTo>
                  <a:pt x="179971" y="259765"/>
                </a:lnTo>
                <a:lnTo>
                  <a:pt x="181851" y="259765"/>
                </a:lnTo>
                <a:lnTo>
                  <a:pt x="183743" y="259765"/>
                </a:lnTo>
                <a:lnTo>
                  <a:pt x="185674" y="259016"/>
                </a:lnTo>
                <a:lnTo>
                  <a:pt x="256438" y="188302"/>
                </a:lnTo>
                <a:lnTo>
                  <a:pt x="257086" y="186715"/>
                </a:lnTo>
                <a:lnTo>
                  <a:pt x="257581" y="186220"/>
                </a:lnTo>
                <a:lnTo>
                  <a:pt x="257581" y="185521"/>
                </a:lnTo>
                <a:lnTo>
                  <a:pt x="257683" y="185267"/>
                </a:lnTo>
                <a:lnTo>
                  <a:pt x="257683" y="178917"/>
                </a:lnTo>
                <a:close/>
              </a:path>
              <a:path w="352425" h="352425">
                <a:moveTo>
                  <a:pt x="352425" y="154940"/>
                </a:moveTo>
                <a:lnTo>
                  <a:pt x="349148" y="130568"/>
                </a:lnTo>
                <a:lnTo>
                  <a:pt x="340614" y="110363"/>
                </a:lnTo>
                <a:lnTo>
                  <a:pt x="340614" y="177774"/>
                </a:lnTo>
                <a:lnTo>
                  <a:pt x="334784" y="221030"/>
                </a:lnTo>
                <a:lnTo>
                  <a:pt x="318350" y="259930"/>
                </a:lnTo>
                <a:lnTo>
                  <a:pt x="292887" y="292900"/>
                </a:lnTo>
                <a:lnTo>
                  <a:pt x="259918" y="318389"/>
                </a:lnTo>
                <a:lnTo>
                  <a:pt x="221030" y="334822"/>
                </a:lnTo>
                <a:lnTo>
                  <a:pt x="177787" y="340652"/>
                </a:lnTo>
                <a:lnTo>
                  <a:pt x="134518" y="334822"/>
                </a:lnTo>
                <a:lnTo>
                  <a:pt x="95631" y="318389"/>
                </a:lnTo>
                <a:lnTo>
                  <a:pt x="62649" y="292900"/>
                </a:lnTo>
                <a:lnTo>
                  <a:pt x="37172" y="259930"/>
                </a:lnTo>
                <a:lnTo>
                  <a:pt x="20726" y="221030"/>
                </a:lnTo>
                <a:lnTo>
                  <a:pt x="14897" y="177774"/>
                </a:lnTo>
                <a:lnTo>
                  <a:pt x="20726" y="134518"/>
                </a:lnTo>
                <a:lnTo>
                  <a:pt x="37172" y="95618"/>
                </a:lnTo>
                <a:lnTo>
                  <a:pt x="62649" y="62649"/>
                </a:lnTo>
                <a:lnTo>
                  <a:pt x="95631" y="37160"/>
                </a:lnTo>
                <a:lnTo>
                  <a:pt x="134518" y="20726"/>
                </a:lnTo>
                <a:lnTo>
                  <a:pt x="177787" y="14897"/>
                </a:lnTo>
                <a:lnTo>
                  <a:pt x="221018" y="20726"/>
                </a:lnTo>
                <a:lnTo>
                  <a:pt x="259892" y="37160"/>
                </a:lnTo>
                <a:lnTo>
                  <a:pt x="292862" y="62649"/>
                </a:lnTo>
                <a:lnTo>
                  <a:pt x="318350" y="95618"/>
                </a:lnTo>
                <a:lnTo>
                  <a:pt x="334784" y="134518"/>
                </a:lnTo>
                <a:lnTo>
                  <a:pt x="340614" y="177774"/>
                </a:lnTo>
                <a:lnTo>
                  <a:pt x="340614" y="110363"/>
                </a:lnTo>
                <a:lnTo>
                  <a:pt x="303403" y="52133"/>
                </a:lnTo>
                <a:lnTo>
                  <a:pt x="267423" y="24307"/>
                </a:lnTo>
                <a:lnTo>
                  <a:pt x="224980" y="6362"/>
                </a:lnTo>
                <a:lnTo>
                  <a:pt x="177787" y="0"/>
                </a:lnTo>
                <a:lnTo>
                  <a:pt x="130606" y="6362"/>
                </a:lnTo>
                <a:lnTo>
                  <a:pt x="88150" y="24307"/>
                </a:lnTo>
                <a:lnTo>
                  <a:pt x="52158" y="52133"/>
                </a:lnTo>
                <a:lnTo>
                  <a:pt x="24333" y="88112"/>
                </a:lnTo>
                <a:lnTo>
                  <a:pt x="6375" y="130568"/>
                </a:lnTo>
                <a:lnTo>
                  <a:pt x="0" y="177774"/>
                </a:lnTo>
                <a:lnTo>
                  <a:pt x="6362" y="224955"/>
                </a:lnTo>
                <a:lnTo>
                  <a:pt x="24307" y="267398"/>
                </a:lnTo>
                <a:lnTo>
                  <a:pt x="52133" y="303377"/>
                </a:lnTo>
                <a:lnTo>
                  <a:pt x="88125" y="331190"/>
                </a:lnTo>
                <a:lnTo>
                  <a:pt x="130581" y="349135"/>
                </a:lnTo>
                <a:lnTo>
                  <a:pt x="154952" y="352425"/>
                </a:lnTo>
                <a:lnTo>
                  <a:pt x="200964" y="352425"/>
                </a:lnTo>
                <a:lnTo>
                  <a:pt x="225336" y="349135"/>
                </a:lnTo>
                <a:lnTo>
                  <a:pt x="225082" y="349135"/>
                </a:lnTo>
                <a:lnTo>
                  <a:pt x="245148" y="340652"/>
                </a:lnTo>
                <a:lnTo>
                  <a:pt x="303415" y="303377"/>
                </a:lnTo>
                <a:lnTo>
                  <a:pt x="331216" y="267398"/>
                </a:lnTo>
                <a:lnTo>
                  <a:pt x="349148" y="224955"/>
                </a:lnTo>
                <a:lnTo>
                  <a:pt x="352425" y="200596"/>
                </a:lnTo>
                <a:lnTo>
                  <a:pt x="352425" y="154940"/>
                </a:lnTo>
                <a:close/>
              </a:path>
            </a:pathLst>
          </a:custGeom>
          <a:solidFill>
            <a:srgbClr val="F99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6575520" y="3732872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257683" y="178917"/>
                </a:moveTo>
                <a:lnTo>
                  <a:pt x="257581" y="178676"/>
                </a:lnTo>
                <a:lnTo>
                  <a:pt x="257581" y="177977"/>
                </a:lnTo>
                <a:lnTo>
                  <a:pt x="257073" y="177482"/>
                </a:lnTo>
                <a:lnTo>
                  <a:pt x="256438" y="175945"/>
                </a:lnTo>
                <a:lnTo>
                  <a:pt x="184238" y="103682"/>
                </a:lnTo>
                <a:lnTo>
                  <a:pt x="179514" y="103682"/>
                </a:lnTo>
                <a:lnTo>
                  <a:pt x="173659" y="109499"/>
                </a:lnTo>
                <a:lnTo>
                  <a:pt x="173659" y="114211"/>
                </a:lnTo>
                <a:lnTo>
                  <a:pt x="234099" y="174650"/>
                </a:lnTo>
                <a:lnTo>
                  <a:pt x="102400" y="174650"/>
                </a:lnTo>
                <a:lnTo>
                  <a:pt x="99072" y="177977"/>
                </a:lnTo>
                <a:lnTo>
                  <a:pt x="99072" y="186220"/>
                </a:lnTo>
                <a:lnTo>
                  <a:pt x="102400" y="189547"/>
                </a:lnTo>
                <a:lnTo>
                  <a:pt x="234073" y="189547"/>
                </a:lnTo>
                <a:lnTo>
                  <a:pt x="173659" y="249936"/>
                </a:lnTo>
                <a:lnTo>
                  <a:pt x="173659" y="254647"/>
                </a:lnTo>
                <a:lnTo>
                  <a:pt x="178028" y="259016"/>
                </a:lnTo>
                <a:lnTo>
                  <a:pt x="179971" y="259765"/>
                </a:lnTo>
                <a:lnTo>
                  <a:pt x="181851" y="259765"/>
                </a:lnTo>
                <a:lnTo>
                  <a:pt x="183743" y="259765"/>
                </a:lnTo>
                <a:lnTo>
                  <a:pt x="185674" y="259016"/>
                </a:lnTo>
                <a:lnTo>
                  <a:pt x="256438" y="188302"/>
                </a:lnTo>
                <a:lnTo>
                  <a:pt x="257086" y="186715"/>
                </a:lnTo>
                <a:lnTo>
                  <a:pt x="257581" y="186220"/>
                </a:lnTo>
                <a:lnTo>
                  <a:pt x="257581" y="185534"/>
                </a:lnTo>
                <a:lnTo>
                  <a:pt x="257683" y="185280"/>
                </a:lnTo>
                <a:lnTo>
                  <a:pt x="257683" y="178917"/>
                </a:lnTo>
                <a:close/>
              </a:path>
              <a:path w="352425" h="352425">
                <a:moveTo>
                  <a:pt x="352425" y="154940"/>
                </a:moveTo>
                <a:lnTo>
                  <a:pt x="349148" y="130568"/>
                </a:lnTo>
                <a:lnTo>
                  <a:pt x="340614" y="110375"/>
                </a:lnTo>
                <a:lnTo>
                  <a:pt x="340614" y="177774"/>
                </a:lnTo>
                <a:lnTo>
                  <a:pt x="334784" y="221030"/>
                </a:lnTo>
                <a:lnTo>
                  <a:pt x="318350" y="259930"/>
                </a:lnTo>
                <a:lnTo>
                  <a:pt x="292887" y="292900"/>
                </a:lnTo>
                <a:lnTo>
                  <a:pt x="259918" y="318389"/>
                </a:lnTo>
                <a:lnTo>
                  <a:pt x="221030" y="334822"/>
                </a:lnTo>
                <a:lnTo>
                  <a:pt x="177787" y="340652"/>
                </a:lnTo>
                <a:lnTo>
                  <a:pt x="134518" y="334822"/>
                </a:lnTo>
                <a:lnTo>
                  <a:pt x="95631" y="318389"/>
                </a:lnTo>
                <a:lnTo>
                  <a:pt x="62649" y="292900"/>
                </a:lnTo>
                <a:lnTo>
                  <a:pt x="37172" y="259930"/>
                </a:lnTo>
                <a:lnTo>
                  <a:pt x="20726" y="221030"/>
                </a:lnTo>
                <a:lnTo>
                  <a:pt x="14897" y="177774"/>
                </a:lnTo>
                <a:lnTo>
                  <a:pt x="20726" y="134518"/>
                </a:lnTo>
                <a:lnTo>
                  <a:pt x="37172" y="95631"/>
                </a:lnTo>
                <a:lnTo>
                  <a:pt x="62649" y="62649"/>
                </a:lnTo>
                <a:lnTo>
                  <a:pt x="95631" y="37160"/>
                </a:lnTo>
                <a:lnTo>
                  <a:pt x="134518" y="20726"/>
                </a:lnTo>
                <a:lnTo>
                  <a:pt x="177787" y="14897"/>
                </a:lnTo>
                <a:lnTo>
                  <a:pt x="221018" y="20726"/>
                </a:lnTo>
                <a:lnTo>
                  <a:pt x="259892" y="37160"/>
                </a:lnTo>
                <a:lnTo>
                  <a:pt x="292862" y="62649"/>
                </a:lnTo>
                <a:lnTo>
                  <a:pt x="318350" y="95631"/>
                </a:lnTo>
                <a:lnTo>
                  <a:pt x="334784" y="134518"/>
                </a:lnTo>
                <a:lnTo>
                  <a:pt x="340614" y="177774"/>
                </a:lnTo>
                <a:lnTo>
                  <a:pt x="340614" y="110375"/>
                </a:lnTo>
                <a:lnTo>
                  <a:pt x="303403" y="52133"/>
                </a:lnTo>
                <a:lnTo>
                  <a:pt x="267423" y="24307"/>
                </a:lnTo>
                <a:lnTo>
                  <a:pt x="224980" y="6362"/>
                </a:lnTo>
                <a:lnTo>
                  <a:pt x="177787" y="0"/>
                </a:lnTo>
                <a:lnTo>
                  <a:pt x="130606" y="6362"/>
                </a:lnTo>
                <a:lnTo>
                  <a:pt x="88150" y="24307"/>
                </a:lnTo>
                <a:lnTo>
                  <a:pt x="52158" y="52133"/>
                </a:lnTo>
                <a:lnTo>
                  <a:pt x="24333" y="88125"/>
                </a:lnTo>
                <a:lnTo>
                  <a:pt x="6375" y="130568"/>
                </a:lnTo>
                <a:lnTo>
                  <a:pt x="0" y="177774"/>
                </a:lnTo>
                <a:lnTo>
                  <a:pt x="6362" y="224967"/>
                </a:lnTo>
                <a:lnTo>
                  <a:pt x="24307" y="267398"/>
                </a:lnTo>
                <a:lnTo>
                  <a:pt x="52133" y="303377"/>
                </a:lnTo>
                <a:lnTo>
                  <a:pt x="88125" y="331203"/>
                </a:lnTo>
                <a:lnTo>
                  <a:pt x="130581" y="349148"/>
                </a:lnTo>
                <a:lnTo>
                  <a:pt x="154952" y="352425"/>
                </a:lnTo>
                <a:lnTo>
                  <a:pt x="200964" y="352425"/>
                </a:lnTo>
                <a:lnTo>
                  <a:pt x="225336" y="349148"/>
                </a:lnTo>
                <a:lnTo>
                  <a:pt x="225082" y="349148"/>
                </a:lnTo>
                <a:lnTo>
                  <a:pt x="245148" y="340652"/>
                </a:lnTo>
                <a:lnTo>
                  <a:pt x="303415" y="303377"/>
                </a:lnTo>
                <a:lnTo>
                  <a:pt x="331216" y="267398"/>
                </a:lnTo>
                <a:lnTo>
                  <a:pt x="349148" y="224967"/>
                </a:lnTo>
                <a:lnTo>
                  <a:pt x="352425" y="200596"/>
                </a:lnTo>
                <a:lnTo>
                  <a:pt x="352425" y="1549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" name="object 23"/>
          <p:cNvGrpSpPr/>
          <p:nvPr/>
        </p:nvGrpSpPr>
        <p:grpSpPr>
          <a:xfrm>
            <a:off x="0" y="3440531"/>
            <a:ext cx="6885940" cy="4933950"/>
            <a:chOff x="0" y="3440531"/>
            <a:chExt cx="6885940" cy="4933950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699" y="3440531"/>
              <a:ext cx="5857024" cy="493344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0" y="3440531"/>
              <a:ext cx="1028700" cy="4931410"/>
            </a:xfrm>
            <a:custGeom>
              <a:avLst/>
              <a:gdLst/>
              <a:ahLst/>
              <a:cxnLst/>
              <a:rect l="l" t="t" r="r" b="b"/>
              <a:pathLst>
                <a:path w="1028700" h="4931409">
                  <a:moveTo>
                    <a:pt x="0" y="0"/>
                  </a:moveTo>
                  <a:lnTo>
                    <a:pt x="1028699" y="0"/>
                  </a:lnTo>
                  <a:lnTo>
                    <a:pt x="1028699" y="4931302"/>
                  </a:lnTo>
                  <a:lnTo>
                    <a:pt x="0" y="4931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A2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613489" y="8859495"/>
            <a:ext cx="645795" cy="358775"/>
          </a:xfrm>
          <a:custGeom>
            <a:avLst/>
            <a:gdLst/>
            <a:ahLst/>
            <a:cxnLst/>
            <a:rect l="l" t="t" r="r" b="b"/>
            <a:pathLst>
              <a:path w="645794" h="358775">
                <a:moveTo>
                  <a:pt x="645382" y="358732"/>
                </a:moveTo>
                <a:lnTo>
                  <a:pt x="0" y="358732"/>
                </a:lnTo>
                <a:lnTo>
                  <a:pt x="0" y="240917"/>
                </a:lnTo>
                <a:lnTo>
                  <a:pt x="235708" y="286649"/>
                </a:lnTo>
                <a:lnTo>
                  <a:pt x="36692" y="152363"/>
                </a:lnTo>
                <a:lnTo>
                  <a:pt x="152363" y="36692"/>
                </a:lnTo>
                <a:lnTo>
                  <a:pt x="286649" y="235708"/>
                </a:lnTo>
                <a:lnTo>
                  <a:pt x="240917" y="0"/>
                </a:lnTo>
                <a:lnTo>
                  <a:pt x="404465" y="0"/>
                </a:lnTo>
                <a:lnTo>
                  <a:pt x="358732" y="235708"/>
                </a:lnTo>
                <a:lnTo>
                  <a:pt x="493095" y="36692"/>
                </a:lnTo>
                <a:lnTo>
                  <a:pt x="608689" y="152363"/>
                </a:lnTo>
                <a:lnTo>
                  <a:pt x="409750" y="286649"/>
                </a:lnTo>
                <a:lnTo>
                  <a:pt x="645382" y="240917"/>
                </a:lnTo>
                <a:lnTo>
                  <a:pt x="645382" y="358732"/>
                </a:lnTo>
                <a:close/>
              </a:path>
            </a:pathLst>
          </a:custGeom>
          <a:solidFill>
            <a:srgbClr val="F99C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16132" y="0"/>
            <a:ext cx="8471866" cy="402195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28699" y="4569307"/>
            <a:ext cx="3949700" cy="3723004"/>
          </a:xfrm>
          <a:custGeom>
            <a:avLst/>
            <a:gdLst/>
            <a:ahLst/>
            <a:cxnLst/>
            <a:rect l="l" t="t" r="r" b="b"/>
            <a:pathLst>
              <a:path w="3949700" h="3723004">
                <a:moveTo>
                  <a:pt x="3949602" y="3722888"/>
                </a:moveTo>
                <a:lnTo>
                  <a:pt x="0" y="3722888"/>
                </a:lnTo>
                <a:lnTo>
                  <a:pt x="0" y="0"/>
                </a:lnTo>
                <a:lnTo>
                  <a:pt x="3949602" y="0"/>
                </a:lnTo>
                <a:lnTo>
                  <a:pt x="3949602" y="3722888"/>
                </a:lnTo>
                <a:close/>
              </a:path>
            </a:pathLst>
          </a:custGeom>
          <a:solidFill>
            <a:srgbClr val="202A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22365" y="4569307"/>
            <a:ext cx="3949700" cy="3723004"/>
          </a:xfrm>
          <a:custGeom>
            <a:avLst/>
            <a:gdLst/>
            <a:ahLst/>
            <a:cxnLst/>
            <a:rect l="l" t="t" r="r" b="b"/>
            <a:pathLst>
              <a:path w="3949700" h="3723004">
                <a:moveTo>
                  <a:pt x="3949603" y="3722888"/>
                </a:moveTo>
                <a:lnTo>
                  <a:pt x="0" y="3722888"/>
                </a:lnTo>
                <a:lnTo>
                  <a:pt x="0" y="0"/>
                </a:lnTo>
                <a:lnTo>
                  <a:pt x="3949603" y="0"/>
                </a:lnTo>
                <a:lnTo>
                  <a:pt x="3949603" y="3722888"/>
                </a:lnTo>
                <a:close/>
              </a:path>
            </a:pathLst>
          </a:custGeom>
          <a:solidFill>
            <a:srgbClr val="F99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216031" y="4569307"/>
            <a:ext cx="3949700" cy="3723004"/>
          </a:xfrm>
          <a:custGeom>
            <a:avLst/>
            <a:gdLst/>
            <a:ahLst/>
            <a:cxnLst/>
            <a:rect l="l" t="t" r="r" b="b"/>
            <a:pathLst>
              <a:path w="3949700" h="3723004">
                <a:moveTo>
                  <a:pt x="3949602" y="3722888"/>
                </a:moveTo>
                <a:lnTo>
                  <a:pt x="0" y="3722888"/>
                </a:lnTo>
                <a:lnTo>
                  <a:pt x="0" y="0"/>
                </a:lnTo>
                <a:lnTo>
                  <a:pt x="3949602" y="0"/>
                </a:lnTo>
                <a:lnTo>
                  <a:pt x="3949602" y="3722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117124" y="5143512"/>
            <a:ext cx="481330" cy="481330"/>
          </a:xfrm>
          <a:custGeom>
            <a:avLst/>
            <a:gdLst/>
            <a:ahLst/>
            <a:cxnLst/>
            <a:rect l="l" t="t" r="r" b="b"/>
            <a:pathLst>
              <a:path w="481329" h="481329">
                <a:moveTo>
                  <a:pt x="348805" y="242189"/>
                </a:moveTo>
                <a:lnTo>
                  <a:pt x="348678" y="241884"/>
                </a:lnTo>
                <a:lnTo>
                  <a:pt x="348678" y="240919"/>
                </a:lnTo>
                <a:lnTo>
                  <a:pt x="347980" y="240233"/>
                </a:lnTo>
                <a:lnTo>
                  <a:pt x="347129" y="238163"/>
                </a:lnTo>
                <a:lnTo>
                  <a:pt x="249389" y="140347"/>
                </a:lnTo>
                <a:lnTo>
                  <a:pt x="243001" y="140347"/>
                </a:lnTo>
                <a:lnTo>
                  <a:pt x="235064" y="148221"/>
                </a:lnTo>
                <a:lnTo>
                  <a:pt x="235064" y="154609"/>
                </a:lnTo>
                <a:lnTo>
                  <a:pt x="316865" y="236410"/>
                </a:lnTo>
                <a:lnTo>
                  <a:pt x="138607" y="236410"/>
                </a:lnTo>
                <a:lnTo>
                  <a:pt x="134099" y="240919"/>
                </a:lnTo>
                <a:lnTo>
                  <a:pt x="134099" y="252082"/>
                </a:lnTo>
                <a:lnTo>
                  <a:pt x="138607" y="256578"/>
                </a:lnTo>
                <a:lnTo>
                  <a:pt x="316865" y="256578"/>
                </a:lnTo>
                <a:lnTo>
                  <a:pt x="235064" y="338328"/>
                </a:lnTo>
                <a:lnTo>
                  <a:pt x="235064" y="344703"/>
                </a:lnTo>
                <a:lnTo>
                  <a:pt x="240982" y="350621"/>
                </a:lnTo>
                <a:lnTo>
                  <a:pt x="243611" y="351637"/>
                </a:lnTo>
                <a:lnTo>
                  <a:pt x="246164" y="351637"/>
                </a:lnTo>
                <a:lnTo>
                  <a:pt x="248716" y="351637"/>
                </a:lnTo>
                <a:lnTo>
                  <a:pt x="251333" y="350621"/>
                </a:lnTo>
                <a:lnTo>
                  <a:pt x="347129" y="254901"/>
                </a:lnTo>
                <a:lnTo>
                  <a:pt x="348005" y="252755"/>
                </a:lnTo>
                <a:lnTo>
                  <a:pt x="348678" y="252082"/>
                </a:lnTo>
                <a:lnTo>
                  <a:pt x="348678" y="251117"/>
                </a:lnTo>
                <a:lnTo>
                  <a:pt x="348805" y="250799"/>
                </a:lnTo>
                <a:lnTo>
                  <a:pt x="348805" y="242189"/>
                </a:lnTo>
                <a:close/>
              </a:path>
              <a:path w="481329" h="481329">
                <a:moveTo>
                  <a:pt x="481241" y="240652"/>
                </a:moveTo>
                <a:lnTo>
                  <a:pt x="476338" y="192214"/>
                </a:lnTo>
                <a:lnTo>
                  <a:pt x="462305" y="147066"/>
                </a:lnTo>
                <a:lnTo>
                  <a:pt x="461073" y="144805"/>
                </a:lnTo>
                <a:lnTo>
                  <a:pt x="461073" y="240652"/>
                </a:lnTo>
                <a:lnTo>
                  <a:pt x="456590" y="285038"/>
                </a:lnTo>
                <a:lnTo>
                  <a:pt x="443725" y="326402"/>
                </a:lnTo>
                <a:lnTo>
                  <a:pt x="423392" y="363855"/>
                </a:lnTo>
                <a:lnTo>
                  <a:pt x="396455" y="396494"/>
                </a:lnTo>
                <a:lnTo>
                  <a:pt x="363829" y="423430"/>
                </a:lnTo>
                <a:lnTo>
                  <a:pt x="326390" y="443788"/>
                </a:lnTo>
                <a:lnTo>
                  <a:pt x="285038" y="456653"/>
                </a:lnTo>
                <a:lnTo>
                  <a:pt x="240652" y="461137"/>
                </a:lnTo>
                <a:lnTo>
                  <a:pt x="196265" y="456653"/>
                </a:lnTo>
                <a:lnTo>
                  <a:pt x="154901" y="443788"/>
                </a:lnTo>
                <a:lnTo>
                  <a:pt x="117449" y="423430"/>
                </a:lnTo>
                <a:lnTo>
                  <a:pt x="84797" y="396494"/>
                </a:lnTo>
                <a:lnTo>
                  <a:pt x="57861" y="363855"/>
                </a:lnTo>
                <a:lnTo>
                  <a:pt x="37515" y="326402"/>
                </a:lnTo>
                <a:lnTo>
                  <a:pt x="24650" y="285038"/>
                </a:lnTo>
                <a:lnTo>
                  <a:pt x="20167" y="240652"/>
                </a:lnTo>
                <a:lnTo>
                  <a:pt x="24650" y="196265"/>
                </a:lnTo>
                <a:lnTo>
                  <a:pt x="37515" y="154889"/>
                </a:lnTo>
                <a:lnTo>
                  <a:pt x="57861" y="117449"/>
                </a:lnTo>
                <a:lnTo>
                  <a:pt x="84797" y="84797"/>
                </a:lnTo>
                <a:lnTo>
                  <a:pt x="117449" y="57861"/>
                </a:lnTo>
                <a:lnTo>
                  <a:pt x="154901" y="37515"/>
                </a:lnTo>
                <a:lnTo>
                  <a:pt x="196265" y="24650"/>
                </a:lnTo>
                <a:lnTo>
                  <a:pt x="240652" y="20154"/>
                </a:lnTo>
                <a:lnTo>
                  <a:pt x="285013" y="24650"/>
                </a:lnTo>
                <a:lnTo>
                  <a:pt x="326364" y="37515"/>
                </a:lnTo>
                <a:lnTo>
                  <a:pt x="363804" y="57861"/>
                </a:lnTo>
                <a:lnTo>
                  <a:pt x="396443" y="84797"/>
                </a:lnTo>
                <a:lnTo>
                  <a:pt x="423379" y="117449"/>
                </a:lnTo>
                <a:lnTo>
                  <a:pt x="443725" y="154889"/>
                </a:lnTo>
                <a:lnTo>
                  <a:pt x="456590" y="196265"/>
                </a:lnTo>
                <a:lnTo>
                  <a:pt x="461073" y="240652"/>
                </a:lnTo>
                <a:lnTo>
                  <a:pt x="461073" y="144805"/>
                </a:lnTo>
                <a:lnTo>
                  <a:pt x="440105" y="106184"/>
                </a:lnTo>
                <a:lnTo>
                  <a:pt x="410705" y="70561"/>
                </a:lnTo>
                <a:lnTo>
                  <a:pt x="375081" y="41148"/>
                </a:lnTo>
                <a:lnTo>
                  <a:pt x="336473" y="20154"/>
                </a:lnTo>
                <a:lnTo>
                  <a:pt x="289090" y="4889"/>
                </a:lnTo>
                <a:lnTo>
                  <a:pt x="240652" y="0"/>
                </a:lnTo>
                <a:lnTo>
                  <a:pt x="192239" y="4889"/>
                </a:lnTo>
                <a:lnTo>
                  <a:pt x="147091" y="18935"/>
                </a:lnTo>
                <a:lnTo>
                  <a:pt x="106222" y="41148"/>
                </a:lnTo>
                <a:lnTo>
                  <a:pt x="70586" y="70561"/>
                </a:lnTo>
                <a:lnTo>
                  <a:pt x="41173" y="106184"/>
                </a:lnTo>
                <a:lnTo>
                  <a:pt x="18948" y="147066"/>
                </a:lnTo>
                <a:lnTo>
                  <a:pt x="4902" y="192214"/>
                </a:lnTo>
                <a:lnTo>
                  <a:pt x="0" y="240652"/>
                </a:lnTo>
                <a:lnTo>
                  <a:pt x="4889" y="289064"/>
                </a:lnTo>
                <a:lnTo>
                  <a:pt x="18935" y="334187"/>
                </a:lnTo>
                <a:lnTo>
                  <a:pt x="41148" y="375056"/>
                </a:lnTo>
                <a:lnTo>
                  <a:pt x="70561" y="410679"/>
                </a:lnTo>
                <a:lnTo>
                  <a:pt x="106197" y="440080"/>
                </a:lnTo>
                <a:lnTo>
                  <a:pt x="147066" y="462292"/>
                </a:lnTo>
                <a:lnTo>
                  <a:pt x="192214" y="476338"/>
                </a:lnTo>
                <a:lnTo>
                  <a:pt x="240652" y="481241"/>
                </a:lnTo>
                <a:lnTo>
                  <a:pt x="241312" y="481241"/>
                </a:lnTo>
                <a:lnTo>
                  <a:pt x="289725" y="476338"/>
                </a:lnTo>
                <a:lnTo>
                  <a:pt x="289280" y="476338"/>
                </a:lnTo>
                <a:lnTo>
                  <a:pt x="334314" y="462292"/>
                </a:lnTo>
                <a:lnTo>
                  <a:pt x="375132" y="440080"/>
                </a:lnTo>
                <a:lnTo>
                  <a:pt x="410730" y="410679"/>
                </a:lnTo>
                <a:lnTo>
                  <a:pt x="440118" y="375056"/>
                </a:lnTo>
                <a:lnTo>
                  <a:pt x="462305" y="334187"/>
                </a:lnTo>
                <a:lnTo>
                  <a:pt x="476338" y="289064"/>
                </a:lnTo>
                <a:lnTo>
                  <a:pt x="481241" y="2406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201253" y="5143512"/>
            <a:ext cx="481330" cy="481330"/>
          </a:xfrm>
          <a:custGeom>
            <a:avLst/>
            <a:gdLst/>
            <a:ahLst/>
            <a:cxnLst/>
            <a:rect l="l" t="t" r="r" b="b"/>
            <a:pathLst>
              <a:path w="481329" h="481329">
                <a:moveTo>
                  <a:pt x="348818" y="242189"/>
                </a:moveTo>
                <a:lnTo>
                  <a:pt x="348691" y="241884"/>
                </a:lnTo>
                <a:lnTo>
                  <a:pt x="348691" y="240919"/>
                </a:lnTo>
                <a:lnTo>
                  <a:pt x="347992" y="240233"/>
                </a:lnTo>
                <a:lnTo>
                  <a:pt x="347141" y="238163"/>
                </a:lnTo>
                <a:lnTo>
                  <a:pt x="249402" y="140347"/>
                </a:lnTo>
                <a:lnTo>
                  <a:pt x="243014" y="140347"/>
                </a:lnTo>
                <a:lnTo>
                  <a:pt x="235077" y="148221"/>
                </a:lnTo>
                <a:lnTo>
                  <a:pt x="235077" y="154609"/>
                </a:lnTo>
                <a:lnTo>
                  <a:pt x="316877" y="236410"/>
                </a:lnTo>
                <a:lnTo>
                  <a:pt x="138620" y="236410"/>
                </a:lnTo>
                <a:lnTo>
                  <a:pt x="134112" y="240919"/>
                </a:lnTo>
                <a:lnTo>
                  <a:pt x="134112" y="252082"/>
                </a:lnTo>
                <a:lnTo>
                  <a:pt x="138620" y="256578"/>
                </a:lnTo>
                <a:lnTo>
                  <a:pt x="316877" y="256578"/>
                </a:lnTo>
                <a:lnTo>
                  <a:pt x="235077" y="338328"/>
                </a:lnTo>
                <a:lnTo>
                  <a:pt x="235077" y="344703"/>
                </a:lnTo>
                <a:lnTo>
                  <a:pt x="240995" y="350621"/>
                </a:lnTo>
                <a:lnTo>
                  <a:pt x="243624" y="351637"/>
                </a:lnTo>
                <a:lnTo>
                  <a:pt x="246176" y="351637"/>
                </a:lnTo>
                <a:lnTo>
                  <a:pt x="248729" y="351637"/>
                </a:lnTo>
                <a:lnTo>
                  <a:pt x="251345" y="350621"/>
                </a:lnTo>
                <a:lnTo>
                  <a:pt x="347141" y="254901"/>
                </a:lnTo>
                <a:lnTo>
                  <a:pt x="348018" y="252755"/>
                </a:lnTo>
                <a:lnTo>
                  <a:pt x="348691" y="252082"/>
                </a:lnTo>
                <a:lnTo>
                  <a:pt x="348691" y="251117"/>
                </a:lnTo>
                <a:lnTo>
                  <a:pt x="348818" y="250799"/>
                </a:lnTo>
                <a:lnTo>
                  <a:pt x="348818" y="242189"/>
                </a:lnTo>
                <a:close/>
              </a:path>
              <a:path w="481329" h="481329">
                <a:moveTo>
                  <a:pt x="481253" y="240652"/>
                </a:moveTo>
                <a:lnTo>
                  <a:pt x="476351" y="192214"/>
                </a:lnTo>
                <a:lnTo>
                  <a:pt x="462318" y="147066"/>
                </a:lnTo>
                <a:lnTo>
                  <a:pt x="461086" y="144805"/>
                </a:lnTo>
                <a:lnTo>
                  <a:pt x="461086" y="240652"/>
                </a:lnTo>
                <a:lnTo>
                  <a:pt x="456603" y="285038"/>
                </a:lnTo>
                <a:lnTo>
                  <a:pt x="443738" y="326402"/>
                </a:lnTo>
                <a:lnTo>
                  <a:pt x="423405" y="363855"/>
                </a:lnTo>
                <a:lnTo>
                  <a:pt x="396468" y="396494"/>
                </a:lnTo>
                <a:lnTo>
                  <a:pt x="363842" y="423430"/>
                </a:lnTo>
                <a:lnTo>
                  <a:pt x="326402" y="443788"/>
                </a:lnTo>
                <a:lnTo>
                  <a:pt x="285051" y="456653"/>
                </a:lnTo>
                <a:lnTo>
                  <a:pt x="240665" y="461137"/>
                </a:lnTo>
                <a:lnTo>
                  <a:pt x="196278" y="456653"/>
                </a:lnTo>
                <a:lnTo>
                  <a:pt x="154901" y="443788"/>
                </a:lnTo>
                <a:lnTo>
                  <a:pt x="117462" y="423430"/>
                </a:lnTo>
                <a:lnTo>
                  <a:pt x="84810" y="396494"/>
                </a:lnTo>
                <a:lnTo>
                  <a:pt x="57873" y="363855"/>
                </a:lnTo>
                <a:lnTo>
                  <a:pt x="37528" y="326402"/>
                </a:lnTo>
                <a:lnTo>
                  <a:pt x="24663" y="285038"/>
                </a:lnTo>
                <a:lnTo>
                  <a:pt x="20167" y="240652"/>
                </a:lnTo>
                <a:lnTo>
                  <a:pt x="24663" y="196265"/>
                </a:lnTo>
                <a:lnTo>
                  <a:pt x="37528" y="154889"/>
                </a:lnTo>
                <a:lnTo>
                  <a:pt x="57873" y="117449"/>
                </a:lnTo>
                <a:lnTo>
                  <a:pt x="84810" y="84797"/>
                </a:lnTo>
                <a:lnTo>
                  <a:pt x="117462" y="57861"/>
                </a:lnTo>
                <a:lnTo>
                  <a:pt x="154901" y="37515"/>
                </a:lnTo>
                <a:lnTo>
                  <a:pt x="196278" y="24650"/>
                </a:lnTo>
                <a:lnTo>
                  <a:pt x="240665" y="20154"/>
                </a:lnTo>
                <a:lnTo>
                  <a:pt x="285026" y="24650"/>
                </a:lnTo>
                <a:lnTo>
                  <a:pt x="326377" y="37515"/>
                </a:lnTo>
                <a:lnTo>
                  <a:pt x="363816" y="57861"/>
                </a:lnTo>
                <a:lnTo>
                  <a:pt x="396443" y="84797"/>
                </a:lnTo>
                <a:lnTo>
                  <a:pt x="423379" y="117449"/>
                </a:lnTo>
                <a:lnTo>
                  <a:pt x="443738" y="154889"/>
                </a:lnTo>
                <a:lnTo>
                  <a:pt x="456590" y="196265"/>
                </a:lnTo>
                <a:lnTo>
                  <a:pt x="461086" y="240652"/>
                </a:lnTo>
                <a:lnTo>
                  <a:pt x="461086" y="144805"/>
                </a:lnTo>
                <a:lnTo>
                  <a:pt x="440118" y="106184"/>
                </a:lnTo>
                <a:lnTo>
                  <a:pt x="410718" y="70561"/>
                </a:lnTo>
                <a:lnTo>
                  <a:pt x="375094" y="41148"/>
                </a:lnTo>
                <a:lnTo>
                  <a:pt x="336486" y="20154"/>
                </a:lnTo>
                <a:lnTo>
                  <a:pt x="289102" y="4889"/>
                </a:lnTo>
                <a:lnTo>
                  <a:pt x="240665" y="0"/>
                </a:lnTo>
                <a:lnTo>
                  <a:pt x="192252" y="4889"/>
                </a:lnTo>
                <a:lnTo>
                  <a:pt x="147104" y="18935"/>
                </a:lnTo>
                <a:lnTo>
                  <a:pt x="106235" y="41148"/>
                </a:lnTo>
                <a:lnTo>
                  <a:pt x="70599" y="70561"/>
                </a:lnTo>
                <a:lnTo>
                  <a:pt x="41186" y="106184"/>
                </a:lnTo>
                <a:lnTo>
                  <a:pt x="18961" y="147066"/>
                </a:lnTo>
                <a:lnTo>
                  <a:pt x="4914" y="192214"/>
                </a:lnTo>
                <a:lnTo>
                  <a:pt x="0" y="240652"/>
                </a:lnTo>
                <a:lnTo>
                  <a:pt x="4902" y="289064"/>
                </a:lnTo>
                <a:lnTo>
                  <a:pt x="18948" y="334187"/>
                </a:lnTo>
                <a:lnTo>
                  <a:pt x="41160" y="375056"/>
                </a:lnTo>
                <a:lnTo>
                  <a:pt x="70573" y="410679"/>
                </a:lnTo>
                <a:lnTo>
                  <a:pt x="106197" y="440080"/>
                </a:lnTo>
                <a:lnTo>
                  <a:pt x="147078" y="462292"/>
                </a:lnTo>
                <a:lnTo>
                  <a:pt x="192227" y="476338"/>
                </a:lnTo>
                <a:lnTo>
                  <a:pt x="240665" y="481241"/>
                </a:lnTo>
                <a:lnTo>
                  <a:pt x="241312" y="481241"/>
                </a:lnTo>
                <a:lnTo>
                  <a:pt x="289737" y="476338"/>
                </a:lnTo>
                <a:lnTo>
                  <a:pt x="289293" y="476338"/>
                </a:lnTo>
                <a:lnTo>
                  <a:pt x="334327" y="462292"/>
                </a:lnTo>
                <a:lnTo>
                  <a:pt x="375145" y="440080"/>
                </a:lnTo>
                <a:lnTo>
                  <a:pt x="410743" y="410679"/>
                </a:lnTo>
                <a:lnTo>
                  <a:pt x="440118" y="375056"/>
                </a:lnTo>
                <a:lnTo>
                  <a:pt x="462318" y="334187"/>
                </a:lnTo>
                <a:lnTo>
                  <a:pt x="476351" y="289064"/>
                </a:lnTo>
                <a:lnTo>
                  <a:pt x="481253" y="2406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33846" y="1029297"/>
            <a:ext cx="2620010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70">
                <a:latin typeface="Verdana"/>
                <a:cs typeface="Verdana"/>
              </a:rPr>
              <a:t>Personal</a:t>
            </a:r>
            <a:r>
              <a:rPr dirty="0" sz="1400" spc="-190">
                <a:latin typeface="Verdana"/>
                <a:cs typeface="Verdana"/>
              </a:rPr>
              <a:t> </a:t>
            </a:r>
            <a:r>
              <a:rPr dirty="0" sz="1400" spc="-50">
                <a:latin typeface="Verdana"/>
                <a:cs typeface="Verdana"/>
              </a:rPr>
              <a:t>Cloud</a:t>
            </a:r>
            <a:r>
              <a:rPr dirty="0" sz="1400" spc="-190">
                <a:latin typeface="Verdana"/>
                <a:cs typeface="Verdana"/>
              </a:rPr>
              <a:t> </a:t>
            </a:r>
            <a:r>
              <a:rPr dirty="0" sz="1400" spc="-110">
                <a:latin typeface="Verdana"/>
                <a:cs typeface="Verdana"/>
              </a:rPr>
              <a:t>Drive</a:t>
            </a:r>
            <a:r>
              <a:rPr dirty="0" sz="1400" spc="-190">
                <a:latin typeface="Verdana"/>
                <a:cs typeface="Verdana"/>
              </a:rPr>
              <a:t> </a:t>
            </a:r>
            <a:r>
              <a:rPr dirty="0" sz="1400" spc="-80">
                <a:latin typeface="Verdana"/>
                <a:cs typeface="Verdana"/>
              </a:rPr>
              <a:t>Using</a:t>
            </a:r>
            <a:r>
              <a:rPr dirty="0" sz="1400" spc="-185">
                <a:latin typeface="Verdana"/>
                <a:cs typeface="Verdana"/>
              </a:rPr>
              <a:t> </a:t>
            </a:r>
            <a:r>
              <a:rPr dirty="0" sz="1400" spc="-25">
                <a:latin typeface="Verdana"/>
                <a:cs typeface="Verdana"/>
              </a:rPr>
              <a:t>AWS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6000" y="8977104"/>
            <a:ext cx="4584065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114">
                <a:latin typeface="Verdana"/>
                <a:cs typeface="Verdana"/>
              </a:rPr>
              <a:t>Flow:</a:t>
            </a:r>
            <a:r>
              <a:rPr dirty="0" sz="1400" spc="-215">
                <a:latin typeface="Verdana"/>
                <a:cs typeface="Verdana"/>
              </a:rPr>
              <a:t> </a:t>
            </a:r>
            <a:r>
              <a:rPr dirty="0" sz="1400" spc="-55">
                <a:latin typeface="Verdana"/>
                <a:cs typeface="Verdana"/>
              </a:rPr>
              <a:t>User</a:t>
            </a:r>
            <a:r>
              <a:rPr dirty="0" sz="1400" spc="-215">
                <a:latin typeface="Verdana"/>
                <a:cs typeface="Verdana"/>
              </a:rPr>
              <a:t> </a:t>
            </a:r>
            <a:r>
              <a:rPr dirty="0" sz="650" spc="780">
                <a:latin typeface="Arial"/>
                <a:cs typeface="Arial"/>
              </a:rPr>
              <a:t>→</a:t>
            </a:r>
            <a:r>
              <a:rPr dirty="0" sz="650" spc="95">
                <a:latin typeface="Arial"/>
                <a:cs typeface="Arial"/>
              </a:rPr>
              <a:t> </a:t>
            </a:r>
            <a:r>
              <a:rPr dirty="0" sz="1400" spc="-105">
                <a:latin typeface="Verdana"/>
                <a:cs typeface="Verdana"/>
              </a:rPr>
              <a:t>API</a:t>
            </a:r>
            <a:r>
              <a:rPr dirty="0" sz="1400" spc="-215">
                <a:latin typeface="Verdana"/>
                <a:cs typeface="Verdana"/>
              </a:rPr>
              <a:t> </a:t>
            </a:r>
            <a:r>
              <a:rPr dirty="0" sz="1400" spc="-70">
                <a:latin typeface="Verdana"/>
                <a:cs typeface="Verdana"/>
              </a:rPr>
              <a:t>Gateway</a:t>
            </a:r>
            <a:r>
              <a:rPr dirty="0" sz="1400" spc="-210">
                <a:latin typeface="Verdana"/>
                <a:cs typeface="Verdana"/>
              </a:rPr>
              <a:t> </a:t>
            </a:r>
            <a:r>
              <a:rPr dirty="0" sz="650" spc="780">
                <a:latin typeface="Arial"/>
                <a:cs typeface="Arial"/>
              </a:rPr>
              <a:t>→</a:t>
            </a:r>
            <a:r>
              <a:rPr dirty="0" sz="650" spc="95">
                <a:latin typeface="Arial"/>
                <a:cs typeface="Arial"/>
              </a:rPr>
              <a:t> </a:t>
            </a:r>
            <a:r>
              <a:rPr dirty="0" sz="1400" spc="-85">
                <a:latin typeface="Verdana"/>
                <a:cs typeface="Verdana"/>
              </a:rPr>
              <a:t>Lambda</a:t>
            </a:r>
            <a:r>
              <a:rPr dirty="0" sz="1400" spc="-215">
                <a:latin typeface="Verdana"/>
                <a:cs typeface="Verdana"/>
              </a:rPr>
              <a:t> </a:t>
            </a:r>
            <a:r>
              <a:rPr dirty="0" sz="650" spc="780">
                <a:latin typeface="Arial"/>
                <a:cs typeface="Arial"/>
              </a:rPr>
              <a:t>→</a:t>
            </a:r>
            <a:r>
              <a:rPr dirty="0" sz="650" spc="95">
                <a:latin typeface="Arial"/>
                <a:cs typeface="Arial"/>
              </a:rPr>
              <a:t> </a:t>
            </a:r>
            <a:r>
              <a:rPr dirty="0" sz="1400" spc="-20">
                <a:latin typeface="Verdana"/>
                <a:cs typeface="Verdana"/>
              </a:rPr>
              <a:t>S3</a:t>
            </a:r>
            <a:r>
              <a:rPr dirty="0" sz="1400" spc="-21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/</a:t>
            </a:r>
            <a:r>
              <a:rPr dirty="0" sz="1400" spc="-215">
                <a:latin typeface="Verdana"/>
                <a:cs typeface="Verdana"/>
              </a:rPr>
              <a:t> </a:t>
            </a:r>
            <a:r>
              <a:rPr dirty="0" sz="1400" spc="-55">
                <a:latin typeface="Verdana"/>
                <a:cs typeface="Verdana"/>
              </a:rPr>
              <a:t>DynamoDB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20345" rIns="0" bIns="0" rtlCol="0" vert="horz">
            <a:spAutoFit/>
          </a:bodyPr>
          <a:lstStyle/>
          <a:p>
            <a:pPr marL="12700" marR="5080">
              <a:lnSpc>
                <a:spcPts val="7880"/>
              </a:lnSpc>
              <a:spcBef>
                <a:spcPts val="1735"/>
              </a:spcBef>
            </a:pPr>
            <a:r>
              <a:rPr dirty="0" sz="7900" spc="-325"/>
              <a:t>S</a:t>
            </a:r>
            <a:r>
              <a:rPr dirty="0" sz="7900" spc="-185"/>
              <a:t>Y</a:t>
            </a:r>
            <a:r>
              <a:rPr dirty="0" sz="7900" spc="-200"/>
              <a:t>S</a:t>
            </a:r>
            <a:r>
              <a:rPr dirty="0" sz="7900" spc="-30"/>
              <a:t>T</a:t>
            </a:r>
            <a:r>
              <a:rPr dirty="0" sz="7900" spc="-50"/>
              <a:t>E</a:t>
            </a:r>
            <a:r>
              <a:rPr dirty="0" sz="7900" spc="360"/>
              <a:t>M</a:t>
            </a:r>
            <a:r>
              <a:rPr dirty="0" sz="7900" spc="-75"/>
              <a:t> </a:t>
            </a:r>
            <a:r>
              <a:rPr dirty="0" sz="7900" spc="-425"/>
              <a:t>A</a:t>
            </a:r>
            <a:r>
              <a:rPr dirty="0" sz="7900" spc="-450"/>
              <a:t>R</a:t>
            </a:r>
            <a:r>
              <a:rPr dirty="0" sz="7900" spc="-405"/>
              <a:t>C</a:t>
            </a:r>
            <a:r>
              <a:rPr dirty="0" sz="7900" spc="-445"/>
              <a:t>H</a:t>
            </a:r>
            <a:r>
              <a:rPr dirty="0" sz="7900" spc="-670"/>
              <a:t>I</a:t>
            </a:r>
            <a:r>
              <a:rPr dirty="0" sz="7900" spc="-425"/>
              <a:t>T</a:t>
            </a:r>
            <a:r>
              <a:rPr dirty="0" sz="7900" spc="-509"/>
              <a:t>E</a:t>
            </a:r>
            <a:r>
              <a:rPr dirty="0" sz="7900" spc="-445"/>
              <a:t>C</a:t>
            </a:r>
            <a:r>
              <a:rPr dirty="0" sz="7900" spc="-425"/>
              <a:t>T</a:t>
            </a:r>
            <a:r>
              <a:rPr dirty="0" sz="7900" spc="-440"/>
              <a:t>U</a:t>
            </a:r>
            <a:r>
              <a:rPr dirty="0" sz="7900" spc="-450"/>
              <a:t>R</a:t>
            </a:r>
            <a:r>
              <a:rPr dirty="0" sz="7900" spc="-35"/>
              <a:t>E</a:t>
            </a:r>
            <a:endParaRPr sz="7900"/>
          </a:p>
        </p:txBody>
      </p:sp>
      <p:sp>
        <p:nvSpPr>
          <p:cNvPr id="12" name="object 12"/>
          <p:cNvSpPr txBox="1"/>
          <p:nvPr/>
        </p:nvSpPr>
        <p:spPr>
          <a:xfrm>
            <a:off x="1028699" y="4569307"/>
            <a:ext cx="3949700" cy="3723004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69"/>
              </a:spcBef>
            </a:pPr>
            <a:endParaRPr sz="2400">
              <a:latin typeface="Times New Roman"/>
              <a:cs typeface="Times New Roman"/>
            </a:endParaRPr>
          </a:p>
          <a:p>
            <a:pPr marL="367030" marR="2388870">
              <a:lnSpc>
                <a:spcPts val="2330"/>
              </a:lnSpc>
            </a:pPr>
            <a:r>
              <a:rPr dirty="0" sz="2400" spc="-20">
                <a:solidFill>
                  <a:srgbClr val="F99C00"/>
                </a:solidFill>
                <a:latin typeface="Verdana"/>
                <a:cs typeface="Verdana"/>
              </a:rPr>
              <a:t>User </a:t>
            </a:r>
            <a:r>
              <a:rPr dirty="0" sz="2400" spc="-185">
                <a:solidFill>
                  <a:srgbClr val="F99C00"/>
                </a:solidFill>
                <a:latin typeface="Verdana"/>
                <a:cs typeface="Verdana"/>
              </a:rPr>
              <a:t>Interface</a:t>
            </a:r>
            <a:endParaRPr sz="2400">
              <a:latin typeface="Verdana"/>
              <a:cs typeface="Verdana"/>
            </a:endParaRPr>
          </a:p>
          <a:p>
            <a:pPr algn="just" marL="367030" marR="363855">
              <a:lnSpc>
                <a:spcPct val="116100"/>
              </a:lnSpc>
              <a:spcBef>
                <a:spcPts val="2690"/>
              </a:spcBef>
            </a:pPr>
            <a:r>
              <a:rPr dirty="0" sz="1400" spc="-20">
                <a:solidFill>
                  <a:srgbClr val="FFFFFF"/>
                </a:solidFill>
                <a:latin typeface="Verdana"/>
                <a:cs typeface="Verdana"/>
              </a:rPr>
              <a:t>Mobile</a:t>
            </a:r>
            <a:r>
              <a:rPr dirty="0" sz="1400" spc="-35">
                <a:solidFill>
                  <a:srgbClr val="FFFFFF"/>
                </a:solidFill>
                <a:latin typeface="Verdana"/>
                <a:cs typeface="Verdana"/>
              </a:rPr>
              <a:t> and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web</a:t>
            </a:r>
            <a:r>
              <a:rPr dirty="0" sz="140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FFFFFF"/>
                </a:solidFill>
                <a:latin typeface="Verdana"/>
                <a:cs typeface="Verdana"/>
              </a:rPr>
              <a:t>application</a:t>
            </a:r>
            <a:r>
              <a:rPr dirty="0" sz="140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FFFFFF"/>
                </a:solidFill>
                <a:latin typeface="Verdana"/>
                <a:cs typeface="Verdana"/>
              </a:rPr>
              <a:t>serving</a:t>
            </a:r>
            <a:r>
              <a:rPr dirty="0" sz="1400" spc="-35">
                <a:solidFill>
                  <a:srgbClr val="FFFFFF"/>
                </a:solidFill>
                <a:latin typeface="Verdana"/>
                <a:cs typeface="Verdana"/>
              </a:rPr>
              <a:t> as </a:t>
            </a:r>
            <a:r>
              <a:rPr dirty="0" sz="1400" spc="-4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14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FFFFFF"/>
                </a:solidFill>
                <a:latin typeface="Verdana"/>
                <a:cs typeface="Verdana"/>
              </a:rPr>
              <a:t>entry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FFFFFF"/>
                </a:solidFill>
                <a:latin typeface="Verdana"/>
                <a:cs typeface="Verdana"/>
              </a:rPr>
              <a:t>point.</a:t>
            </a:r>
            <a:r>
              <a:rPr dirty="0" sz="140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Verdana"/>
                <a:cs typeface="Verdana"/>
              </a:rPr>
              <a:t>Users</a:t>
            </a:r>
            <a:r>
              <a:rPr dirty="0" sz="140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FFFFFF"/>
                </a:solidFill>
                <a:latin typeface="Verdana"/>
                <a:cs typeface="Verdana"/>
              </a:rPr>
              <a:t>authenticate</a:t>
            </a:r>
            <a:r>
              <a:rPr dirty="0" sz="140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interact</a:t>
            </a:r>
            <a:r>
              <a:rPr dirty="0" sz="1400" spc="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dirty="0" sz="1400" spc="2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1400" spc="2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cloud</a:t>
            </a:r>
            <a:r>
              <a:rPr dirty="0" sz="1400" spc="2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drive</a:t>
            </a:r>
            <a:r>
              <a:rPr dirty="0" sz="1400" spc="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via</a:t>
            </a:r>
            <a:r>
              <a:rPr dirty="0" sz="1400" spc="2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responsive</a:t>
            </a:r>
            <a:r>
              <a:rPr dirty="0" sz="1400" spc="204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400" spc="-140">
                <a:solidFill>
                  <a:srgbClr val="FFFFFF"/>
                </a:solidFill>
                <a:latin typeface="Verdana"/>
                <a:cs typeface="Verdana"/>
              </a:rPr>
              <a:t>front-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end</a:t>
            </a:r>
            <a:r>
              <a:rPr dirty="0" sz="1400" spc="21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interface</a:t>
            </a:r>
            <a:r>
              <a:rPr dirty="0" sz="1400" spc="21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dirty="0" sz="1400" spc="-90">
                <a:solidFill>
                  <a:srgbClr val="FFFFFF"/>
                </a:solidFill>
                <a:latin typeface="Verdana"/>
                <a:cs typeface="Verdana"/>
              </a:rPr>
              <a:t>upload,</a:t>
            </a:r>
            <a:r>
              <a:rPr dirty="0" sz="1400" spc="-1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FFFFFF"/>
                </a:solidFill>
                <a:latin typeface="Verdana"/>
                <a:cs typeface="Verdana"/>
              </a:rPr>
              <a:t>download,</a:t>
            </a:r>
            <a:r>
              <a:rPr dirty="0" sz="1400" spc="-1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400" spc="-1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FFFFFF"/>
                </a:solidFill>
                <a:latin typeface="Verdana"/>
                <a:cs typeface="Verdana"/>
              </a:rPr>
              <a:t>manage</a:t>
            </a:r>
            <a:r>
              <a:rPr dirty="0" sz="1400" spc="-1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files.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2365" y="4569307"/>
            <a:ext cx="3949700" cy="3723004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35"/>
              </a:spcBef>
            </a:pPr>
            <a:endParaRPr sz="2400">
              <a:latin typeface="Times New Roman"/>
              <a:cs typeface="Times New Roman"/>
            </a:endParaRPr>
          </a:p>
          <a:p>
            <a:pPr marL="374015">
              <a:lnSpc>
                <a:spcPct val="100000"/>
              </a:lnSpc>
            </a:pPr>
            <a:r>
              <a:rPr dirty="0" sz="2400" spc="-195">
                <a:solidFill>
                  <a:srgbClr val="FFFFFF"/>
                </a:solidFill>
                <a:latin typeface="Verdana"/>
                <a:cs typeface="Verdana"/>
              </a:rPr>
              <a:t>API</a:t>
            </a:r>
            <a:r>
              <a:rPr dirty="0" sz="2400" spc="-4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Verdana"/>
                <a:cs typeface="Verdana"/>
              </a:rPr>
              <a:t>Gateway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85"/>
              </a:spcBef>
            </a:pPr>
            <a:endParaRPr sz="2400">
              <a:latin typeface="Verdana"/>
              <a:cs typeface="Verdana"/>
            </a:endParaRPr>
          </a:p>
          <a:p>
            <a:pPr algn="just" marL="374015" marR="357505">
              <a:lnSpc>
                <a:spcPct val="116100"/>
              </a:lnSpc>
            </a:pP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AWS</a:t>
            </a:r>
            <a:r>
              <a:rPr dirty="0" sz="14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FFFFFF"/>
                </a:solidFill>
                <a:latin typeface="Verdana"/>
                <a:cs typeface="Verdana"/>
              </a:rPr>
              <a:t>API</a:t>
            </a:r>
            <a:r>
              <a:rPr dirty="0" sz="14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FFFFFF"/>
                </a:solidFill>
                <a:latin typeface="Verdana"/>
                <a:cs typeface="Verdana"/>
              </a:rPr>
              <a:t>Gateway</a:t>
            </a:r>
            <a:r>
              <a:rPr dirty="0" sz="14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FFFFFF"/>
                </a:solidFill>
                <a:latin typeface="Verdana"/>
                <a:cs typeface="Verdana"/>
              </a:rPr>
              <a:t>routes</a:t>
            </a:r>
            <a:r>
              <a:rPr dirty="0" sz="14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all</a:t>
            </a:r>
            <a:r>
              <a:rPr dirty="0" sz="14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FFFFFF"/>
                </a:solidFill>
                <a:latin typeface="Verdana"/>
                <a:cs typeface="Verdana"/>
              </a:rPr>
              <a:t>incoming </a:t>
            </a:r>
            <a:r>
              <a:rPr dirty="0" sz="1400" spc="-75">
                <a:solidFill>
                  <a:srgbClr val="FFFFFF"/>
                </a:solidFill>
                <a:latin typeface="Verdana"/>
                <a:cs typeface="Verdana"/>
              </a:rPr>
              <a:t>HTTP/HTTPS</a:t>
            </a:r>
            <a:r>
              <a:rPr dirty="0" sz="1400" spc="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FFFFFF"/>
                </a:solidFill>
                <a:latin typeface="Verdana"/>
                <a:cs typeface="Verdana"/>
              </a:rPr>
              <a:t>requests</a:t>
            </a:r>
            <a:r>
              <a:rPr dirty="0" sz="1400" spc="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55">
                <a:solidFill>
                  <a:srgbClr val="FFFFFF"/>
                </a:solidFill>
                <a:latin typeface="Verdana"/>
                <a:cs typeface="Verdana"/>
              </a:rPr>
              <a:t>from</a:t>
            </a:r>
            <a:r>
              <a:rPr dirty="0" sz="1400" spc="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5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1400" spc="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FFFFFF"/>
                </a:solidFill>
                <a:latin typeface="Verdana"/>
                <a:cs typeface="Verdana"/>
              </a:rPr>
              <a:t>client</a:t>
            </a:r>
            <a:r>
              <a:rPr dirty="0" sz="1400" spc="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1400" spc="12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appropriate</a:t>
            </a:r>
            <a:r>
              <a:rPr dirty="0" sz="1400" spc="12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backend</a:t>
            </a:r>
            <a:r>
              <a:rPr dirty="0" sz="1400" spc="12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400" spc="-45">
                <a:solidFill>
                  <a:srgbClr val="FFFFFF"/>
                </a:solidFill>
                <a:latin typeface="Verdana"/>
                <a:cs typeface="Verdana"/>
              </a:rPr>
              <a:t>Lambda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functions,</a:t>
            </a:r>
            <a:r>
              <a:rPr dirty="0" sz="1400" spc="43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providing</a:t>
            </a:r>
            <a:r>
              <a:rPr dirty="0" sz="1400" spc="43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1400" spc="4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secure</a:t>
            </a:r>
            <a:r>
              <a:rPr dirty="0" sz="1400" spc="43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dirty="0" sz="1400" spc="-45">
                <a:solidFill>
                  <a:srgbClr val="FFFFFF"/>
                </a:solidFill>
                <a:latin typeface="Verdana"/>
                <a:cs typeface="Verdana"/>
              </a:rPr>
              <a:t>scalable</a:t>
            </a:r>
            <a:r>
              <a:rPr dirty="0" sz="1400" spc="-1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FFFFFF"/>
                </a:solidFill>
                <a:latin typeface="Verdana"/>
                <a:cs typeface="Verdana"/>
              </a:rPr>
              <a:t>request</a:t>
            </a:r>
            <a:r>
              <a:rPr dirty="0" sz="1400" spc="-1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FFFFFF"/>
                </a:solidFill>
                <a:latin typeface="Verdana"/>
                <a:cs typeface="Verdana"/>
              </a:rPr>
              <a:t>management</a:t>
            </a:r>
            <a:r>
              <a:rPr dirty="0" sz="1400" spc="-1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layer.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96973" y="4950122"/>
            <a:ext cx="1318895" cy="686435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R="5080">
              <a:lnSpc>
                <a:spcPts val="2330"/>
              </a:lnSpc>
              <a:spcBef>
                <a:spcPts val="630"/>
              </a:spcBef>
            </a:pPr>
            <a:r>
              <a:rPr dirty="0" sz="2400" spc="-10">
                <a:solidFill>
                  <a:srgbClr val="F99C00"/>
                </a:solidFill>
                <a:latin typeface="Verdana"/>
                <a:cs typeface="Verdana"/>
              </a:rPr>
              <a:t>Lambda </a:t>
            </a:r>
            <a:r>
              <a:rPr dirty="0" sz="2400" spc="-150">
                <a:solidFill>
                  <a:srgbClr val="F99C00"/>
                </a:solidFill>
                <a:latin typeface="Verdana"/>
                <a:cs typeface="Verdana"/>
              </a:rPr>
              <a:t>Functions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96973" y="5951790"/>
            <a:ext cx="3223260" cy="5207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R="5080">
              <a:lnSpc>
                <a:spcPct val="116100"/>
              </a:lnSpc>
              <a:spcBef>
                <a:spcPts val="90"/>
              </a:spcBef>
              <a:tabLst>
                <a:tab pos="1038860" algn="l"/>
                <a:tab pos="1633220" algn="l"/>
                <a:tab pos="2470785" algn="l"/>
              </a:tabLst>
            </a:pP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Serverless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AWS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Lambda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1400" spc="-75">
                <a:solidFill>
                  <a:srgbClr val="FFFFFF"/>
                </a:solidFill>
                <a:latin typeface="Verdana"/>
                <a:cs typeface="Verdana"/>
              </a:rPr>
              <a:t>functions </a:t>
            </a:r>
            <a:r>
              <a:rPr dirty="0" sz="1400" spc="-45">
                <a:solidFill>
                  <a:srgbClr val="FFFFFF"/>
                </a:solidFill>
                <a:latin typeface="Verdana"/>
                <a:cs typeface="Verdana"/>
              </a:rPr>
              <a:t>handle</a:t>
            </a:r>
            <a:r>
              <a:rPr dirty="0" sz="1400" spc="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all</a:t>
            </a:r>
            <a:r>
              <a:rPr dirty="0" sz="1400" spc="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backend</a:t>
            </a:r>
            <a:r>
              <a:rPr dirty="0" sz="1400" spc="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logic</a:t>
            </a:r>
            <a:r>
              <a:rPr dirty="0" sz="1400" spc="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FFFFFF"/>
                </a:solidFill>
                <a:latin typeface="Verdana"/>
                <a:cs typeface="Verdana"/>
              </a:rPr>
              <a:t>including</a:t>
            </a:r>
            <a:r>
              <a:rPr dirty="0" sz="1400" spc="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Verdana"/>
                <a:cs typeface="Verdana"/>
              </a:rPr>
              <a:t>file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96973" y="6447090"/>
            <a:ext cx="3223260" cy="5207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R="5080">
              <a:lnSpc>
                <a:spcPct val="116100"/>
              </a:lnSpc>
              <a:spcBef>
                <a:spcPts val="90"/>
              </a:spcBef>
              <a:tabLst>
                <a:tab pos="955675" algn="l"/>
                <a:tab pos="1094740" algn="l"/>
                <a:tab pos="1843405" algn="l"/>
                <a:tab pos="2333625" algn="l"/>
                <a:tab pos="2415540" algn="l"/>
              </a:tabLst>
            </a:pP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operations,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authentication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1400" spc="-110">
                <a:solidFill>
                  <a:srgbClr val="FFFFFF"/>
                </a:solidFill>
                <a:latin typeface="Verdana"/>
                <a:cs typeface="Verdana"/>
              </a:rPr>
              <a:t>validation,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metadata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updates,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1400" spc="-90">
                <a:solidFill>
                  <a:srgbClr val="FFFFFF"/>
                </a:solidFill>
                <a:latin typeface="Verdana"/>
                <a:cs typeface="Verdana"/>
              </a:rPr>
              <a:t>automated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596973" y="6971956"/>
            <a:ext cx="2605405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400" spc="-65">
                <a:solidFill>
                  <a:srgbClr val="FFFFFF"/>
                </a:solidFill>
                <a:latin typeface="Verdana"/>
                <a:cs typeface="Verdana"/>
              </a:rPr>
              <a:t>workflows</a:t>
            </a:r>
            <a:r>
              <a:rPr dirty="0" sz="1400" spc="-1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FFFFFF"/>
                </a:solidFill>
                <a:latin typeface="Verdana"/>
                <a:cs typeface="Verdana"/>
              </a:rPr>
              <a:t>triggered</a:t>
            </a:r>
            <a:r>
              <a:rPr dirty="0" sz="1400" spc="-1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dirty="0" sz="1400" spc="-1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FFFFFF"/>
                </a:solidFill>
                <a:latin typeface="Verdana"/>
                <a:cs typeface="Verdana"/>
              </a:rPr>
              <a:t>API</a:t>
            </a:r>
            <a:r>
              <a:rPr dirty="0" sz="1400" spc="-1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calls.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309748" y="4569308"/>
            <a:ext cx="3949700" cy="3723004"/>
          </a:xfrm>
          <a:prstGeom prst="rect">
            <a:avLst/>
          </a:prstGeom>
          <a:ln w="38099">
            <a:solidFill>
              <a:srgbClr val="202A20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35"/>
              </a:spcBef>
            </a:pPr>
            <a:endParaRPr sz="2400">
              <a:latin typeface="Times New Roman"/>
              <a:cs typeface="Times New Roman"/>
            </a:endParaRPr>
          </a:p>
          <a:p>
            <a:pPr algn="just" marL="387350">
              <a:lnSpc>
                <a:spcPct val="100000"/>
              </a:lnSpc>
            </a:pPr>
            <a:r>
              <a:rPr dirty="0" sz="2400" spc="-60">
                <a:solidFill>
                  <a:srgbClr val="202A20"/>
                </a:solidFill>
                <a:latin typeface="Verdana"/>
                <a:cs typeface="Verdana"/>
              </a:rPr>
              <a:t>S3</a:t>
            </a:r>
            <a:r>
              <a:rPr dirty="0" sz="2400" spc="-40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2400" spc="-25">
                <a:solidFill>
                  <a:srgbClr val="202A20"/>
                </a:solidFill>
                <a:latin typeface="Verdana"/>
                <a:cs typeface="Verdana"/>
              </a:rPr>
              <a:t>&amp;</a:t>
            </a:r>
            <a:r>
              <a:rPr dirty="0" sz="2400" spc="-40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2400" spc="-65">
                <a:solidFill>
                  <a:srgbClr val="202A20"/>
                </a:solidFill>
                <a:latin typeface="Verdana"/>
                <a:cs typeface="Verdana"/>
              </a:rPr>
              <a:t>DynamoDB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85"/>
              </a:spcBef>
            </a:pPr>
            <a:endParaRPr sz="2400">
              <a:latin typeface="Verdana"/>
              <a:cs typeface="Verdana"/>
            </a:endParaRPr>
          </a:p>
          <a:p>
            <a:pPr algn="just" marL="387350" marR="343535">
              <a:lnSpc>
                <a:spcPct val="116100"/>
              </a:lnSpc>
            </a:pP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Amazon</a:t>
            </a:r>
            <a:r>
              <a:rPr dirty="0" sz="1400" spc="21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S3</a:t>
            </a:r>
            <a:r>
              <a:rPr dirty="0" sz="1400" spc="21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stores</a:t>
            </a:r>
            <a:r>
              <a:rPr dirty="0" sz="1400" spc="21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all</a:t>
            </a:r>
            <a:r>
              <a:rPr dirty="0" sz="1400" spc="21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user</a:t>
            </a:r>
            <a:r>
              <a:rPr dirty="0" sz="1400" spc="21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files</a:t>
            </a:r>
            <a:r>
              <a:rPr dirty="0" sz="1400" spc="21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202A20"/>
                </a:solidFill>
                <a:latin typeface="Verdana"/>
                <a:cs typeface="Verdana"/>
              </a:rPr>
              <a:t>as 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scalable</a:t>
            </a:r>
            <a:r>
              <a:rPr dirty="0" sz="1400" spc="22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object</a:t>
            </a:r>
            <a:r>
              <a:rPr dirty="0" sz="1400" spc="22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storage.</a:t>
            </a:r>
            <a:r>
              <a:rPr dirty="0" sz="1400" spc="22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202A20"/>
                </a:solidFill>
                <a:latin typeface="Verdana"/>
                <a:cs typeface="Verdana"/>
              </a:rPr>
              <a:t>DynamoDB </a:t>
            </a:r>
            <a:r>
              <a:rPr dirty="0" sz="1400" spc="-25">
                <a:solidFill>
                  <a:srgbClr val="202A20"/>
                </a:solidFill>
                <a:latin typeface="Verdana"/>
                <a:cs typeface="Verdana"/>
              </a:rPr>
              <a:t>manages</a:t>
            </a:r>
            <a:r>
              <a:rPr dirty="0" sz="1400" spc="-2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file</a:t>
            </a:r>
            <a:r>
              <a:rPr dirty="0" sz="1400" spc="-2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02A20"/>
                </a:solidFill>
                <a:latin typeface="Verdana"/>
                <a:cs typeface="Verdana"/>
              </a:rPr>
              <a:t>metadata,</a:t>
            </a:r>
            <a:r>
              <a:rPr dirty="0" sz="1400" spc="-2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user</a:t>
            </a:r>
            <a:r>
              <a:rPr dirty="0" sz="1400" spc="-2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202A20"/>
                </a:solidFill>
                <a:latin typeface="Verdana"/>
                <a:cs typeface="Verdana"/>
              </a:rPr>
              <a:t>records, </a:t>
            </a:r>
            <a:r>
              <a:rPr dirty="0" sz="1400" spc="-114">
                <a:solidFill>
                  <a:srgbClr val="202A20"/>
                </a:solidFill>
                <a:latin typeface="Verdana"/>
                <a:cs typeface="Verdana"/>
              </a:rPr>
              <a:t>and</a:t>
            </a:r>
            <a:r>
              <a:rPr dirty="0" sz="1400" spc="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202A20"/>
                </a:solidFill>
                <a:latin typeface="Verdana"/>
                <a:cs typeface="Verdana"/>
              </a:rPr>
              <a:t>versioning</a:t>
            </a:r>
            <a:r>
              <a:rPr dirty="0" sz="1400" spc="1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02A20"/>
                </a:solidFill>
                <a:latin typeface="Verdana"/>
                <a:cs typeface="Verdana"/>
              </a:rPr>
              <a:t>data</a:t>
            </a:r>
            <a:r>
              <a:rPr dirty="0" sz="1400" spc="1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02A20"/>
                </a:solidFill>
                <a:latin typeface="Verdana"/>
                <a:cs typeface="Verdana"/>
              </a:rPr>
              <a:t>for</a:t>
            </a:r>
            <a:r>
              <a:rPr dirty="0" sz="1400" spc="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02A20"/>
                </a:solidFill>
                <a:latin typeface="Verdana"/>
                <a:cs typeface="Verdana"/>
              </a:rPr>
              <a:t>fast,</a:t>
            </a:r>
            <a:r>
              <a:rPr dirty="0" sz="1400" spc="1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02A20"/>
                </a:solidFill>
                <a:latin typeface="Verdana"/>
                <a:cs typeface="Verdana"/>
              </a:rPr>
              <a:t>low-</a:t>
            </a:r>
            <a:r>
              <a:rPr dirty="0" sz="1400" spc="-35">
                <a:solidFill>
                  <a:srgbClr val="202A20"/>
                </a:solidFill>
                <a:latin typeface="Verdana"/>
                <a:cs typeface="Verdana"/>
              </a:rPr>
              <a:t>latency </a:t>
            </a:r>
            <a:r>
              <a:rPr dirty="0" sz="1400" spc="-60">
                <a:solidFill>
                  <a:srgbClr val="202A20"/>
                </a:solidFill>
                <a:latin typeface="Verdana"/>
                <a:cs typeface="Verdana"/>
              </a:rPr>
              <a:t>lookups</a:t>
            </a:r>
            <a:r>
              <a:rPr dirty="0" sz="1400" spc="-20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02A20"/>
                </a:solidFill>
                <a:latin typeface="Verdana"/>
                <a:cs typeface="Verdana"/>
              </a:rPr>
              <a:t>and</a:t>
            </a:r>
            <a:r>
              <a:rPr dirty="0" sz="1400" spc="-19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02A20"/>
                </a:solidFill>
                <a:latin typeface="Verdana"/>
                <a:cs typeface="Verdana"/>
              </a:rPr>
              <a:t>queries.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2285396" y="5143512"/>
            <a:ext cx="481330" cy="481330"/>
          </a:xfrm>
          <a:custGeom>
            <a:avLst/>
            <a:gdLst/>
            <a:ahLst/>
            <a:cxnLst/>
            <a:rect l="l" t="t" r="r" b="b"/>
            <a:pathLst>
              <a:path w="481329" h="481329">
                <a:moveTo>
                  <a:pt x="348818" y="242189"/>
                </a:moveTo>
                <a:lnTo>
                  <a:pt x="348691" y="241884"/>
                </a:lnTo>
                <a:lnTo>
                  <a:pt x="348691" y="240919"/>
                </a:lnTo>
                <a:lnTo>
                  <a:pt x="347992" y="240233"/>
                </a:lnTo>
                <a:lnTo>
                  <a:pt x="347141" y="238163"/>
                </a:lnTo>
                <a:lnTo>
                  <a:pt x="249402" y="140347"/>
                </a:lnTo>
                <a:lnTo>
                  <a:pt x="243014" y="140347"/>
                </a:lnTo>
                <a:lnTo>
                  <a:pt x="235077" y="148221"/>
                </a:lnTo>
                <a:lnTo>
                  <a:pt x="235077" y="154609"/>
                </a:lnTo>
                <a:lnTo>
                  <a:pt x="316877" y="236410"/>
                </a:lnTo>
                <a:lnTo>
                  <a:pt x="138620" y="236410"/>
                </a:lnTo>
                <a:lnTo>
                  <a:pt x="134112" y="240919"/>
                </a:lnTo>
                <a:lnTo>
                  <a:pt x="134112" y="252082"/>
                </a:lnTo>
                <a:lnTo>
                  <a:pt x="138620" y="256578"/>
                </a:lnTo>
                <a:lnTo>
                  <a:pt x="316877" y="256578"/>
                </a:lnTo>
                <a:lnTo>
                  <a:pt x="235077" y="338328"/>
                </a:lnTo>
                <a:lnTo>
                  <a:pt x="235077" y="344703"/>
                </a:lnTo>
                <a:lnTo>
                  <a:pt x="240995" y="350621"/>
                </a:lnTo>
                <a:lnTo>
                  <a:pt x="243611" y="351637"/>
                </a:lnTo>
                <a:lnTo>
                  <a:pt x="246176" y="351637"/>
                </a:lnTo>
                <a:lnTo>
                  <a:pt x="248729" y="351637"/>
                </a:lnTo>
                <a:lnTo>
                  <a:pt x="251345" y="350621"/>
                </a:lnTo>
                <a:lnTo>
                  <a:pt x="347141" y="254901"/>
                </a:lnTo>
                <a:lnTo>
                  <a:pt x="348018" y="252755"/>
                </a:lnTo>
                <a:lnTo>
                  <a:pt x="348691" y="252082"/>
                </a:lnTo>
                <a:lnTo>
                  <a:pt x="348691" y="251117"/>
                </a:lnTo>
                <a:lnTo>
                  <a:pt x="348818" y="250799"/>
                </a:lnTo>
                <a:lnTo>
                  <a:pt x="348818" y="242189"/>
                </a:lnTo>
                <a:close/>
              </a:path>
              <a:path w="481329" h="481329">
                <a:moveTo>
                  <a:pt x="481241" y="240652"/>
                </a:moveTo>
                <a:lnTo>
                  <a:pt x="476351" y="192214"/>
                </a:lnTo>
                <a:lnTo>
                  <a:pt x="462318" y="147066"/>
                </a:lnTo>
                <a:lnTo>
                  <a:pt x="461086" y="144805"/>
                </a:lnTo>
                <a:lnTo>
                  <a:pt x="461086" y="240652"/>
                </a:lnTo>
                <a:lnTo>
                  <a:pt x="456603" y="285038"/>
                </a:lnTo>
                <a:lnTo>
                  <a:pt x="443738" y="326402"/>
                </a:lnTo>
                <a:lnTo>
                  <a:pt x="423405" y="363855"/>
                </a:lnTo>
                <a:lnTo>
                  <a:pt x="396468" y="396494"/>
                </a:lnTo>
                <a:lnTo>
                  <a:pt x="363842" y="423430"/>
                </a:lnTo>
                <a:lnTo>
                  <a:pt x="326402" y="443788"/>
                </a:lnTo>
                <a:lnTo>
                  <a:pt x="285038" y="456653"/>
                </a:lnTo>
                <a:lnTo>
                  <a:pt x="240665" y="461137"/>
                </a:lnTo>
                <a:lnTo>
                  <a:pt x="196265" y="456653"/>
                </a:lnTo>
                <a:lnTo>
                  <a:pt x="154901" y="443788"/>
                </a:lnTo>
                <a:lnTo>
                  <a:pt x="117449" y="423430"/>
                </a:lnTo>
                <a:lnTo>
                  <a:pt x="84810" y="396494"/>
                </a:lnTo>
                <a:lnTo>
                  <a:pt x="57873" y="363855"/>
                </a:lnTo>
                <a:lnTo>
                  <a:pt x="37515" y="326402"/>
                </a:lnTo>
                <a:lnTo>
                  <a:pt x="24663" y="285038"/>
                </a:lnTo>
                <a:lnTo>
                  <a:pt x="20167" y="240652"/>
                </a:lnTo>
                <a:lnTo>
                  <a:pt x="24663" y="196265"/>
                </a:lnTo>
                <a:lnTo>
                  <a:pt x="37515" y="154889"/>
                </a:lnTo>
                <a:lnTo>
                  <a:pt x="57873" y="117449"/>
                </a:lnTo>
                <a:lnTo>
                  <a:pt x="84810" y="84797"/>
                </a:lnTo>
                <a:lnTo>
                  <a:pt x="117449" y="57861"/>
                </a:lnTo>
                <a:lnTo>
                  <a:pt x="154901" y="37515"/>
                </a:lnTo>
                <a:lnTo>
                  <a:pt x="196265" y="24650"/>
                </a:lnTo>
                <a:lnTo>
                  <a:pt x="240665" y="20154"/>
                </a:lnTo>
                <a:lnTo>
                  <a:pt x="285026" y="24650"/>
                </a:lnTo>
                <a:lnTo>
                  <a:pt x="326377" y="37515"/>
                </a:lnTo>
                <a:lnTo>
                  <a:pt x="363816" y="57861"/>
                </a:lnTo>
                <a:lnTo>
                  <a:pt x="396443" y="84797"/>
                </a:lnTo>
                <a:lnTo>
                  <a:pt x="423379" y="117449"/>
                </a:lnTo>
                <a:lnTo>
                  <a:pt x="443725" y="154889"/>
                </a:lnTo>
                <a:lnTo>
                  <a:pt x="456590" y="196265"/>
                </a:lnTo>
                <a:lnTo>
                  <a:pt x="461086" y="240652"/>
                </a:lnTo>
                <a:lnTo>
                  <a:pt x="461086" y="144805"/>
                </a:lnTo>
                <a:lnTo>
                  <a:pt x="440105" y="106184"/>
                </a:lnTo>
                <a:lnTo>
                  <a:pt x="410718" y="70561"/>
                </a:lnTo>
                <a:lnTo>
                  <a:pt x="375094" y="41148"/>
                </a:lnTo>
                <a:lnTo>
                  <a:pt x="336486" y="20154"/>
                </a:lnTo>
                <a:lnTo>
                  <a:pt x="289090" y="4889"/>
                </a:lnTo>
                <a:lnTo>
                  <a:pt x="240665" y="0"/>
                </a:lnTo>
                <a:lnTo>
                  <a:pt x="192252" y="4889"/>
                </a:lnTo>
                <a:lnTo>
                  <a:pt x="147104" y="18935"/>
                </a:lnTo>
                <a:lnTo>
                  <a:pt x="106235" y="41148"/>
                </a:lnTo>
                <a:lnTo>
                  <a:pt x="70599" y="70561"/>
                </a:lnTo>
                <a:lnTo>
                  <a:pt x="41186" y="106184"/>
                </a:lnTo>
                <a:lnTo>
                  <a:pt x="18961" y="147066"/>
                </a:lnTo>
                <a:lnTo>
                  <a:pt x="4902" y="192214"/>
                </a:lnTo>
                <a:lnTo>
                  <a:pt x="0" y="240652"/>
                </a:lnTo>
                <a:lnTo>
                  <a:pt x="4902" y="289064"/>
                </a:lnTo>
                <a:lnTo>
                  <a:pt x="18948" y="334187"/>
                </a:lnTo>
                <a:lnTo>
                  <a:pt x="41160" y="375056"/>
                </a:lnTo>
                <a:lnTo>
                  <a:pt x="70573" y="410679"/>
                </a:lnTo>
                <a:lnTo>
                  <a:pt x="106197" y="440080"/>
                </a:lnTo>
                <a:lnTo>
                  <a:pt x="147078" y="462292"/>
                </a:lnTo>
                <a:lnTo>
                  <a:pt x="192214" y="476338"/>
                </a:lnTo>
                <a:lnTo>
                  <a:pt x="240665" y="481241"/>
                </a:lnTo>
                <a:lnTo>
                  <a:pt x="241312" y="481241"/>
                </a:lnTo>
                <a:lnTo>
                  <a:pt x="289737" y="476338"/>
                </a:lnTo>
                <a:lnTo>
                  <a:pt x="289293" y="476338"/>
                </a:lnTo>
                <a:lnTo>
                  <a:pt x="334327" y="462292"/>
                </a:lnTo>
                <a:lnTo>
                  <a:pt x="375145" y="440080"/>
                </a:lnTo>
                <a:lnTo>
                  <a:pt x="410743" y="410679"/>
                </a:lnTo>
                <a:lnTo>
                  <a:pt x="440118" y="375056"/>
                </a:lnTo>
                <a:lnTo>
                  <a:pt x="462318" y="334187"/>
                </a:lnTo>
                <a:lnTo>
                  <a:pt x="476351" y="289064"/>
                </a:lnTo>
                <a:lnTo>
                  <a:pt x="481241" y="2406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6369538" y="5143512"/>
            <a:ext cx="481330" cy="481330"/>
          </a:xfrm>
          <a:custGeom>
            <a:avLst/>
            <a:gdLst/>
            <a:ahLst/>
            <a:cxnLst/>
            <a:rect l="l" t="t" r="r" b="b"/>
            <a:pathLst>
              <a:path w="481330" h="481329">
                <a:moveTo>
                  <a:pt x="348818" y="242189"/>
                </a:moveTo>
                <a:lnTo>
                  <a:pt x="348678" y="241858"/>
                </a:lnTo>
                <a:lnTo>
                  <a:pt x="348678" y="240919"/>
                </a:lnTo>
                <a:lnTo>
                  <a:pt x="348005" y="240258"/>
                </a:lnTo>
                <a:lnTo>
                  <a:pt x="347141" y="238163"/>
                </a:lnTo>
                <a:lnTo>
                  <a:pt x="249389" y="140347"/>
                </a:lnTo>
                <a:lnTo>
                  <a:pt x="243014" y="140347"/>
                </a:lnTo>
                <a:lnTo>
                  <a:pt x="235077" y="148221"/>
                </a:lnTo>
                <a:lnTo>
                  <a:pt x="235077" y="154609"/>
                </a:lnTo>
                <a:lnTo>
                  <a:pt x="316877" y="236410"/>
                </a:lnTo>
                <a:lnTo>
                  <a:pt x="138620" y="236410"/>
                </a:lnTo>
                <a:lnTo>
                  <a:pt x="134112" y="240919"/>
                </a:lnTo>
                <a:lnTo>
                  <a:pt x="134112" y="252082"/>
                </a:lnTo>
                <a:lnTo>
                  <a:pt x="138620" y="256578"/>
                </a:lnTo>
                <a:lnTo>
                  <a:pt x="316877" y="256578"/>
                </a:lnTo>
                <a:lnTo>
                  <a:pt x="235077" y="338328"/>
                </a:lnTo>
                <a:lnTo>
                  <a:pt x="235077" y="344703"/>
                </a:lnTo>
                <a:lnTo>
                  <a:pt x="240995" y="350621"/>
                </a:lnTo>
                <a:lnTo>
                  <a:pt x="243611" y="351637"/>
                </a:lnTo>
                <a:lnTo>
                  <a:pt x="246164" y="351637"/>
                </a:lnTo>
                <a:lnTo>
                  <a:pt x="248729" y="351637"/>
                </a:lnTo>
                <a:lnTo>
                  <a:pt x="251345" y="350621"/>
                </a:lnTo>
                <a:lnTo>
                  <a:pt x="347141" y="254901"/>
                </a:lnTo>
                <a:lnTo>
                  <a:pt x="348018" y="252742"/>
                </a:lnTo>
                <a:lnTo>
                  <a:pt x="348678" y="252082"/>
                </a:lnTo>
                <a:lnTo>
                  <a:pt x="348678" y="251142"/>
                </a:lnTo>
                <a:lnTo>
                  <a:pt x="348818" y="250799"/>
                </a:lnTo>
                <a:lnTo>
                  <a:pt x="348818" y="242189"/>
                </a:lnTo>
                <a:close/>
              </a:path>
              <a:path w="481330" h="481329">
                <a:moveTo>
                  <a:pt x="481241" y="240652"/>
                </a:moveTo>
                <a:lnTo>
                  <a:pt x="476351" y="192214"/>
                </a:lnTo>
                <a:lnTo>
                  <a:pt x="462318" y="147066"/>
                </a:lnTo>
                <a:lnTo>
                  <a:pt x="461073" y="144780"/>
                </a:lnTo>
                <a:lnTo>
                  <a:pt x="461073" y="240652"/>
                </a:lnTo>
                <a:lnTo>
                  <a:pt x="456590" y="285038"/>
                </a:lnTo>
                <a:lnTo>
                  <a:pt x="443738" y="326402"/>
                </a:lnTo>
                <a:lnTo>
                  <a:pt x="423405" y="363855"/>
                </a:lnTo>
                <a:lnTo>
                  <a:pt x="396468" y="396494"/>
                </a:lnTo>
                <a:lnTo>
                  <a:pt x="363842" y="423430"/>
                </a:lnTo>
                <a:lnTo>
                  <a:pt x="326402" y="443788"/>
                </a:lnTo>
                <a:lnTo>
                  <a:pt x="285038" y="456653"/>
                </a:lnTo>
                <a:lnTo>
                  <a:pt x="240652" y="461137"/>
                </a:lnTo>
                <a:lnTo>
                  <a:pt x="196265" y="456653"/>
                </a:lnTo>
                <a:lnTo>
                  <a:pt x="154901" y="443788"/>
                </a:lnTo>
                <a:lnTo>
                  <a:pt x="117449" y="423430"/>
                </a:lnTo>
                <a:lnTo>
                  <a:pt x="84810" y="396494"/>
                </a:lnTo>
                <a:lnTo>
                  <a:pt x="57873" y="363855"/>
                </a:lnTo>
                <a:lnTo>
                  <a:pt x="37515" y="326402"/>
                </a:lnTo>
                <a:lnTo>
                  <a:pt x="24650" y="285038"/>
                </a:lnTo>
                <a:lnTo>
                  <a:pt x="20167" y="240652"/>
                </a:lnTo>
                <a:lnTo>
                  <a:pt x="24650" y="196265"/>
                </a:lnTo>
                <a:lnTo>
                  <a:pt x="37515" y="154889"/>
                </a:lnTo>
                <a:lnTo>
                  <a:pt x="57873" y="117449"/>
                </a:lnTo>
                <a:lnTo>
                  <a:pt x="84810" y="84797"/>
                </a:lnTo>
                <a:lnTo>
                  <a:pt x="117449" y="57861"/>
                </a:lnTo>
                <a:lnTo>
                  <a:pt x="154901" y="37515"/>
                </a:lnTo>
                <a:lnTo>
                  <a:pt x="196265" y="24650"/>
                </a:lnTo>
                <a:lnTo>
                  <a:pt x="240652" y="20154"/>
                </a:lnTo>
                <a:lnTo>
                  <a:pt x="285026" y="24650"/>
                </a:lnTo>
                <a:lnTo>
                  <a:pt x="326377" y="37515"/>
                </a:lnTo>
                <a:lnTo>
                  <a:pt x="363804" y="57861"/>
                </a:lnTo>
                <a:lnTo>
                  <a:pt x="396443" y="84797"/>
                </a:lnTo>
                <a:lnTo>
                  <a:pt x="423379" y="117449"/>
                </a:lnTo>
                <a:lnTo>
                  <a:pt x="443725" y="154889"/>
                </a:lnTo>
                <a:lnTo>
                  <a:pt x="456590" y="196265"/>
                </a:lnTo>
                <a:lnTo>
                  <a:pt x="461073" y="240652"/>
                </a:lnTo>
                <a:lnTo>
                  <a:pt x="461073" y="144780"/>
                </a:lnTo>
                <a:lnTo>
                  <a:pt x="440105" y="106184"/>
                </a:lnTo>
                <a:lnTo>
                  <a:pt x="410718" y="70561"/>
                </a:lnTo>
                <a:lnTo>
                  <a:pt x="375094" y="41148"/>
                </a:lnTo>
                <a:lnTo>
                  <a:pt x="336486" y="20154"/>
                </a:lnTo>
                <a:lnTo>
                  <a:pt x="289090" y="4889"/>
                </a:lnTo>
                <a:lnTo>
                  <a:pt x="240652" y="0"/>
                </a:lnTo>
                <a:lnTo>
                  <a:pt x="192239" y="4889"/>
                </a:lnTo>
                <a:lnTo>
                  <a:pt x="147104" y="18935"/>
                </a:lnTo>
                <a:lnTo>
                  <a:pt x="106235" y="41148"/>
                </a:lnTo>
                <a:lnTo>
                  <a:pt x="70599" y="70561"/>
                </a:lnTo>
                <a:lnTo>
                  <a:pt x="41186" y="106184"/>
                </a:lnTo>
                <a:lnTo>
                  <a:pt x="18961" y="147066"/>
                </a:lnTo>
                <a:lnTo>
                  <a:pt x="4902" y="192214"/>
                </a:lnTo>
                <a:lnTo>
                  <a:pt x="0" y="240652"/>
                </a:lnTo>
                <a:lnTo>
                  <a:pt x="4902" y="289064"/>
                </a:lnTo>
                <a:lnTo>
                  <a:pt x="18948" y="334187"/>
                </a:lnTo>
                <a:lnTo>
                  <a:pt x="41160" y="375056"/>
                </a:lnTo>
                <a:lnTo>
                  <a:pt x="70573" y="410679"/>
                </a:lnTo>
                <a:lnTo>
                  <a:pt x="106197" y="440080"/>
                </a:lnTo>
                <a:lnTo>
                  <a:pt x="147078" y="462292"/>
                </a:lnTo>
                <a:lnTo>
                  <a:pt x="192214" y="476338"/>
                </a:lnTo>
                <a:lnTo>
                  <a:pt x="240665" y="481241"/>
                </a:lnTo>
                <a:lnTo>
                  <a:pt x="241312" y="481241"/>
                </a:lnTo>
                <a:lnTo>
                  <a:pt x="289737" y="476338"/>
                </a:lnTo>
                <a:lnTo>
                  <a:pt x="289293" y="476338"/>
                </a:lnTo>
                <a:lnTo>
                  <a:pt x="334327" y="462292"/>
                </a:lnTo>
                <a:lnTo>
                  <a:pt x="375145" y="440080"/>
                </a:lnTo>
                <a:lnTo>
                  <a:pt x="410730" y="410679"/>
                </a:lnTo>
                <a:lnTo>
                  <a:pt x="440118" y="375056"/>
                </a:lnTo>
                <a:lnTo>
                  <a:pt x="462318" y="334187"/>
                </a:lnTo>
                <a:lnTo>
                  <a:pt x="476351" y="289064"/>
                </a:lnTo>
                <a:lnTo>
                  <a:pt x="481241" y="240652"/>
                </a:lnTo>
                <a:close/>
              </a:path>
            </a:pathLst>
          </a:custGeom>
          <a:solidFill>
            <a:srgbClr val="F99C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57679" y="1191822"/>
            <a:ext cx="3872229" cy="0"/>
          </a:xfrm>
          <a:custGeom>
            <a:avLst/>
            <a:gdLst/>
            <a:ahLst/>
            <a:cxnLst/>
            <a:rect l="l" t="t" r="r" b="b"/>
            <a:pathLst>
              <a:path w="3872229" h="0">
                <a:moveTo>
                  <a:pt x="0" y="0"/>
                </a:moveTo>
                <a:lnTo>
                  <a:pt x="3872037" y="0"/>
                </a:lnTo>
              </a:path>
            </a:pathLst>
          </a:custGeom>
          <a:ln w="19049">
            <a:solidFill>
              <a:srgbClr val="F99C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2078238" y="0"/>
            <a:ext cx="5669280" cy="10287000"/>
            <a:chOff x="12078238" y="0"/>
            <a:chExt cx="5669280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76389" y="0"/>
              <a:ext cx="4471121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078238" y="4853387"/>
              <a:ext cx="5177155" cy="3723004"/>
            </a:xfrm>
            <a:custGeom>
              <a:avLst/>
              <a:gdLst/>
              <a:ahLst/>
              <a:cxnLst/>
              <a:rect l="l" t="t" r="r" b="b"/>
              <a:pathLst>
                <a:path w="5177155" h="3723004">
                  <a:moveTo>
                    <a:pt x="5177141" y="3722888"/>
                  </a:moveTo>
                  <a:lnTo>
                    <a:pt x="0" y="3722888"/>
                  </a:lnTo>
                  <a:lnTo>
                    <a:pt x="0" y="0"/>
                  </a:lnTo>
                  <a:lnTo>
                    <a:pt x="5177141" y="0"/>
                  </a:lnTo>
                  <a:lnTo>
                    <a:pt x="5177141" y="3722888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6317252" y="5393308"/>
              <a:ext cx="481330" cy="481330"/>
            </a:xfrm>
            <a:custGeom>
              <a:avLst/>
              <a:gdLst/>
              <a:ahLst/>
              <a:cxnLst/>
              <a:rect l="l" t="t" r="r" b="b"/>
              <a:pathLst>
                <a:path w="481330" h="481329">
                  <a:moveTo>
                    <a:pt x="348818" y="242201"/>
                  </a:moveTo>
                  <a:lnTo>
                    <a:pt x="348691" y="241896"/>
                  </a:lnTo>
                  <a:lnTo>
                    <a:pt x="348691" y="240931"/>
                  </a:lnTo>
                  <a:lnTo>
                    <a:pt x="347992" y="240245"/>
                  </a:lnTo>
                  <a:lnTo>
                    <a:pt x="347141" y="238175"/>
                  </a:lnTo>
                  <a:lnTo>
                    <a:pt x="249402" y="140360"/>
                  </a:lnTo>
                  <a:lnTo>
                    <a:pt x="243014" y="140360"/>
                  </a:lnTo>
                  <a:lnTo>
                    <a:pt x="235077" y="148234"/>
                  </a:lnTo>
                  <a:lnTo>
                    <a:pt x="235077" y="154609"/>
                  </a:lnTo>
                  <a:lnTo>
                    <a:pt x="316890" y="236423"/>
                  </a:lnTo>
                  <a:lnTo>
                    <a:pt x="138620" y="236423"/>
                  </a:lnTo>
                  <a:lnTo>
                    <a:pt x="134112" y="240931"/>
                  </a:lnTo>
                  <a:lnTo>
                    <a:pt x="134112" y="252082"/>
                  </a:lnTo>
                  <a:lnTo>
                    <a:pt x="138620" y="256590"/>
                  </a:lnTo>
                  <a:lnTo>
                    <a:pt x="316877" y="256590"/>
                  </a:lnTo>
                  <a:lnTo>
                    <a:pt x="235077" y="338328"/>
                  </a:lnTo>
                  <a:lnTo>
                    <a:pt x="235077" y="344716"/>
                  </a:lnTo>
                  <a:lnTo>
                    <a:pt x="240995" y="350634"/>
                  </a:lnTo>
                  <a:lnTo>
                    <a:pt x="243624" y="351637"/>
                  </a:lnTo>
                  <a:lnTo>
                    <a:pt x="246176" y="351637"/>
                  </a:lnTo>
                  <a:lnTo>
                    <a:pt x="248729" y="351637"/>
                  </a:lnTo>
                  <a:lnTo>
                    <a:pt x="251345" y="350634"/>
                  </a:lnTo>
                  <a:lnTo>
                    <a:pt x="347141" y="254914"/>
                  </a:lnTo>
                  <a:lnTo>
                    <a:pt x="348018" y="252755"/>
                  </a:lnTo>
                  <a:lnTo>
                    <a:pt x="348691" y="252082"/>
                  </a:lnTo>
                  <a:lnTo>
                    <a:pt x="348691" y="251129"/>
                  </a:lnTo>
                  <a:lnTo>
                    <a:pt x="348818" y="250812"/>
                  </a:lnTo>
                  <a:lnTo>
                    <a:pt x="348818" y="242201"/>
                  </a:lnTo>
                  <a:close/>
                </a:path>
                <a:path w="481330" h="481329">
                  <a:moveTo>
                    <a:pt x="481253" y="240665"/>
                  </a:moveTo>
                  <a:lnTo>
                    <a:pt x="476351" y="192214"/>
                  </a:lnTo>
                  <a:lnTo>
                    <a:pt x="462318" y="147078"/>
                  </a:lnTo>
                  <a:lnTo>
                    <a:pt x="461086" y="144818"/>
                  </a:lnTo>
                  <a:lnTo>
                    <a:pt x="461086" y="240665"/>
                  </a:lnTo>
                  <a:lnTo>
                    <a:pt x="456603" y="285051"/>
                  </a:lnTo>
                  <a:lnTo>
                    <a:pt x="443738" y="326415"/>
                  </a:lnTo>
                  <a:lnTo>
                    <a:pt x="423405" y="363867"/>
                  </a:lnTo>
                  <a:lnTo>
                    <a:pt x="396468" y="396506"/>
                  </a:lnTo>
                  <a:lnTo>
                    <a:pt x="363842" y="423443"/>
                  </a:lnTo>
                  <a:lnTo>
                    <a:pt x="326402" y="443801"/>
                  </a:lnTo>
                  <a:lnTo>
                    <a:pt x="285038" y="456666"/>
                  </a:lnTo>
                  <a:lnTo>
                    <a:pt x="240665" y="461149"/>
                  </a:lnTo>
                  <a:lnTo>
                    <a:pt x="196265" y="456666"/>
                  </a:lnTo>
                  <a:lnTo>
                    <a:pt x="154901" y="443801"/>
                  </a:lnTo>
                  <a:lnTo>
                    <a:pt x="117462" y="423443"/>
                  </a:lnTo>
                  <a:lnTo>
                    <a:pt x="84810" y="396506"/>
                  </a:lnTo>
                  <a:lnTo>
                    <a:pt x="57873" y="363867"/>
                  </a:lnTo>
                  <a:lnTo>
                    <a:pt x="37528" y="326415"/>
                  </a:lnTo>
                  <a:lnTo>
                    <a:pt x="24663" y="285051"/>
                  </a:lnTo>
                  <a:lnTo>
                    <a:pt x="20167" y="240665"/>
                  </a:lnTo>
                  <a:lnTo>
                    <a:pt x="24663" y="196265"/>
                  </a:lnTo>
                  <a:lnTo>
                    <a:pt x="37528" y="154901"/>
                  </a:lnTo>
                  <a:lnTo>
                    <a:pt x="57873" y="117449"/>
                  </a:lnTo>
                  <a:lnTo>
                    <a:pt x="84810" y="84810"/>
                  </a:lnTo>
                  <a:lnTo>
                    <a:pt x="117462" y="57873"/>
                  </a:lnTo>
                  <a:lnTo>
                    <a:pt x="154901" y="37515"/>
                  </a:lnTo>
                  <a:lnTo>
                    <a:pt x="196265" y="24663"/>
                  </a:lnTo>
                  <a:lnTo>
                    <a:pt x="240665" y="20167"/>
                  </a:lnTo>
                  <a:lnTo>
                    <a:pt x="285026" y="24663"/>
                  </a:lnTo>
                  <a:lnTo>
                    <a:pt x="326377" y="37515"/>
                  </a:lnTo>
                  <a:lnTo>
                    <a:pt x="363816" y="57873"/>
                  </a:lnTo>
                  <a:lnTo>
                    <a:pt x="396443" y="84810"/>
                  </a:lnTo>
                  <a:lnTo>
                    <a:pt x="423379" y="117449"/>
                  </a:lnTo>
                  <a:lnTo>
                    <a:pt x="443725" y="154901"/>
                  </a:lnTo>
                  <a:lnTo>
                    <a:pt x="456590" y="196265"/>
                  </a:lnTo>
                  <a:lnTo>
                    <a:pt x="461086" y="240665"/>
                  </a:lnTo>
                  <a:lnTo>
                    <a:pt x="461086" y="144818"/>
                  </a:lnTo>
                  <a:lnTo>
                    <a:pt x="440118" y="106197"/>
                  </a:lnTo>
                  <a:lnTo>
                    <a:pt x="410718" y="70573"/>
                  </a:lnTo>
                  <a:lnTo>
                    <a:pt x="375094" y="41160"/>
                  </a:lnTo>
                  <a:lnTo>
                    <a:pt x="336486" y="20167"/>
                  </a:lnTo>
                  <a:lnTo>
                    <a:pt x="289090" y="4902"/>
                  </a:lnTo>
                  <a:lnTo>
                    <a:pt x="240665" y="0"/>
                  </a:lnTo>
                  <a:lnTo>
                    <a:pt x="192252" y="4902"/>
                  </a:lnTo>
                  <a:lnTo>
                    <a:pt x="147104" y="18948"/>
                  </a:lnTo>
                  <a:lnTo>
                    <a:pt x="106235" y="41160"/>
                  </a:lnTo>
                  <a:lnTo>
                    <a:pt x="70599" y="70573"/>
                  </a:lnTo>
                  <a:lnTo>
                    <a:pt x="41186" y="106197"/>
                  </a:lnTo>
                  <a:lnTo>
                    <a:pt x="18961" y="147078"/>
                  </a:lnTo>
                  <a:lnTo>
                    <a:pt x="4914" y="192214"/>
                  </a:lnTo>
                  <a:lnTo>
                    <a:pt x="0" y="240665"/>
                  </a:lnTo>
                  <a:lnTo>
                    <a:pt x="4902" y="289077"/>
                  </a:lnTo>
                  <a:lnTo>
                    <a:pt x="18948" y="334200"/>
                  </a:lnTo>
                  <a:lnTo>
                    <a:pt x="41160" y="375069"/>
                  </a:lnTo>
                  <a:lnTo>
                    <a:pt x="70573" y="410692"/>
                  </a:lnTo>
                  <a:lnTo>
                    <a:pt x="106197" y="440093"/>
                  </a:lnTo>
                  <a:lnTo>
                    <a:pt x="147078" y="462305"/>
                  </a:lnTo>
                  <a:lnTo>
                    <a:pt x="192227" y="476351"/>
                  </a:lnTo>
                  <a:lnTo>
                    <a:pt x="240665" y="481253"/>
                  </a:lnTo>
                  <a:lnTo>
                    <a:pt x="241312" y="481253"/>
                  </a:lnTo>
                  <a:lnTo>
                    <a:pt x="289737" y="476351"/>
                  </a:lnTo>
                  <a:lnTo>
                    <a:pt x="289293" y="476351"/>
                  </a:lnTo>
                  <a:lnTo>
                    <a:pt x="334327" y="462305"/>
                  </a:lnTo>
                  <a:lnTo>
                    <a:pt x="375145" y="440093"/>
                  </a:lnTo>
                  <a:lnTo>
                    <a:pt x="410743" y="410692"/>
                  </a:lnTo>
                  <a:lnTo>
                    <a:pt x="440118" y="375069"/>
                  </a:lnTo>
                  <a:lnTo>
                    <a:pt x="462318" y="334200"/>
                  </a:lnTo>
                  <a:lnTo>
                    <a:pt x="476351" y="289077"/>
                  </a:lnTo>
                  <a:lnTo>
                    <a:pt x="481253" y="240665"/>
                  </a:lnTo>
                  <a:close/>
                </a:path>
              </a:pathLst>
            </a:custGeom>
            <a:solidFill>
              <a:srgbClr val="F99C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533846" y="1014843"/>
            <a:ext cx="203835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80">
                <a:latin typeface="Verdana"/>
                <a:cs typeface="Verdana"/>
              </a:rPr>
              <a:t>Personal</a:t>
            </a:r>
            <a:r>
              <a:rPr dirty="0" sz="1700" spc="-250">
                <a:latin typeface="Verdana"/>
                <a:cs typeface="Verdana"/>
              </a:rPr>
              <a:t> </a:t>
            </a:r>
            <a:r>
              <a:rPr dirty="0" sz="1700" spc="-60">
                <a:latin typeface="Verdana"/>
                <a:cs typeface="Verdana"/>
              </a:rPr>
              <a:t>Cloud</a:t>
            </a:r>
            <a:r>
              <a:rPr dirty="0" sz="1700" spc="-250">
                <a:latin typeface="Verdana"/>
                <a:cs typeface="Verdana"/>
              </a:rPr>
              <a:t> </a:t>
            </a:r>
            <a:r>
              <a:rPr dirty="0" sz="1700" spc="-95">
                <a:latin typeface="Verdana"/>
                <a:cs typeface="Verdana"/>
              </a:rPr>
              <a:t>Drive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87316" y="1014843"/>
            <a:ext cx="178244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40">
                <a:latin typeface="Verdana"/>
                <a:cs typeface="Verdana"/>
              </a:rPr>
              <a:t>AWS</a:t>
            </a:r>
            <a:r>
              <a:rPr dirty="0" sz="1700" spc="-275">
                <a:latin typeface="Verdana"/>
                <a:cs typeface="Verdana"/>
              </a:rPr>
              <a:t> </a:t>
            </a:r>
            <a:r>
              <a:rPr dirty="0" sz="1700" spc="-90">
                <a:latin typeface="Verdana"/>
                <a:cs typeface="Verdana"/>
              </a:rPr>
              <a:t>Presentation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6000" y="8973085"/>
            <a:ext cx="1720214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110">
                <a:latin typeface="Verdana"/>
                <a:cs typeface="Verdana"/>
              </a:rPr>
              <a:t>aws.amazon.com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6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20"/>
              <a:t>KEY</a:t>
            </a:r>
            <a:r>
              <a:rPr dirty="0" spc="-1395"/>
              <a:t> </a:t>
            </a:r>
            <a:r>
              <a:rPr dirty="0" spc="-385"/>
              <a:t>F</a:t>
            </a:r>
            <a:r>
              <a:rPr dirty="0" spc="-409"/>
              <a:t>E</a:t>
            </a:r>
            <a:r>
              <a:rPr dirty="0" spc="-1090"/>
              <a:t>A</a:t>
            </a:r>
            <a:r>
              <a:rPr dirty="0" spc="-390"/>
              <a:t>T</a:t>
            </a:r>
            <a:r>
              <a:rPr dirty="0" spc="-405"/>
              <a:t>U</a:t>
            </a:r>
            <a:r>
              <a:rPr dirty="0" spc="-415"/>
              <a:t>R</a:t>
            </a:r>
            <a:r>
              <a:rPr dirty="0" spc="-484"/>
              <a:t>E</a:t>
            </a:r>
            <a:r>
              <a:rPr dirty="0"/>
              <a:t>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1028700" y="4853387"/>
            <a:ext cx="5177155" cy="3723004"/>
            <a:chOff x="1028700" y="4853387"/>
            <a:chExt cx="5177155" cy="3723004"/>
          </a:xfrm>
        </p:grpSpPr>
        <p:sp>
          <p:nvSpPr>
            <p:cNvPr id="12" name="object 12"/>
            <p:cNvSpPr/>
            <p:nvPr/>
          </p:nvSpPr>
          <p:spPr>
            <a:xfrm>
              <a:off x="1028700" y="4853387"/>
              <a:ext cx="5177155" cy="3723004"/>
            </a:xfrm>
            <a:custGeom>
              <a:avLst/>
              <a:gdLst/>
              <a:ahLst/>
              <a:cxnLst/>
              <a:rect l="l" t="t" r="r" b="b"/>
              <a:pathLst>
                <a:path w="5177155" h="3723004">
                  <a:moveTo>
                    <a:pt x="5177141" y="3722888"/>
                  </a:moveTo>
                  <a:lnTo>
                    <a:pt x="0" y="3722888"/>
                  </a:lnTo>
                  <a:lnTo>
                    <a:pt x="0" y="0"/>
                  </a:lnTo>
                  <a:lnTo>
                    <a:pt x="5177141" y="0"/>
                  </a:lnTo>
                  <a:lnTo>
                    <a:pt x="5177141" y="3722888"/>
                  </a:lnTo>
                  <a:close/>
                </a:path>
              </a:pathLst>
            </a:custGeom>
            <a:solidFill>
              <a:srgbClr val="202A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267719" y="5393308"/>
              <a:ext cx="481330" cy="481330"/>
            </a:xfrm>
            <a:custGeom>
              <a:avLst/>
              <a:gdLst/>
              <a:ahLst/>
              <a:cxnLst/>
              <a:rect l="l" t="t" r="r" b="b"/>
              <a:pathLst>
                <a:path w="481329" h="481329">
                  <a:moveTo>
                    <a:pt x="348818" y="242201"/>
                  </a:moveTo>
                  <a:lnTo>
                    <a:pt x="348678" y="241871"/>
                  </a:lnTo>
                  <a:lnTo>
                    <a:pt x="348678" y="240931"/>
                  </a:lnTo>
                  <a:lnTo>
                    <a:pt x="347992" y="240258"/>
                  </a:lnTo>
                  <a:lnTo>
                    <a:pt x="347129" y="238175"/>
                  </a:lnTo>
                  <a:lnTo>
                    <a:pt x="249389" y="140360"/>
                  </a:lnTo>
                  <a:lnTo>
                    <a:pt x="243001" y="140360"/>
                  </a:lnTo>
                  <a:lnTo>
                    <a:pt x="235077" y="148234"/>
                  </a:lnTo>
                  <a:lnTo>
                    <a:pt x="235077" y="154609"/>
                  </a:lnTo>
                  <a:lnTo>
                    <a:pt x="316877" y="236423"/>
                  </a:lnTo>
                  <a:lnTo>
                    <a:pt x="138607" y="236423"/>
                  </a:lnTo>
                  <a:lnTo>
                    <a:pt x="134112" y="240931"/>
                  </a:lnTo>
                  <a:lnTo>
                    <a:pt x="134112" y="252082"/>
                  </a:lnTo>
                  <a:lnTo>
                    <a:pt x="138607" y="256590"/>
                  </a:lnTo>
                  <a:lnTo>
                    <a:pt x="316865" y="256590"/>
                  </a:lnTo>
                  <a:lnTo>
                    <a:pt x="235077" y="338328"/>
                  </a:lnTo>
                  <a:lnTo>
                    <a:pt x="235077" y="344716"/>
                  </a:lnTo>
                  <a:lnTo>
                    <a:pt x="240995" y="350634"/>
                  </a:lnTo>
                  <a:lnTo>
                    <a:pt x="243611" y="351637"/>
                  </a:lnTo>
                  <a:lnTo>
                    <a:pt x="246164" y="351637"/>
                  </a:lnTo>
                  <a:lnTo>
                    <a:pt x="248716" y="351637"/>
                  </a:lnTo>
                  <a:lnTo>
                    <a:pt x="251345" y="350634"/>
                  </a:lnTo>
                  <a:lnTo>
                    <a:pt x="347129" y="254914"/>
                  </a:lnTo>
                  <a:lnTo>
                    <a:pt x="348018" y="252742"/>
                  </a:lnTo>
                  <a:lnTo>
                    <a:pt x="348678" y="252082"/>
                  </a:lnTo>
                  <a:lnTo>
                    <a:pt x="348678" y="251155"/>
                  </a:lnTo>
                  <a:lnTo>
                    <a:pt x="348818" y="250812"/>
                  </a:lnTo>
                  <a:lnTo>
                    <a:pt x="348818" y="242201"/>
                  </a:lnTo>
                  <a:close/>
                </a:path>
                <a:path w="481329" h="481329">
                  <a:moveTo>
                    <a:pt x="481241" y="240665"/>
                  </a:moveTo>
                  <a:lnTo>
                    <a:pt x="476351" y="192214"/>
                  </a:lnTo>
                  <a:lnTo>
                    <a:pt x="462305" y="147078"/>
                  </a:lnTo>
                  <a:lnTo>
                    <a:pt x="461073" y="144818"/>
                  </a:lnTo>
                  <a:lnTo>
                    <a:pt x="461073" y="240665"/>
                  </a:lnTo>
                  <a:lnTo>
                    <a:pt x="456590" y="285051"/>
                  </a:lnTo>
                  <a:lnTo>
                    <a:pt x="443738" y="326415"/>
                  </a:lnTo>
                  <a:lnTo>
                    <a:pt x="423392" y="363867"/>
                  </a:lnTo>
                  <a:lnTo>
                    <a:pt x="396468" y="396506"/>
                  </a:lnTo>
                  <a:lnTo>
                    <a:pt x="363842" y="423443"/>
                  </a:lnTo>
                  <a:lnTo>
                    <a:pt x="326402" y="443801"/>
                  </a:lnTo>
                  <a:lnTo>
                    <a:pt x="285038" y="456666"/>
                  </a:lnTo>
                  <a:lnTo>
                    <a:pt x="240652" y="461149"/>
                  </a:lnTo>
                  <a:lnTo>
                    <a:pt x="196265" y="456666"/>
                  </a:lnTo>
                  <a:lnTo>
                    <a:pt x="154901" y="443801"/>
                  </a:lnTo>
                  <a:lnTo>
                    <a:pt x="117449" y="423443"/>
                  </a:lnTo>
                  <a:lnTo>
                    <a:pt x="84810" y="396506"/>
                  </a:lnTo>
                  <a:lnTo>
                    <a:pt x="57861" y="363867"/>
                  </a:lnTo>
                  <a:lnTo>
                    <a:pt x="37515" y="326415"/>
                  </a:lnTo>
                  <a:lnTo>
                    <a:pt x="24650" y="285051"/>
                  </a:lnTo>
                  <a:lnTo>
                    <a:pt x="20167" y="240665"/>
                  </a:lnTo>
                  <a:lnTo>
                    <a:pt x="24650" y="196265"/>
                  </a:lnTo>
                  <a:lnTo>
                    <a:pt x="37515" y="154901"/>
                  </a:lnTo>
                  <a:lnTo>
                    <a:pt x="57861" y="117449"/>
                  </a:lnTo>
                  <a:lnTo>
                    <a:pt x="84810" y="84810"/>
                  </a:lnTo>
                  <a:lnTo>
                    <a:pt x="117449" y="57873"/>
                  </a:lnTo>
                  <a:lnTo>
                    <a:pt x="154901" y="37515"/>
                  </a:lnTo>
                  <a:lnTo>
                    <a:pt x="196265" y="24663"/>
                  </a:lnTo>
                  <a:lnTo>
                    <a:pt x="240652" y="20167"/>
                  </a:lnTo>
                  <a:lnTo>
                    <a:pt x="285026" y="24663"/>
                  </a:lnTo>
                  <a:lnTo>
                    <a:pt x="326364" y="37515"/>
                  </a:lnTo>
                  <a:lnTo>
                    <a:pt x="363804" y="57873"/>
                  </a:lnTo>
                  <a:lnTo>
                    <a:pt x="396443" y="84810"/>
                  </a:lnTo>
                  <a:lnTo>
                    <a:pt x="423379" y="117449"/>
                  </a:lnTo>
                  <a:lnTo>
                    <a:pt x="443725" y="154901"/>
                  </a:lnTo>
                  <a:lnTo>
                    <a:pt x="456590" y="196265"/>
                  </a:lnTo>
                  <a:lnTo>
                    <a:pt x="461073" y="240665"/>
                  </a:lnTo>
                  <a:lnTo>
                    <a:pt x="461073" y="144818"/>
                  </a:lnTo>
                  <a:lnTo>
                    <a:pt x="440105" y="106197"/>
                  </a:lnTo>
                  <a:lnTo>
                    <a:pt x="410705" y="70573"/>
                  </a:lnTo>
                  <a:lnTo>
                    <a:pt x="375094" y="41160"/>
                  </a:lnTo>
                  <a:lnTo>
                    <a:pt x="336473" y="20167"/>
                  </a:lnTo>
                  <a:lnTo>
                    <a:pt x="289090" y="4902"/>
                  </a:lnTo>
                  <a:lnTo>
                    <a:pt x="240652" y="0"/>
                  </a:lnTo>
                  <a:lnTo>
                    <a:pt x="192239" y="4902"/>
                  </a:lnTo>
                  <a:lnTo>
                    <a:pt x="147104" y="18948"/>
                  </a:lnTo>
                  <a:lnTo>
                    <a:pt x="106222" y="41160"/>
                  </a:lnTo>
                  <a:lnTo>
                    <a:pt x="70599" y="70573"/>
                  </a:lnTo>
                  <a:lnTo>
                    <a:pt x="41186" y="106197"/>
                  </a:lnTo>
                  <a:lnTo>
                    <a:pt x="18961" y="147078"/>
                  </a:lnTo>
                  <a:lnTo>
                    <a:pt x="4902" y="192214"/>
                  </a:lnTo>
                  <a:lnTo>
                    <a:pt x="0" y="240665"/>
                  </a:lnTo>
                  <a:lnTo>
                    <a:pt x="4902" y="289077"/>
                  </a:lnTo>
                  <a:lnTo>
                    <a:pt x="18935" y="334200"/>
                  </a:lnTo>
                  <a:lnTo>
                    <a:pt x="41160" y="375069"/>
                  </a:lnTo>
                  <a:lnTo>
                    <a:pt x="70561" y="410692"/>
                  </a:lnTo>
                  <a:lnTo>
                    <a:pt x="106197" y="440093"/>
                  </a:lnTo>
                  <a:lnTo>
                    <a:pt x="147066" y="462305"/>
                  </a:lnTo>
                  <a:lnTo>
                    <a:pt x="192214" y="476351"/>
                  </a:lnTo>
                  <a:lnTo>
                    <a:pt x="240665" y="481253"/>
                  </a:lnTo>
                  <a:lnTo>
                    <a:pt x="241312" y="481253"/>
                  </a:lnTo>
                  <a:lnTo>
                    <a:pt x="289737" y="476351"/>
                  </a:lnTo>
                  <a:lnTo>
                    <a:pt x="289280" y="476351"/>
                  </a:lnTo>
                  <a:lnTo>
                    <a:pt x="334314" y="462305"/>
                  </a:lnTo>
                  <a:lnTo>
                    <a:pt x="375145" y="440093"/>
                  </a:lnTo>
                  <a:lnTo>
                    <a:pt x="410730" y="410692"/>
                  </a:lnTo>
                  <a:lnTo>
                    <a:pt x="440118" y="375069"/>
                  </a:lnTo>
                  <a:lnTo>
                    <a:pt x="462318" y="334200"/>
                  </a:lnTo>
                  <a:lnTo>
                    <a:pt x="476351" y="289077"/>
                  </a:lnTo>
                  <a:lnTo>
                    <a:pt x="481241" y="2406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6553468" y="4853387"/>
            <a:ext cx="5177155" cy="3723004"/>
            <a:chOff x="6553468" y="4853387"/>
            <a:chExt cx="5177155" cy="3723004"/>
          </a:xfrm>
        </p:grpSpPr>
        <p:sp>
          <p:nvSpPr>
            <p:cNvPr id="15" name="object 15"/>
            <p:cNvSpPr/>
            <p:nvPr/>
          </p:nvSpPr>
          <p:spPr>
            <a:xfrm>
              <a:off x="6553468" y="4853387"/>
              <a:ext cx="5177155" cy="3723004"/>
            </a:xfrm>
            <a:custGeom>
              <a:avLst/>
              <a:gdLst/>
              <a:ahLst/>
              <a:cxnLst/>
              <a:rect l="l" t="t" r="r" b="b"/>
              <a:pathLst>
                <a:path w="5177155" h="3723004">
                  <a:moveTo>
                    <a:pt x="5177141" y="3722888"/>
                  </a:moveTo>
                  <a:lnTo>
                    <a:pt x="0" y="3722888"/>
                  </a:lnTo>
                  <a:lnTo>
                    <a:pt x="0" y="0"/>
                  </a:lnTo>
                  <a:lnTo>
                    <a:pt x="5177141" y="0"/>
                  </a:lnTo>
                  <a:lnTo>
                    <a:pt x="5177141" y="3722888"/>
                  </a:lnTo>
                  <a:close/>
                </a:path>
              </a:pathLst>
            </a:custGeom>
            <a:solidFill>
              <a:srgbClr val="F99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792485" y="5393308"/>
              <a:ext cx="481330" cy="481330"/>
            </a:xfrm>
            <a:custGeom>
              <a:avLst/>
              <a:gdLst/>
              <a:ahLst/>
              <a:cxnLst/>
              <a:rect l="l" t="t" r="r" b="b"/>
              <a:pathLst>
                <a:path w="481329" h="481329">
                  <a:moveTo>
                    <a:pt x="348818" y="242201"/>
                  </a:moveTo>
                  <a:lnTo>
                    <a:pt x="348678" y="241871"/>
                  </a:lnTo>
                  <a:lnTo>
                    <a:pt x="348678" y="240931"/>
                  </a:lnTo>
                  <a:lnTo>
                    <a:pt x="348005" y="240271"/>
                  </a:lnTo>
                  <a:lnTo>
                    <a:pt x="347141" y="238175"/>
                  </a:lnTo>
                  <a:lnTo>
                    <a:pt x="249389" y="140360"/>
                  </a:lnTo>
                  <a:lnTo>
                    <a:pt x="243014" y="140360"/>
                  </a:lnTo>
                  <a:lnTo>
                    <a:pt x="235077" y="148234"/>
                  </a:lnTo>
                  <a:lnTo>
                    <a:pt x="235077" y="154609"/>
                  </a:lnTo>
                  <a:lnTo>
                    <a:pt x="316890" y="236423"/>
                  </a:lnTo>
                  <a:lnTo>
                    <a:pt x="138607" y="236423"/>
                  </a:lnTo>
                  <a:lnTo>
                    <a:pt x="134112" y="240931"/>
                  </a:lnTo>
                  <a:lnTo>
                    <a:pt x="134112" y="252082"/>
                  </a:lnTo>
                  <a:lnTo>
                    <a:pt x="138607" y="256590"/>
                  </a:lnTo>
                  <a:lnTo>
                    <a:pt x="316877" y="256590"/>
                  </a:lnTo>
                  <a:lnTo>
                    <a:pt x="235077" y="338328"/>
                  </a:lnTo>
                  <a:lnTo>
                    <a:pt x="235077" y="344716"/>
                  </a:lnTo>
                  <a:lnTo>
                    <a:pt x="240995" y="350634"/>
                  </a:lnTo>
                  <a:lnTo>
                    <a:pt x="243611" y="351637"/>
                  </a:lnTo>
                  <a:lnTo>
                    <a:pt x="246164" y="351637"/>
                  </a:lnTo>
                  <a:lnTo>
                    <a:pt x="248716" y="351637"/>
                  </a:lnTo>
                  <a:lnTo>
                    <a:pt x="251345" y="350634"/>
                  </a:lnTo>
                  <a:lnTo>
                    <a:pt x="347141" y="254914"/>
                  </a:lnTo>
                  <a:lnTo>
                    <a:pt x="348030" y="252730"/>
                  </a:lnTo>
                  <a:lnTo>
                    <a:pt x="348678" y="252082"/>
                  </a:lnTo>
                  <a:lnTo>
                    <a:pt x="348678" y="251155"/>
                  </a:lnTo>
                  <a:lnTo>
                    <a:pt x="348818" y="250812"/>
                  </a:lnTo>
                  <a:lnTo>
                    <a:pt x="348818" y="242201"/>
                  </a:lnTo>
                  <a:close/>
                </a:path>
                <a:path w="481329" h="481329">
                  <a:moveTo>
                    <a:pt x="481241" y="240665"/>
                  </a:moveTo>
                  <a:lnTo>
                    <a:pt x="476351" y="192214"/>
                  </a:lnTo>
                  <a:lnTo>
                    <a:pt x="462318" y="147078"/>
                  </a:lnTo>
                  <a:lnTo>
                    <a:pt x="461073" y="144792"/>
                  </a:lnTo>
                  <a:lnTo>
                    <a:pt x="461073" y="240665"/>
                  </a:lnTo>
                  <a:lnTo>
                    <a:pt x="456590" y="285051"/>
                  </a:lnTo>
                  <a:lnTo>
                    <a:pt x="443738" y="326415"/>
                  </a:lnTo>
                  <a:lnTo>
                    <a:pt x="423392" y="363867"/>
                  </a:lnTo>
                  <a:lnTo>
                    <a:pt x="396468" y="396506"/>
                  </a:lnTo>
                  <a:lnTo>
                    <a:pt x="363842" y="423443"/>
                  </a:lnTo>
                  <a:lnTo>
                    <a:pt x="326402" y="443801"/>
                  </a:lnTo>
                  <a:lnTo>
                    <a:pt x="285038" y="456666"/>
                  </a:lnTo>
                  <a:lnTo>
                    <a:pt x="240652" y="461149"/>
                  </a:lnTo>
                  <a:lnTo>
                    <a:pt x="196265" y="456666"/>
                  </a:lnTo>
                  <a:lnTo>
                    <a:pt x="154901" y="443801"/>
                  </a:lnTo>
                  <a:lnTo>
                    <a:pt x="117449" y="423443"/>
                  </a:lnTo>
                  <a:lnTo>
                    <a:pt x="84810" y="396506"/>
                  </a:lnTo>
                  <a:lnTo>
                    <a:pt x="57873" y="363867"/>
                  </a:lnTo>
                  <a:lnTo>
                    <a:pt x="37515" y="326415"/>
                  </a:lnTo>
                  <a:lnTo>
                    <a:pt x="24650" y="285051"/>
                  </a:lnTo>
                  <a:lnTo>
                    <a:pt x="20167" y="240665"/>
                  </a:lnTo>
                  <a:lnTo>
                    <a:pt x="24650" y="196265"/>
                  </a:lnTo>
                  <a:lnTo>
                    <a:pt x="37515" y="154901"/>
                  </a:lnTo>
                  <a:lnTo>
                    <a:pt x="57873" y="117449"/>
                  </a:lnTo>
                  <a:lnTo>
                    <a:pt x="84810" y="84810"/>
                  </a:lnTo>
                  <a:lnTo>
                    <a:pt x="117449" y="57873"/>
                  </a:lnTo>
                  <a:lnTo>
                    <a:pt x="154901" y="37515"/>
                  </a:lnTo>
                  <a:lnTo>
                    <a:pt x="196265" y="24663"/>
                  </a:lnTo>
                  <a:lnTo>
                    <a:pt x="240652" y="20167"/>
                  </a:lnTo>
                  <a:lnTo>
                    <a:pt x="285026" y="24663"/>
                  </a:lnTo>
                  <a:lnTo>
                    <a:pt x="326364" y="37515"/>
                  </a:lnTo>
                  <a:lnTo>
                    <a:pt x="363804" y="57873"/>
                  </a:lnTo>
                  <a:lnTo>
                    <a:pt x="396443" y="84810"/>
                  </a:lnTo>
                  <a:lnTo>
                    <a:pt x="423379" y="117449"/>
                  </a:lnTo>
                  <a:lnTo>
                    <a:pt x="443725" y="154901"/>
                  </a:lnTo>
                  <a:lnTo>
                    <a:pt x="456590" y="196265"/>
                  </a:lnTo>
                  <a:lnTo>
                    <a:pt x="461073" y="240665"/>
                  </a:lnTo>
                  <a:lnTo>
                    <a:pt x="461073" y="144792"/>
                  </a:lnTo>
                  <a:lnTo>
                    <a:pt x="440105" y="106197"/>
                  </a:lnTo>
                  <a:lnTo>
                    <a:pt x="410705" y="70573"/>
                  </a:lnTo>
                  <a:lnTo>
                    <a:pt x="375094" y="41160"/>
                  </a:lnTo>
                  <a:lnTo>
                    <a:pt x="336486" y="20167"/>
                  </a:lnTo>
                  <a:lnTo>
                    <a:pt x="289090" y="4902"/>
                  </a:lnTo>
                  <a:lnTo>
                    <a:pt x="240652" y="0"/>
                  </a:lnTo>
                  <a:lnTo>
                    <a:pt x="192239" y="4902"/>
                  </a:lnTo>
                  <a:lnTo>
                    <a:pt x="147104" y="18948"/>
                  </a:lnTo>
                  <a:lnTo>
                    <a:pt x="106235" y="41160"/>
                  </a:lnTo>
                  <a:lnTo>
                    <a:pt x="70599" y="70573"/>
                  </a:lnTo>
                  <a:lnTo>
                    <a:pt x="41186" y="106197"/>
                  </a:lnTo>
                  <a:lnTo>
                    <a:pt x="18961" y="147078"/>
                  </a:lnTo>
                  <a:lnTo>
                    <a:pt x="4902" y="192214"/>
                  </a:lnTo>
                  <a:lnTo>
                    <a:pt x="0" y="240665"/>
                  </a:lnTo>
                  <a:lnTo>
                    <a:pt x="4902" y="289077"/>
                  </a:lnTo>
                  <a:lnTo>
                    <a:pt x="18948" y="334200"/>
                  </a:lnTo>
                  <a:lnTo>
                    <a:pt x="41160" y="375069"/>
                  </a:lnTo>
                  <a:lnTo>
                    <a:pt x="70561" y="410692"/>
                  </a:lnTo>
                  <a:lnTo>
                    <a:pt x="106197" y="440093"/>
                  </a:lnTo>
                  <a:lnTo>
                    <a:pt x="147066" y="462305"/>
                  </a:lnTo>
                  <a:lnTo>
                    <a:pt x="192214" y="476351"/>
                  </a:lnTo>
                  <a:lnTo>
                    <a:pt x="240665" y="481253"/>
                  </a:lnTo>
                  <a:lnTo>
                    <a:pt x="241312" y="481253"/>
                  </a:lnTo>
                  <a:lnTo>
                    <a:pt x="289737" y="476351"/>
                  </a:lnTo>
                  <a:lnTo>
                    <a:pt x="289293" y="476351"/>
                  </a:lnTo>
                  <a:lnTo>
                    <a:pt x="334327" y="462305"/>
                  </a:lnTo>
                  <a:lnTo>
                    <a:pt x="336448" y="461149"/>
                  </a:lnTo>
                  <a:lnTo>
                    <a:pt x="375145" y="440093"/>
                  </a:lnTo>
                  <a:lnTo>
                    <a:pt x="410730" y="410692"/>
                  </a:lnTo>
                  <a:lnTo>
                    <a:pt x="440118" y="375069"/>
                  </a:lnTo>
                  <a:lnTo>
                    <a:pt x="462318" y="334200"/>
                  </a:lnTo>
                  <a:lnTo>
                    <a:pt x="476351" y="289077"/>
                  </a:lnTo>
                  <a:lnTo>
                    <a:pt x="481241" y="2406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7014140" y="5363725"/>
            <a:ext cx="245110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400" spc="-125">
                <a:solidFill>
                  <a:srgbClr val="FFFFFF"/>
                </a:solidFill>
                <a:latin typeface="Verdana"/>
                <a:cs typeface="Verdana"/>
              </a:rPr>
              <a:t>Sync</a:t>
            </a:r>
            <a:r>
              <a:rPr dirty="0" sz="2400" spc="-4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Verdana"/>
                <a:cs typeface="Verdana"/>
              </a:rPr>
              <a:t>&amp;</a:t>
            </a:r>
            <a:r>
              <a:rPr dirty="0" sz="2400" spc="-3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165">
                <a:solidFill>
                  <a:srgbClr val="FFFFFF"/>
                </a:solidFill>
                <a:latin typeface="Verdana"/>
                <a:cs typeface="Verdana"/>
              </a:rPr>
              <a:t>Encryption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28700" y="4853387"/>
            <a:ext cx="5177155" cy="3723004"/>
          </a:xfrm>
          <a:prstGeom prst="rect">
            <a:avLst/>
          </a:prstGeom>
        </p:spPr>
        <p:txBody>
          <a:bodyPr wrap="square" lIns="0" tIns="1720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5"/>
              </a:spcBef>
            </a:pPr>
            <a:endParaRPr sz="2400">
              <a:latin typeface="Times New Roman"/>
              <a:cs typeface="Times New Roman"/>
            </a:endParaRPr>
          </a:p>
          <a:p>
            <a:pPr marL="460375">
              <a:lnSpc>
                <a:spcPct val="100000"/>
              </a:lnSpc>
            </a:pPr>
            <a:r>
              <a:rPr dirty="0" sz="2400" spc="-110">
                <a:solidFill>
                  <a:srgbClr val="F99C00"/>
                </a:solidFill>
                <a:latin typeface="Verdana"/>
                <a:cs typeface="Verdana"/>
              </a:rPr>
              <a:t>File</a:t>
            </a:r>
            <a:r>
              <a:rPr dirty="0" sz="2400" spc="-395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400" spc="-55">
                <a:solidFill>
                  <a:srgbClr val="F99C00"/>
                </a:solidFill>
                <a:latin typeface="Verdana"/>
                <a:cs typeface="Verdana"/>
              </a:rPr>
              <a:t>Management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2400">
              <a:latin typeface="Verdana"/>
              <a:cs typeface="Verdana"/>
            </a:endParaRPr>
          </a:p>
          <a:p>
            <a:pPr algn="just" marL="460375" marR="438150">
              <a:lnSpc>
                <a:spcPct val="117600"/>
              </a:lnSpc>
            </a:pPr>
            <a:r>
              <a:rPr dirty="0" sz="1700" spc="-95">
                <a:solidFill>
                  <a:srgbClr val="FFFFFF"/>
                </a:solidFill>
                <a:latin typeface="Verdana"/>
                <a:cs typeface="Verdana"/>
              </a:rPr>
              <a:t>Secure</a:t>
            </a:r>
            <a:r>
              <a:rPr dirty="0" sz="17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30">
                <a:solidFill>
                  <a:srgbClr val="FFFFFF"/>
                </a:solidFill>
                <a:latin typeface="Verdana"/>
                <a:cs typeface="Verdana"/>
              </a:rPr>
              <a:t>file</a:t>
            </a:r>
            <a:r>
              <a:rPr dirty="0" sz="170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14">
                <a:solidFill>
                  <a:srgbClr val="FFFFFF"/>
                </a:solidFill>
                <a:latin typeface="Verdana"/>
                <a:cs typeface="Verdana"/>
              </a:rPr>
              <a:t>upload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8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700" spc="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5">
                <a:solidFill>
                  <a:srgbClr val="FFFFFF"/>
                </a:solidFill>
                <a:latin typeface="Verdana"/>
                <a:cs typeface="Verdana"/>
              </a:rPr>
              <a:t>download</a:t>
            </a:r>
            <a:r>
              <a:rPr dirty="0" sz="1700" spc="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250">
                <a:solidFill>
                  <a:srgbClr val="FFFFFF"/>
                </a:solidFill>
                <a:latin typeface="Verdana"/>
                <a:cs typeface="Verdana"/>
              </a:rPr>
              <a:t>via</a:t>
            </a:r>
            <a:r>
              <a:rPr dirty="0" sz="1700" spc="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50">
                <a:solidFill>
                  <a:srgbClr val="FFFFFF"/>
                </a:solidFill>
                <a:latin typeface="Verdana"/>
                <a:cs typeface="Verdana"/>
              </a:rPr>
              <a:t>HTTPS. </a:t>
            </a:r>
            <a:r>
              <a:rPr dirty="0" sz="1700" spc="-80">
                <a:solidFill>
                  <a:srgbClr val="FFFFFF"/>
                </a:solidFill>
                <a:latin typeface="Verdana"/>
                <a:cs typeface="Verdana"/>
              </a:rPr>
              <a:t>Automatic</a:t>
            </a:r>
            <a:r>
              <a:rPr dirty="0" sz="17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file</a:t>
            </a:r>
            <a:r>
              <a:rPr dirty="0" sz="1700" spc="-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95">
                <a:solidFill>
                  <a:srgbClr val="FFFFFF"/>
                </a:solidFill>
                <a:latin typeface="Verdana"/>
                <a:cs typeface="Verdana"/>
              </a:rPr>
              <a:t>versioning</a:t>
            </a:r>
            <a:r>
              <a:rPr dirty="0" sz="17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40">
                <a:solidFill>
                  <a:srgbClr val="FFFFFF"/>
                </a:solidFill>
                <a:latin typeface="Verdana"/>
                <a:cs typeface="Verdana"/>
              </a:rPr>
              <a:t>ensures</a:t>
            </a:r>
            <a:r>
              <a:rPr dirty="0" sz="17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75">
                <a:solidFill>
                  <a:srgbClr val="FFFFFF"/>
                </a:solidFill>
                <a:latin typeface="Verdana"/>
                <a:cs typeface="Verdana"/>
              </a:rPr>
              <a:t>previous </a:t>
            </a:r>
            <a:r>
              <a:rPr dirty="0" sz="1700" spc="-70">
                <a:solidFill>
                  <a:srgbClr val="FFFFFF"/>
                </a:solidFill>
                <a:latin typeface="Verdana"/>
                <a:cs typeface="Verdana"/>
              </a:rPr>
              <a:t>versions</a:t>
            </a:r>
            <a:r>
              <a:rPr dirty="0" sz="17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dirty="0" sz="1700" spc="-45">
                <a:solidFill>
                  <a:srgbClr val="FFFFFF"/>
                </a:solidFill>
                <a:latin typeface="Verdana"/>
                <a:cs typeface="Verdana"/>
              </a:rPr>
              <a:t> always </a:t>
            </a:r>
            <a:r>
              <a:rPr dirty="0" sz="1700" spc="-90">
                <a:solidFill>
                  <a:srgbClr val="FFFFFF"/>
                </a:solidFill>
                <a:latin typeface="Verdana"/>
                <a:cs typeface="Verdana"/>
              </a:rPr>
              <a:t>recoverable.</a:t>
            </a:r>
            <a:r>
              <a:rPr dirty="0" sz="17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Files</a:t>
            </a:r>
            <a:r>
              <a:rPr dirty="0" sz="17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FFFFFF"/>
                </a:solidFill>
                <a:latin typeface="Verdana"/>
                <a:cs typeface="Verdana"/>
              </a:rPr>
              <a:t>are </a:t>
            </a:r>
            <a:r>
              <a:rPr dirty="0" sz="1700" spc="-105">
                <a:solidFill>
                  <a:srgbClr val="FFFFFF"/>
                </a:solidFill>
                <a:latin typeface="Verdana"/>
                <a:cs typeface="Verdana"/>
              </a:rPr>
              <a:t>organized</a:t>
            </a:r>
            <a:r>
              <a:rPr dirty="0" sz="1700" spc="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2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700" spc="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30">
                <a:solidFill>
                  <a:srgbClr val="FFFFFF"/>
                </a:solidFill>
                <a:latin typeface="Verdana"/>
                <a:cs typeface="Verdana"/>
              </a:rPr>
              <a:t>retrievable</a:t>
            </a:r>
            <a:r>
              <a:rPr dirty="0" sz="1700" spc="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40">
                <a:solidFill>
                  <a:srgbClr val="FFFFFF"/>
                </a:solidFill>
                <a:latin typeface="Verdana"/>
                <a:cs typeface="Verdana"/>
              </a:rPr>
              <a:t>instantly</a:t>
            </a:r>
            <a:r>
              <a:rPr dirty="0" sz="1700" spc="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35">
                <a:solidFill>
                  <a:srgbClr val="FFFFFF"/>
                </a:solidFill>
                <a:latin typeface="Verdana"/>
                <a:cs typeface="Verdana"/>
              </a:rPr>
              <a:t>from</a:t>
            </a:r>
            <a:r>
              <a:rPr dirty="0" sz="1700" spc="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35">
                <a:solidFill>
                  <a:srgbClr val="FFFFFF"/>
                </a:solidFill>
                <a:latin typeface="Verdana"/>
                <a:cs typeface="Verdana"/>
              </a:rPr>
              <a:t>any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device.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14140" y="6186377"/>
            <a:ext cx="4283710" cy="1549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R="5080">
              <a:lnSpc>
                <a:spcPct val="117600"/>
              </a:lnSpc>
              <a:spcBef>
                <a:spcPts val="95"/>
              </a:spcBef>
            </a:pPr>
            <a:r>
              <a:rPr dirty="0" sz="1700" spc="-140">
                <a:solidFill>
                  <a:srgbClr val="FFFFFF"/>
                </a:solidFill>
                <a:latin typeface="Verdana"/>
                <a:cs typeface="Verdana"/>
              </a:rPr>
              <a:t>Real-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time</a:t>
            </a:r>
            <a:r>
              <a:rPr dirty="0" sz="1700" spc="27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synchronization</a:t>
            </a:r>
            <a:r>
              <a:rPr dirty="0" sz="1700" spc="27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across</a:t>
            </a:r>
            <a:r>
              <a:rPr dirty="0" sz="1700" spc="27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700" spc="-25">
                <a:solidFill>
                  <a:srgbClr val="FFFFFF"/>
                </a:solidFill>
                <a:latin typeface="Verdana"/>
                <a:cs typeface="Verdana"/>
              </a:rPr>
              <a:t>all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connected</a:t>
            </a:r>
            <a:r>
              <a:rPr dirty="0" sz="1700" spc="3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devices.</a:t>
            </a:r>
            <a:r>
              <a:rPr dirty="0" sz="1700" spc="3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45">
                <a:solidFill>
                  <a:srgbClr val="FFFFFF"/>
                </a:solidFill>
                <a:latin typeface="Verdana"/>
                <a:cs typeface="Verdana"/>
              </a:rPr>
              <a:t>AES-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256</a:t>
            </a:r>
            <a:r>
              <a:rPr dirty="0" sz="1700" spc="3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85">
                <a:solidFill>
                  <a:srgbClr val="FFFFFF"/>
                </a:solidFill>
                <a:latin typeface="Verdana"/>
                <a:cs typeface="Verdana"/>
              </a:rPr>
              <a:t>encryption </a:t>
            </a:r>
            <a:r>
              <a:rPr dirty="0" sz="1700" spc="-30">
                <a:solidFill>
                  <a:srgbClr val="FFFFFF"/>
                </a:solidFill>
                <a:latin typeface="Verdana"/>
                <a:cs typeface="Verdana"/>
              </a:rPr>
              <a:t>protects</a:t>
            </a:r>
            <a:r>
              <a:rPr dirty="0" sz="170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dirty="0" sz="17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at</a:t>
            </a:r>
            <a:r>
              <a:rPr dirty="0" sz="17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rest</a:t>
            </a:r>
            <a:r>
              <a:rPr dirty="0" sz="17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7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dirty="0" sz="17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20">
                <a:solidFill>
                  <a:srgbClr val="FFFFFF"/>
                </a:solidFill>
                <a:latin typeface="Verdana"/>
                <a:cs typeface="Verdana"/>
              </a:rPr>
              <a:t>transit.</a:t>
            </a:r>
            <a:r>
              <a:rPr dirty="0" sz="170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95">
                <a:solidFill>
                  <a:srgbClr val="FFFFFF"/>
                </a:solidFill>
                <a:latin typeface="Verdana"/>
                <a:cs typeface="Verdana"/>
              </a:rPr>
              <a:t>Multi-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factor</a:t>
            </a:r>
            <a:r>
              <a:rPr dirty="0" sz="1700" spc="45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authentication</a:t>
            </a:r>
            <a:r>
              <a:rPr dirty="0" sz="1700" spc="45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ensures</a:t>
            </a:r>
            <a:r>
              <a:rPr dirty="0" sz="1700" spc="45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700" spc="-45">
                <a:solidFill>
                  <a:srgbClr val="FFFFFF"/>
                </a:solidFill>
                <a:latin typeface="Verdana"/>
                <a:cs typeface="Verdana"/>
              </a:rPr>
              <a:t>only </a:t>
            </a:r>
            <a:r>
              <a:rPr dirty="0" sz="1700" spc="-114">
                <a:solidFill>
                  <a:srgbClr val="FFFFFF"/>
                </a:solidFill>
                <a:latin typeface="Verdana"/>
                <a:cs typeface="Verdana"/>
              </a:rPr>
              <a:t>authorized</a:t>
            </a:r>
            <a:r>
              <a:rPr dirty="0" sz="17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70">
                <a:solidFill>
                  <a:srgbClr val="FFFFFF"/>
                </a:solidFill>
                <a:latin typeface="Verdana"/>
                <a:cs typeface="Verdana"/>
              </a:rPr>
              <a:t>users</a:t>
            </a:r>
            <a:r>
              <a:rPr dirty="0" sz="17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14">
                <a:solidFill>
                  <a:srgbClr val="FFFFFF"/>
                </a:solidFill>
                <a:latin typeface="Verdana"/>
                <a:cs typeface="Verdana"/>
              </a:rPr>
              <a:t>gain</a:t>
            </a:r>
            <a:r>
              <a:rPr dirty="0" sz="17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access.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078282" y="4853387"/>
            <a:ext cx="5180965" cy="3723004"/>
          </a:xfrm>
          <a:prstGeom prst="rect">
            <a:avLst/>
          </a:prstGeom>
          <a:ln w="38099">
            <a:solidFill>
              <a:srgbClr val="202A20"/>
            </a:solidFill>
          </a:ln>
        </p:spPr>
        <p:txBody>
          <a:bodyPr wrap="square" lIns="0" tIns="342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endParaRPr sz="2400">
              <a:latin typeface="Times New Roman"/>
              <a:cs typeface="Times New Roman"/>
            </a:endParaRPr>
          </a:p>
          <a:p>
            <a:pPr marL="460375">
              <a:lnSpc>
                <a:spcPct val="100000"/>
              </a:lnSpc>
            </a:pPr>
            <a:r>
              <a:rPr dirty="0" sz="2400" spc="-105">
                <a:solidFill>
                  <a:srgbClr val="202A20"/>
                </a:solidFill>
                <a:latin typeface="Verdana"/>
                <a:cs typeface="Verdana"/>
              </a:rPr>
              <a:t>Scalable</a:t>
            </a:r>
            <a:r>
              <a:rPr dirty="0" sz="2400" spc="-35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2400" spc="-10">
                <a:solidFill>
                  <a:srgbClr val="202A20"/>
                </a:solidFill>
                <a:latin typeface="Verdana"/>
                <a:cs typeface="Verdana"/>
              </a:rPr>
              <a:t>Storage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760"/>
              </a:spcBef>
            </a:pPr>
            <a:endParaRPr sz="2400">
              <a:latin typeface="Verdana"/>
              <a:cs typeface="Verdana"/>
            </a:endParaRPr>
          </a:p>
          <a:p>
            <a:pPr algn="just" marL="460375" marR="441959">
              <a:lnSpc>
                <a:spcPct val="117600"/>
              </a:lnSpc>
            </a:pPr>
            <a:r>
              <a:rPr dirty="0" sz="1700" spc="-25">
                <a:solidFill>
                  <a:srgbClr val="202A20"/>
                </a:solidFill>
                <a:latin typeface="Verdana"/>
                <a:cs typeface="Verdana"/>
              </a:rPr>
              <a:t>Dynamically</a:t>
            </a:r>
            <a:r>
              <a:rPr dirty="0" sz="1700" spc="29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202A20"/>
                </a:solidFill>
                <a:latin typeface="Verdana"/>
                <a:cs typeface="Verdana"/>
              </a:rPr>
              <a:t>scale</a:t>
            </a:r>
            <a:r>
              <a:rPr dirty="0" sz="1700" spc="30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202A20"/>
                </a:solidFill>
                <a:latin typeface="Verdana"/>
                <a:cs typeface="Verdana"/>
              </a:rPr>
              <a:t>storage</a:t>
            </a:r>
            <a:r>
              <a:rPr dirty="0" sz="1700" spc="30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202A20"/>
                </a:solidFill>
                <a:latin typeface="Verdana"/>
                <a:cs typeface="Verdana"/>
              </a:rPr>
              <a:t>capacity</a:t>
            </a:r>
            <a:r>
              <a:rPr dirty="0" sz="1700" spc="29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202A20"/>
                </a:solidFill>
                <a:latin typeface="Verdana"/>
                <a:cs typeface="Verdana"/>
              </a:rPr>
              <a:t>on </a:t>
            </a:r>
            <a:r>
              <a:rPr dirty="0" sz="1700" spc="-114">
                <a:solidFill>
                  <a:srgbClr val="202A20"/>
                </a:solidFill>
                <a:latin typeface="Verdana"/>
                <a:cs typeface="Verdana"/>
              </a:rPr>
              <a:t>demand</a:t>
            </a:r>
            <a:r>
              <a:rPr dirty="0" sz="1700" spc="-3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150">
                <a:solidFill>
                  <a:srgbClr val="202A20"/>
                </a:solidFill>
                <a:latin typeface="Verdana"/>
                <a:cs typeface="Verdana"/>
              </a:rPr>
              <a:t>with</a:t>
            </a:r>
            <a:r>
              <a:rPr dirty="0" sz="170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110">
                <a:solidFill>
                  <a:srgbClr val="202A20"/>
                </a:solidFill>
                <a:latin typeface="Verdana"/>
                <a:cs typeface="Verdana"/>
              </a:rPr>
              <a:t>Amazon</a:t>
            </a:r>
            <a:r>
              <a:rPr dirty="0" sz="1700" spc="-2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145">
                <a:solidFill>
                  <a:srgbClr val="202A20"/>
                </a:solidFill>
                <a:latin typeface="Verdana"/>
                <a:cs typeface="Verdana"/>
              </a:rPr>
              <a:t>S3.</a:t>
            </a:r>
            <a:r>
              <a:rPr dirty="0" sz="1700" spc="-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60">
                <a:solidFill>
                  <a:srgbClr val="202A20"/>
                </a:solidFill>
                <a:latin typeface="Verdana"/>
                <a:cs typeface="Verdana"/>
              </a:rPr>
              <a:t>Lifecycle</a:t>
            </a:r>
            <a:r>
              <a:rPr dirty="0" sz="1700" spc="-1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202A20"/>
                </a:solidFill>
                <a:latin typeface="Verdana"/>
                <a:cs typeface="Verdana"/>
              </a:rPr>
              <a:t>policies </a:t>
            </a:r>
            <a:r>
              <a:rPr dirty="0" sz="1700">
                <a:solidFill>
                  <a:srgbClr val="202A20"/>
                </a:solidFill>
                <a:latin typeface="Verdana"/>
                <a:cs typeface="Verdana"/>
              </a:rPr>
              <a:t>automate</a:t>
            </a:r>
            <a:r>
              <a:rPr dirty="0" sz="1700" spc="434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202A20"/>
                </a:solidFill>
                <a:latin typeface="Verdana"/>
                <a:cs typeface="Verdana"/>
              </a:rPr>
              <a:t>archival</a:t>
            </a:r>
            <a:r>
              <a:rPr dirty="0" sz="1700" spc="434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202A20"/>
                </a:solidFill>
                <a:latin typeface="Verdana"/>
                <a:cs typeface="Verdana"/>
              </a:rPr>
              <a:t>to</a:t>
            </a:r>
            <a:r>
              <a:rPr dirty="0" sz="1700" spc="434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202A20"/>
                </a:solidFill>
                <a:latin typeface="Verdana"/>
                <a:cs typeface="Verdana"/>
              </a:rPr>
              <a:t>Glacier</a:t>
            </a:r>
            <a:r>
              <a:rPr dirty="0" sz="1700" spc="434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202A20"/>
                </a:solidFill>
                <a:latin typeface="Verdana"/>
                <a:cs typeface="Verdana"/>
              </a:rPr>
              <a:t>for</a:t>
            </a:r>
            <a:r>
              <a:rPr dirty="0" sz="1700" spc="434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202A20"/>
                </a:solidFill>
                <a:latin typeface="Verdana"/>
                <a:cs typeface="Verdana"/>
              </a:rPr>
              <a:t>cost </a:t>
            </a:r>
            <a:r>
              <a:rPr dirty="0" sz="1700" spc="-100">
                <a:solidFill>
                  <a:srgbClr val="202A20"/>
                </a:solidFill>
                <a:latin typeface="Verdana"/>
                <a:cs typeface="Verdana"/>
              </a:rPr>
              <a:t>efficiency.</a:t>
            </a:r>
            <a:r>
              <a:rPr dirty="0" sz="1700" spc="-3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100">
                <a:solidFill>
                  <a:srgbClr val="202A20"/>
                </a:solidFill>
                <a:latin typeface="Verdana"/>
                <a:cs typeface="Verdana"/>
              </a:rPr>
              <a:t>Pay</a:t>
            </a:r>
            <a:r>
              <a:rPr dirty="0" sz="1700" spc="-2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100">
                <a:solidFill>
                  <a:srgbClr val="202A20"/>
                </a:solidFill>
                <a:latin typeface="Verdana"/>
                <a:cs typeface="Verdana"/>
              </a:rPr>
              <a:t>only</a:t>
            </a:r>
            <a:r>
              <a:rPr dirty="0" sz="1700" spc="-2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110">
                <a:solidFill>
                  <a:srgbClr val="202A20"/>
                </a:solidFill>
                <a:latin typeface="Verdana"/>
                <a:cs typeface="Verdana"/>
              </a:rPr>
              <a:t>for</a:t>
            </a:r>
            <a:r>
              <a:rPr dirty="0" sz="1700" spc="-2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110">
                <a:solidFill>
                  <a:srgbClr val="202A20"/>
                </a:solidFill>
                <a:latin typeface="Verdana"/>
                <a:cs typeface="Verdana"/>
              </a:rPr>
              <a:t>the</a:t>
            </a:r>
            <a:r>
              <a:rPr dirty="0" sz="1700" spc="-2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90">
                <a:solidFill>
                  <a:srgbClr val="202A20"/>
                </a:solidFill>
                <a:latin typeface="Verdana"/>
                <a:cs typeface="Verdana"/>
              </a:rPr>
              <a:t>storage</a:t>
            </a:r>
            <a:r>
              <a:rPr dirty="0" sz="1700" spc="-2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110">
                <a:solidFill>
                  <a:srgbClr val="202A20"/>
                </a:solidFill>
                <a:latin typeface="Verdana"/>
                <a:cs typeface="Verdana"/>
              </a:rPr>
              <a:t>you</a:t>
            </a:r>
            <a:r>
              <a:rPr dirty="0" sz="1700" spc="-25">
                <a:solidFill>
                  <a:srgbClr val="202A20"/>
                </a:solidFill>
                <a:latin typeface="Verdana"/>
                <a:cs typeface="Verdana"/>
              </a:rPr>
              <a:t> use </a:t>
            </a:r>
            <a:r>
              <a:rPr dirty="0" sz="1700" spc="-120">
                <a:solidFill>
                  <a:srgbClr val="202A20"/>
                </a:solidFill>
                <a:latin typeface="Verdana"/>
                <a:cs typeface="Verdana"/>
              </a:rPr>
              <a:t>with</a:t>
            </a:r>
            <a:r>
              <a:rPr dirty="0" sz="1700" spc="-26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65">
                <a:solidFill>
                  <a:srgbClr val="202A20"/>
                </a:solidFill>
                <a:latin typeface="Verdana"/>
                <a:cs typeface="Verdana"/>
              </a:rPr>
              <a:t>no</a:t>
            </a:r>
            <a:r>
              <a:rPr dirty="0" sz="1700" spc="-26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130">
                <a:solidFill>
                  <a:srgbClr val="202A20"/>
                </a:solidFill>
                <a:latin typeface="Verdana"/>
                <a:cs typeface="Verdana"/>
              </a:rPr>
              <a:t>upfront</a:t>
            </a:r>
            <a:r>
              <a:rPr dirty="0" sz="1700" spc="-26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700" spc="-35">
                <a:solidFill>
                  <a:srgbClr val="202A20"/>
                </a:solidFill>
                <a:latin typeface="Verdana"/>
                <a:cs typeface="Verdana"/>
              </a:rPr>
              <a:t>commitment.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7747510" y="0"/>
            <a:ext cx="541020" cy="10287000"/>
          </a:xfrm>
          <a:custGeom>
            <a:avLst/>
            <a:gdLst/>
            <a:ahLst/>
            <a:cxnLst/>
            <a:rect l="l" t="t" r="r" b="b"/>
            <a:pathLst>
              <a:path w="541019" h="10287000">
                <a:moveTo>
                  <a:pt x="54048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540488" y="0"/>
                </a:lnTo>
                <a:lnTo>
                  <a:pt x="540488" y="10286999"/>
                </a:lnTo>
                <a:close/>
              </a:path>
            </a:pathLst>
          </a:custGeom>
          <a:solidFill>
            <a:srgbClr val="202A2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D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097" y="931232"/>
            <a:ext cx="371474" cy="4952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957679" y="1191822"/>
            <a:ext cx="3872229" cy="0"/>
          </a:xfrm>
          <a:custGeom>
            <a:avLst/>
            <a:gdLst/>
            <a:ahLst/>
            <a:cxnLst/>
            <a:rect l="l" t="t" r="r" b="b"/>
            <a:pathLst>
              <a:path w="3872229" h="0">
                <a:moveTo>
                  <a:pt x="0" y="0"/>
                </a:moveTo>
                <a:lnTo>
                  <a:pt x="3872037" y="0"/>
                </a:lnTo>
              </a:path>
            </a:pathLst>
          </a:custGeom>
          <a:ln w="19049">
            <a:solidFill>
              <a:srgbClr val="F99C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06085" y="8734267"/>
            <a:ext cx="666749" cy="6667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33846" y="1026235"/>
            <a:ext cx="150177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75">
                <a:latin typeface="Verdana"/>
                <a:cs typeface="Verdana"/>
              </a:rPr>
              <a:t>AWS</a:t>
            </a:r>
            <a:r>
              <a:rPr dirty="0" sz="1550" spc="-240">
                <a:latin typeface="Verdana"/>
                <a:cs typeface="Verdana"/>
              </a:rPr>
              <a:t> </a:t>
            </a:r>
            <a:r>
              <a:rPr dirty="0" sz="1550" spc="-75">
                <a:latin typeface="Verdana"/>
                <a:cs typeface="Verdana"/>
              </a:rPr>
              <a:t>Cloud</a:t>
            </a:r>
            <a:r>
              <a:rPr dirty="0" sz="1550" spc="-240">
                <a:latin typeface="Verdana"/>
                <a:cs typeface="Verdana"/>
              </a:rPr>
              <a:t> </a:t>
            </a:r>
            <a:r>
              <a:rPr dirty="0" sz="1550" spc="-110">
                <a:latin typeface="Verdana"/>
                <a:cs typeface="Verdana"/>
              </a:rPr>
              <a:t>Drive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87316" y="1026235"/>
            <a:ext cx="111252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00">
                <a:latin typeface="Verdana"/>
                <a:cs typeface="Verdana"/>
              </a:rPr>
              <a:t>Presentation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529099" y="1026235"/>
            <a:ext cx="74295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60">
                <a:solidFill>
                  <a:srgbClr val="F99C00"/>
                </a:solidFill>
                <a:latin typeface="Verdana"/>
                <a:cs typeface="Verdana"/>
              </a:rPr>
              <a:t>Page</a:t>
            </a:r>
            <a:r>
              <a:rPr dirty="0" sz="1550" spc="-245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1550" spc="-55">
                <a:solidFill>
                  <a:srgbClr val="F99C00"/>
                </a:solidFill>
                <a:latin typeface="Verdana"/>
                <a:cs typeface="Verdana"/>
              </a:rPr>
              <a:t>07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6000" y="8980336"/>
            <a:ext cx="153606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14">
                <a:latin typeface="Verdana"/>
                <a:cs typeface="Verdana"/>
              </a:rPr>
              <a:t>aws.amazon.com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6000" y="1941496"/>
            <a:ext cx="5554980" cy="1953260"/>
          </a:xfrm>
          <a:prstGeom prst="rect">
            <a:avLst/>
          </a:prstGeom>
        </p:spPr>
        <p:txBody>
          <a:bodyPr wrap="square" lIns="0" tIns="187960" rIns="0" bIns="0" rtlCol="0" vert="horz">
            <a:spAutoFit/>
          </a:bodyPr>
          <a:lstStyle/>
          <a:p>
            <a:pPr marL="12700" marR="5080">
              <a:lnSpc>
                <a:spcPts val="6900"/>
              </a:lnSpc>
              <a:spcBef>
                <a:spcPts val="1480"/>
              </a:spcBef>
            </a:pPr>
            <a:r>
              <a:rPr dirty="0" sz="6900" spc="-390">
                <a:solidFill>
                  <a:srgbClr val="202A20"/>
                </a:solidFill>
                <a:latin typeface="Verdana"/>
                <a:cs typeface="Verdana"/>
              </a:rPr>
              <a:t>S</a:t>
            </a:r>
            <a:r>
              <a:rPr dirty="0" sz="6900" spc="-465">
                <a:solidFill>
                  <a:srgbClr val="202A20"/>
                </a:solidFill>
                <a:latin typeface="Verdana"/>
                <a:cs typeface="Verdana"/>
              </a:rPr>
              <a:t>E</a:t>
            </a:r>
            <a:r>
              <a:rPr dirty="0" sz="6900" spc="-365">
                <a:solidFill>
                  <a:srgbClr val="202A20"/>
                </a:solidFill>
                <a:latin typeface="Verdana"/>
                <a:cs typeface="Verdana"/>
              </a:rPr>
              <a:t>C</a:t>
            </a:r>
            <a:r>
              <a:rPr dirty="0" sz="6900" spc="-400">
                <a:solidFill>
                  <a:srgbClr val="202A20"/>
                </a:solidFill>
                <a:latin typeface="Verdana"/>
                <a:cs typeface="Verdana"/>
              </a:rPr>
              <a:t>U</a:t>
            </a:r>
            <a:r>
              <a:rPr dirty="0" sz="6900" spc="-405">
                <a:solidFill>
                  <a:srgbClr val="202A20"/>
                </a:solidFill>
                <a:latin typeface="Verdana"/>
                <a:cs typeface="Verdana"/>
              </a:rPr>
              <a:t>R</a:t>
            </a:r>
            <a:r>
              <a:rPr dirty="0" sz="6900" spc="-595">
                <a:solidFill>
                  <a:srgbClr val="202A20"/>
                </a:solidFill>
                <a:latin typeface="Verdana"/>
                <a:cs typeface="Verdana"/>
              </a:rPr>
              <a:t>I</a:t>
            </a:r>
            <a:r>
              <a:rPr dirty="0" sz="6900" spc="-385">
                <a:solidFill>
                  <a:srgbClr val="202A20"/>
                </a:solidFill>
                <a:latin typeface="Verdana"/>
                <a:cs typeface="Verdana"/>
              </a:rPr>
              <a:t>T</a:t>
            </a:r>
            <a:r>
              <a:rPr dirty="0" sz="6900" spc="-45">
                <a:solidFill>
                  <a:srgbClr val="202A20"/>
                </a:solidFill>
                <a:latin typeface="Verdana"/>
                <a:cs typeface="Verdana"/>
              </a:rPr>
              <a:t>Y</a:t>
            </a:r>
            <a:r>
              <a:rPr dirty="0" sz="6900" spc="-121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6900">
                <a:solidFill>
                  <a:srgbClr val="202A20"/>
                </a:solidFill>
                <a:latin typeface="Verdana"/>
                <a:cs typeface="Verdana"/>
              </a:rPr>
              <a:t>&amp; </a:t>
            </a:r>
            <a:r>
              <a:rPr dirty="0" sz="6900" spc="-280">
                <a:solidFill>
                  <a:srgbClr val="202A20"/>
                </a:solidFill>
                <a:latin typeface="Verdana"/>
                <a:cs typeface="Verdana"/>
              </a:rPr>
              <a:t>C</a:t>
            </a:r>
            <a:r>
              <a:rPr dirty="0" sz="6900" spc="-295">
                <a:solidFill>
                  <a:srgbClr val="202A20"/>
                </a:solidFill>
                <a:latin typeface="Verdana"/>
                <a:cs typeface="Verdana"/>
              </a:rPr>
              <a:t>O</a:t>
            </a:r>
            <a:r>
              <a:rPr dirty="0" sz="6900" spc="-280">
                <a:solidFill>
                  <a:srgbClr val="202A20"/>
                </a:solidFill>
                <a:latin typeface="Verdana"/>
                <a:cs typeface="Verdana"/>
              </a:rPr>
              <a:t>MP</a:t>
            </a:r>
            <a:r>
              <a:rPr dirty="0" sz="6900" spc="-320">
                <a:solidFill>
                  <a:srgbClr val="202A20"/>
                </a:solidFill>
                <a:latin typeface="Verdana"/>
                <a:cs typeface="Verdana"/>
              </a:rPr>
              <a:t>L</a:t>
            </a:r>
            <a:r>
              <a:rPr dirty="0" sz="6900" spc="-509">
                <a:solidFill>
                  <a:srgbClr val="202A20"/>
                </a:solidFill>
                <a:latin typeface="Verdana"/>
                <a:cs typeface="Verdana"/>
              </a:rPr>
              <a:t>I</a:t>
            </a:r>
            <a:r>
              <a:rPr dirty="0" sz="6900" spc="-300">
                <a:solidFill>
                  <a:srgbClr val="202A20"/>
                </a:solidFill>
                <a:latin typeface="Verdana"/>
                <a:cs typeface="Verdana"/>
              </a:rPr>
              <a:t>A</a:t>
            </a:r>
            <a:r>
              <a:rPr dirty="0" sz="6900" spc="-310">
                <a:solidFill>
                  <a:srgbClr val="202A20"/>
                </a:solidFill>
                <a:latin typeface="Verdana"/>
                <a:cs typeface="Verdana"/>
              </a:rPr>
              <a:t>N</a:t>
            </a:r>
            <a:r>
              <a:rPr dirty="0" sz="6900" spc="-280">
                <a:solidFill>
                  <a:srgbClr val="202A20"/>
                </a:solidFill>
                <a:latin typeface="Verdana"/>
                <a:cs typeface="Verdana"/>
              </a:rPr>
              <a:t>C</a:t>
            </a:r>
            <a:r>
              <a:rPr dirty="0" sz="6900" spc="40">
                <a:solidFill>
                  <a:srgbClr val="202A20"/>
                </a:solidFill>
                <a:latin typeface="Verdana"/>
                <a:cs typeface="Verdana"/>
              </a:rPr>
              <a:t>E</a:t>
            </a:r>
            <a:endParaRPr sz="6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6000" y="5633051"/>
            <a:ext cx="5071745" cy="1092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2900"/>
              </a:lnSpc>
              <a:spcBef>
                <a:spcPts val="100"/>
              </a:spcBef>
            </a:pPr>
            <a:r>
              <a:rPr dirty="0" sz="1550" spc="-145">
                <a:latin typeface="Verdana"/>
                <a:cs typeface="Verdana"/>
              </a:rPr>
              <a:t>AWS-</a:t>
            </a:r>
            <a:r>
              <a:rPr dirty="0" sz="1550" spc="-55">
                <a:latin typeface="Verdana"/>
                <a:cs typeface="Verdana"/>
              </a:rPr>
              <a:t>powered</a:t>
            </a:r>
            <a:r>
              <a:rPr dirty="0" sz="1550" spc="-80">
                <a:latin typeface="Verdana"/>
                <a:cs typeface="Verdana"/>
              </a:rPr>
              <a:t> </a:t>
            </a:r>
            <a:r>
              <a:rPr dirty="0" sz="1550" spc="-75">
                <a:latin typeface="Verdana"/>
                <a:cs typeface="Verdana"/>
              </a:rPr>
              <a:t>personal</a:t>
            </a:r>
            <a:r>
              <a:rPr dirty="0" sz="1550" spc="-55">
                <a:latin typeface="Verdana"/>
                <a:cs typeface="Verdana"/>
              </a:rPr>
              <a:t> </a:t>
            </a:r>
            <a:r>
              <a:rPr dirty="0" sz="1550" spc="-25">
                <a:latin typeface="Verdana"/>
                <a:cs typeface="Verdana"/>
              </a:rPr>
              <a:t>cloud</a:t>
            </a:r>
            <a:r>
              <a:rPr dirty="0" sz="1550" spc="-60">
                <a:latin typeface="Verdana"/>
                <a:cs typeface="Verdana"/>
              </a:rPr>
              <a:t> </a:t>
            </a:r>
            <a:r>
              <a:rPr dirty="0" sz="1550" spc="-100">
                <a:latin typeface="Verdana"/>
                <a:cs typeface="Verdana"/>
              </a:rPr>
              <a:t>drive</a:t>
            </a:r>
            <a:r>
              <a:rPr dirty="0" sz="1550" spc="-40">
                <a:latin typeface="Verdana"/>
                <a:cs typeface="Verdana"/>
              </a:rPr>
              <a:t> </a:t>
            </a:r>
            <a:r>
              <a:rPr dirty="0" sz="1550" spc="-55">
                <a:latin typeface="Verdana"/>
                <a:cs typeface="Verdana"/>
              </a:rPr>
              <a:t>enforces</a:t>
            </a:r>
            <a:r>
              <a:rPr dirty="0" sz="1550" spc="-60">
                <a:latin typeface="Verdana"/>
                <a:cs typeface="Verdana"/>
              </a:rPr>
              <a:t> </a:t>
            </a:r>
            <a:r>
              <a:rPr dirty="0" sz="1550" spc="-100">
                <a:latin typeface="Verdana"/>
                <a:cs typeface="Verdana"/>
              </a:rPr>
              <a:t>enterprise-</a:t>
            </a:r>
            <a:r>
              <a:rPr dirty="0" sz="1550" spc="-45">
                <a:latin typeface="Verdana"/>
                <a:cs typeface="Verdana"/>
              </a:rPr>
              <a:t>grade</a:t>
            </a:r>
            <a:r>
              <a:rPr dirty="0" sz="1550" spc="-90">
                <a:latin typeface="Verdana"/>
                <a:cs typeface="Verdana"/>
              </a:rPr>
              <a:t> </a:t>
            </a:r>
            <a:r>
              <a:rPr dirty="0" sz="1550" spc="-70">
                <a:latin typeface="Verdana"/>
                <a:cs typeface="Verdana"/>
              </a:rPr>
              <a:t>security</a:t>
            </a:r>
            <a:r>
              <a:rPr dirty="0" sz="1550" spc="-6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at</a:t>
            </a:r>
            <a:r>
              <a:rPr dirty="0" sz="1550" spc="-60">
                <a:latin typeface="Verdana"/>
                <a:cs typeface="Verdana"/>
              </a:rPr>
              <a:t> </a:t>
            </a:r>
            <a:r>
              <a:rPr dirty="0" sz="1550" spc="-75">
                <a:latin typeface="Verdana"/>
                <a:cs typeface="Verdana"/>
              </a:rPr>
              <a:t>every</a:t>
            </a:r>
            <a:r>
              <a:rPr dirty="0" sz="1550" spc="-60">
                <a:latin typeface="Verdana"/>
                <a:cs typeface="Verdana"/>
              </a:rPr>
              <a:t> </a:t>
            </a:r>
            <a:r>
              <a:rPr dirty="0" sz="1550" spc="-100">
                <a:latin typeface="Verdana"/>
                <a:cs typeface="Verdana"/>
              </a:rPr>
              <a:t>layer.</a:t>
            </a:r>
            <a:r>
              <a:rPr dirty="0" sz="1550" spc="-40">
                <a:latin typeface="Verdana"/>
                <a:cs typeface="Verdana"/>
              </a:rPr>
              <a:t> </a:t>
            </a:r>
            <a:r>
              <a:rPr dirty="0" sz="1550" spc="-45">
                <a:latin typeface="Verdana"/>
                <a:cs typeface="Verdana"/>
              </a:rPr>
              <a:t>IAM</a:t>
            </a:r>
            <a:r>
              <a:rPr dirty="0" sz="1550" spc="-60">
                <a:latin typeface="Verdana"/>
                <a:cs typeface="Verdana"/>
              </a:rPr>
              <a:t> </a:t>
            </a:r>
            <a:r>
              <a:rPr dirty="0" sz="1550" spc="-25">
                <a:latin typeface="Verdana"/>
                <a:cs typeface="Verdana"/>
              </a:rPr>
              <a:t>roles</a:t>
            </a:r>
            <a:r>
              <a:rPr dirty="0" sz="1550" spc="-60">
                <a:latin typeface="Verdana"/>
                <a:cs typeface="Verdana"/>
              </a:rPr>
              <a:t> </a:t>
            </a:r>
            <a:r>
              <a:rPr dirty="0" sz="1550" spc="-75">
                <a:latin typeface="Verdana"/>
                <a:cs typeface="Verdana"/>
              </a:rPr>
              <a:t>restrict</a:t>
            </a:r>
            <a:r>
              <a:rPr dirty="0" sz="1550" spc="-65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access </a:t>
            </a:r>
            <a:r>
              <a:rPr dirty="0" sz="1550" spc="-90">
                <a:latin typeface="Verdana"/>
                <a:cs typeface="Verdana"/>
              </a:rPr>
              <a:t>using</a:t>
            </a:r>
            <a:r>
              <a:rPr dirty="0" sz="1550" spc="-20">
                <a:latin typeface="Verdana"/>
                <a:cs typeface="Verdana"/>
              </a:rPr>
              <a:t> </a:t>
            </a:r>
            <a:r>
              <a:rPr dirty="0" sz="1550" spc="-130">
                <a:latin typeface="Verdana"/>
                <a:cs typeface="Verdana"/>
              </a:rPr>
              <a:t>least-</a:t>
            </a:r>
            <a:r>
              <a:rPr dirty="0" sz="1550" spc="-105">
                <a:latin typeface="Verdana"/>
                <a:cs typeface="Verdana"/>
              </a:rPr>
              <a:t>privilege</a:t>
            </a:r>
            <a:r>
              <a:rPr dirty="0" sz="1550" spc="-20">
                <a:latin typeface="Verdana"/>
                <a:cs typeface="Verdana"/>
              </a:rPr>
              <a:t> </a:t>
            </a:r>
            <a:r>
              <a:rPr dirty="0" sz="1550" spc="-65">
                <a:latin typeface="Verdana"/>
                <a:cs typeface="Verdana"/>
              </a:rPr>
              <a:t>policies,</a:t>
            </a:r>
            <a:r>
              <a:rPr dirty="0" sz="1550" spc="-20">
                <a:latin typeface="Verdana"/>
                <a:cs typeface="Verdana"/>
              </a:rPr>
              <a:t> </a:t>
            </a:r>
            <a:r>
              <a:rPr dirty="0" sz="1550" spc="-80">
                <a:latin typeface="Verdana"/>
                <a:cs typeface="Verdana"/>
              </a:rPr>
              <a:t>while</a:t>
            </a:r>
            <a:r>
              <a:rPr dirty="0" sz="1550" spc="-2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S3</a:t>
            </a:r>
            <a:r>
              <a:rPr dirty="0" sz="1550" spc="-20">
                <a:latin typeface="Verdana"/>
                <a:cs typeface="Verdana"/>
              </a:rPr>
              <a:t> </a:t>
            </a:r>
            <a:r>
              <a:rPr dirty="0" sz="1550" spc="-75">
                <a:latin typeface="Verdana"/>
                <a:cs typeface="Verdana"/>
              </a:rPr>
              <a:t>bucket</a:t>
            </a:r>
            <a:r>
              <a:rPr dirty="0" sz="1550" spc="-20">
                <a:latin typeface="Verdana"/>
                <a:cs typeface="Verdana"/>
              </a:rPr>
              <a:t> </a:t>
            </a:r>
            <a:r>
              <a:rPr dirty="0" sz="1550" spc="-90">
                <a:latin typeface="Verdana"/>
                <a:cs typeface="Verdana"/>
              </a:rPr>
              <a:t>encryption </a:t>
            </a:r>
            <a:r>
              <a:rPr dirty="0" sz="1550" spc="-120">
                <a:latin typeface="Verdana"/>
                <a:cs typeface="Verdana"/>
              </a:rPr>
              <a:t>with</a:t>
            </a:r>
            <a:r>
              <a:rPr dirty="0" sz="1550" spc="-114">
                <a:latin typeface="Verdana"/>
                <a:cs typeface="Verdana"/>
              </a:rPr>
              <a:t> </a:t>
            </a:r>
            <a:r>
              <a:rPr dirty="0" sz="1550" spc="-150">
                <a:latin typeface="Verdana"/>
                <a:cs typeface="Verdana"/>
              </a:rPr>
              <a:t>AES-</a:t>
            </a:r>
            <a:r>
              <a:rPr dirty="0" sz="1550" spc="-75">
                <a:latin typeface="Verdana"/>
                <a:cs typeface="Verdana"/>
              </a:rPr>
              <a:t>256</a:t>
            </a:r>
            <a:r>
              <a:rPr dirty="0" sz="1550" spc="-110">
                <a:latin typeface="Verdana"/>
                <a:cs typeface="Verdana"/>
              </a:rPr>
              <a:t> </a:t>
            </a:r>
            <a:r>
              <a:rPr dirty="0" sz="1550" spc="-95">
                <a:latin typeface="Verdana"/>
                <a:cs typeface="Verdana"/>
              </a:rPr>
              <a:t>ensures</a:t>
            </a:r>
            <a:r>
              <a:rPr dirty="0" sz="1550" spc="-110">
                <a:latin typeface="Verdana"/>
                <a:cs typeface="Verdana"/>
              </a:rPr>
              <a:t> </a:t>
            </a:r>
            <a:r>
              <a:rPr dirty="0" sz="1550" spc="-95">
                <a:latin typeface="Verdana"/>
                <a:cs typeface="Verdana"/>
              </a:rPr>
              <a:t>data</a:t>
            </a:r>
            <a:r>
              <a:rPr dirty="0" sz="1550" spc="-114">
                <a:latin typeface="Verdana"/>
                <a:cs typeface="Verdana"/>
              </a:rPr>
              <a:t> </a:t>
            </a:r>
            <a:r>
              <a:rPr dirty="0" sz="1550" spc="-65">
                <a:latin typeface="Verdana"/>
                <a:cs typeface="Verdana"/>
              </a:rPr>
              <a:t>is</a:t>
            </a:r>
            <a:r>
              <a:rPr dirty="0" sz="1550" spc="-110">
                <a:latin typeface="Verdana"/>
                <a:cs typeface="Verdana"/>
              </a:rPr>
              <a:t> </a:t>
            </a:r>
            <a:r>
              <a:rPr dirty="0" sz="1550" spc="-85">
                <a:latin typeface="Verdana"/>
                <a:cs typeface="Verdana"/>
              </a:rPr>
              <a:t>protected</a:t>
            </a:r>
            <a:r>
              <a:rPr dirty="0" sz="1550" spc="-110">
                <a:latin typeface="Verdana"/>
                <a:cs typeface="Verdana"/>
              </a:rPr>
              <a:t> </a:t>
            </a:r>
            <a:r>
              <a:rPr dirty="0" sz="1550" spc="-95">
                <a:latin typeface="Verdana"/>
                <a:cs typeface="Verdana"/>
              </a:rPr>
              <a:t>at</a:t>
            </a:r>
            <a:r>
              <a:rPr dirty="0" sz="1550" spc="-114">
                <a:latin typeface="Verdana"/>
                <a:cs typeface="Verdana"/>
              </a:rPr>
              <a:t> </a:t>
            </a:r>
            <a:r>
              <a:rPr dirty="0" sz="1550" spc="-135">
                <a:latin typeface="Verdana"/>
                <a:cs typeface="Verdana"/>
              </a:rPr>
              <a:t>rest.</a:t>
            </a:r>
            <a:r>
              <a:rPr dirty="0" sz="1550" spc="-110">
                <a:latin typeface="Verdana"/>
                <a:cs typeface="Verdana"/>
              </a:rPr>
              <a:t> </a:t>
            </a:r>
            <a:r>
              <a:rPr dirty="0" sz="1550" spc="-60">
                <a:latin typeface="Verdana"/>
                <a:cs typeface="Verdana"/>
              </a:rPr>
              <a:t>All</a:t>
            </a:r>
            <a:r>
              <a:rPr dirty="0" sz="1550" spc="-110">
                <a:latin typeface="Verdana"/>
                <a:cs typeface="Verdana"/>
              </a:rPr>
              <a:t> </a:t>
            </a:r>
            <a:r>
              <a:rPr dirty="0" sz="1550" spc="-95">
                <a:latin typeface="Verdana"/>
                <a:cs typeface="Verdana"/>
              </a:rPr>
              <a:t>data</a:t>
            </a:r>
            <a:r>
              <a:rPr dirty="0" sz="1550" spc="-114">
                <a:latin typeface="Verdana"/>
                <a:cs typeface="Verdana"/>
              </a:rPr>
              <a:t> </a:t>
            </a:r>
            <a:r>
              <a:rPr dirty="0" sz="1550" spc="-40">
                <a:latin typeface="Verdana"/>
                <a:cs typeface="Verdana"/>
              </a:rPr>
              <a:t>in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6000" y="6699852"/>
            <a:ext cx="5071745" cy="1092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2900"/>
              </a:lnSpc>
              <a:spcBef>
                <a:spcPts val="100"/>
              </a:spcBef>
            </a:pPr>
            <a:r>
              <a:rPr dirty="0" sz="1550">
                <a:latin typeface="Verdana"/>
                <a:cs typeface="Verdana"/>
              </a:rPr>
              <a:t>transit</a:t>
            </a:r>
            <a:r>
              <a:rPr dirty="0" sz="1550" spc="270">
                <a:latin typeface="Verdana"/>
                <a:cs typeface="Verdana"/>
              </a:rPr>
              <a:t>  </a:t>
            </a:r>
            <a:r>
              <a:rPr dirty="0" sz="1550">
                <a:latin typeface="Verdana"/>
                <a:cs typeface="Verdana"/>
              </a:rPr>
              <a:t>is</a:t>
            </a:r>
            <a:r>
              <a:rPr dirty="0" sz="1550" spc="270">
                <a:latin typeface="Verdana"/>
                <a:cs typeface="Verdana"/>
              </a:rPr>
              <a:t>  </a:t>
            </a:r>
            <a:r>
              <a:rPr dirty="0" sz="1550">
                <a:latin typeface="Verdana"/>
                <a:cs typeface="Verdana"/>
              </a:rPr>
              <a:t>secured</a:t>
            </a:r>
            <a:r>
              <a:rPr dirty="0" sz="1550" spc="275">
                <a:latin typeface="Verdana"/>
                <a:cs typeface="Verdana"/>
              </a:rPr>
              <a:t>  </a:t>
            </a:r>
            <a:r>
              <a:rPr dirty="0" sz="1550">
                <a:latin typeface="Verdana"/>
                <a:cs typeface="Verdana"/>
              </a:rPr>
              <a:t>via</a:t>
            </a:r>
            <a:r>
              <a:rPr dirty="0" sz="1550" spc="270">
                <a:latin typeface="Verdana"/>
                <a:cs typeface="Verdana"/>
              </a:rPr>
              <a:t>  </a:t>
            </a:r>
            <a:r>
              <a:rPr dirty="0" sz="1550">
                <a:latin typeface="Verdana"/>
                <a:cs typeface="Verdana"/>
              </a:rPr>
              <a:t>HTTPS/TLS.</a:t>
            </a:r>
            <a:r>
              <a:rPr dirty="0" sz="1550" spc="270">
                <a:latin typeface="Verdana"/>
                <a:cs typeface="Verdana"/>
              </a:rPr>
              <a:t>  </a:t>
            </a:r>
            <a:r>
              <a:rPr dirty="0" sz="1550" spc="-145">
                <a:latin typeface="Verdana"/>
                <a:cs typeface="Verdana"/>
              </a:rPr>
              <a:t>Multi-</a:t>
            </a:r>
            <a:r>
              <a:rPr dirty="0" sz="1550" spc="-75">
                <a:latin typeface="Verdana"/>
                <a:cs typeface="Verdana"/>
              </a:rPr>
              <a:t>factor </a:t>
            </a:r>
            <a:r>
              <a:rPr dirty="0" sz="1550" spc="-85">
                <a:latin typeface="Verdana"/>
                <a:cs typeface="Verdana"/>
              </a:rPr>
              <a:t>authentication</a:t>
            </a:r>
            <a:r>
              <a:rPr dirty="0" sz="1550" spc="10">
                <a:latin typeface="Verdana"/>
                <a:cs typeface="Verdana"/>
              </a:rPr>
              <a:t> </a:t>
            </a:r>
            <a:r>
              <a:rPr dirty="0" sz="1550" spc="-85">
                <a:latin typeface="Verdana"/>
                <a:cs typeface="Verdana"/>
              </a:rPr>
              <a:t>(MFA)</a:t>
            </a:r>
            <a:r>
              <a:rPr dirty="0" sz="1550" spc="1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adds</a:t>
            </a:r>
            <a:r>
              <a:rPr dirty="0" sz="1550" spc="1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an</a:t>
            </a:r>
            <a:r>
              <a:rPr dirty="0" sz="1550" spc="15">
                <a:latin typeface="Verdana"/>
                <a:cs typeface="Verdana"/>
              </a:rPr>
              <a:t> </a:t>
            </a:r>
            <a:r>
              <a:rPr dirty="0" sz="1550" spc="-25">
                <a:latin typeface="Verdana"/>
                <a:cs typeface="Verdana"/>
              </a:rPr>
              <a:t>extra</a:t>
            </a:r>
            <a:r>
              <a:rPr dirty="0" sz="1550" spc="10">
                <a:latin typeface="Verdana"/>
                <a:cs typeface="Verdana"/>
              </a:rPr>
              <a:t> </a:t>
            </a:r>
            <a:r>
              <a:rPr dirty="0" sz="1550" spc="-70">
                <a:latin typeface="Verdana"/>
                <a:cs typeface="Verdana"/>
              </a:rPr>
              <a:t>identity</a:t>
            </a:r>
            <a:r>
              <a:rPr dirty="0" sz="1550" spc="10">
                <a:latin typeface="Verdana"/>
                <a:cs typeface="Verdana"/>
              </a:rPr>
              <a:t> </a:t>
            </a:r>
            <a:r>
              <a:rPr dirty="0" sz="1550" spc="-105">
                <a:latin typeface="Verdana"/>
                <a:cs typeface="Verdana"/>
              </a:rPr>
              <a:t>verification </a:t>
            </a:r>
            <a:r>
              <a:rPr dirty="0" sz="1550" spc="-30">
                <a:latin typeface="Verdana"/>
                <a:cs typeface="Verdana"/>
              </a:rPr>
              <a:t>layer,</a:t>
            </a:r>
            <a:r>
              <a:rPr dirty="0" sz="1550" spc="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and</a:t>
            </a:r>
            <a:r>
              <a:rPr dirty="0" sz="1550" spc="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the</a:t>
            </a:r>
            <a:r>
              <a:rPr dirty="0" sz="1550" spc="10">
                <a:latin typeface="Verdana"/>
                <a:cs typeface="Verdana"/>
              </a:rPr>
              <a:t> </a:t>
            </a:r>
            <a:r>
              <a:rPr dirty="0" sz="1550" spc="-25">
                <a:latin typeface="Verdana"/>
                <a:cs typeface="Verdana"/>
              </a:rPr>
              <a:t>solution</a:t>
            </a:r>
            <a:r>
              <a:rPr dirty="0" sz="1550" spc="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aligns</a:t>
            </a:r>
            <a:r>
              <a:rPr dirty="0" sz="1550" spc="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with</a:t>
            </a:r>
            <a:r>
              <a:rPr dirty="0" sz="1550" spc="10">
                <a:latin typeface="Verdana"/>
                <a:cs typeface="Verdana"/>
              </a:rPr>
              <a:t> </a:t>
            </a:r>
            <a:r>
              <a:rPr dirty="0" sz="1550" spc="-45">
                <a:latin typeface="Verdana"/>
                <a:cs typeface="Verdana"/>
              </a:rPr>
              <a:t>major</a:t>
            </a:r>
            <a:r>
              <a:rPr dirty="0" sz="1550" spc="5">
                <a:latin typeface="Verdana"/>
                <a:cs typeface="Verdana"/>
              </a:rPr>
              <a:t> </a:t>
            </a:r>
            <a:r>
              <a:rPr dirty="0" sz="1550" spc="-65">
                <a:latin typeface="Verdana"/>
                <a:cs typeface="Verdana"/>
              </a:rPr>
              <a:t>compliance </a:t>
            </a:r>
            <a:r>
              <a:rPr dirty="0" sz="1550" spc="-114">
                <a:latin typeface="Verdana"/>
                <a:cs typeface="Verdana"/>
              </a:rPr>
              <a:t>frameworks</a:t>
            </a:r>
            <a:r>
              <a:rPr dirty="0" sz="1550" spc="-235">
                <a:latin typeface="Verdana"/>
                <a:cs typeface="Verdana"/>
              </a:rPr>
              <a:t> </a:t>
            </a:r>
            <a:r>
              <a:rPr dirty="0" sz="1550" spc="-110">
                <a:latin typeface="Verdana"/>
                <a:cs typeface="Verdana"/>
              </a:rPr>
              <a:t>including</a:t>
            </a:r>
            <a:r>
              <a:rPr dirty="0" sz="1550" spc="-229">
                <a:latin typeface="Verdana"/>
                <a:cs typeface="Verdana"/>
              </a:rPr>
              <a:t> </a:t>
            </a:r>
            <a:r>
              <a:rPr dirty="0" sz="1550" spc="-110">
                <a:latin typeface="Verdana"/>
                <a:cs typeface="Verdana"/>
              </a:rPr>
              <a:t>GDPR,</a:t>
            </a:r>
            <a:r>
              <a:rPr dirty="0" sz="1550" spc="-229">
                <a:latin typeface="Verdana"/>
                <a:cs typeface="Verdana"/>
              </a:rPr>
              <a:t> </a:t>
            </a:r>
            <a:r>
              <a:rPr dirty="0" sz="1550" spc="-150">
                <a:latin typeface="Verdana"/>
                <a:cs typeface="Verdana"/>
              </a:rPr>
              <a:t>ISO</a:t>
            </a:r>
            <a:r>
              <a:rPr dirty="0" sz="1550" spc="-229">
                <a:latin typeface="Verdana"/>
                <a:cs typeface="Verdana"/>
              </a:rPr>
              <a:t> </a:t>
            </a:r>
            <a:r>
              <a:rPr dirty="0" sz="1550" spc="-180">
                <a:latin typeface="Verdana"/>
                <a:cs typeface="Verdana"/>
              </a:rPr>
              <a:t>27001,</a:t>
            </a:r>
            <a:r>
              <a:rPr dirty="0" sz="1550" spc="-235">
                <a:latin typeface="Verdana"/>
                <a:cs typeface="Verdana"/>
              </a:rPr>
              <a:t> </a:t>
            </a:r>
            <a:r>
              <a:rPr dirty="0" sz="1550" spc="-100">
                <a:latin typeface="Verdana"/>
                <a:cs typeface="Verdana"/>
              </a:rPr>
              <a:t>and</a:t>
            </a:r>
            <a:r>
              <a:rPr dirty="0" sz="1550" spc="-229">
                <a:latin typeface="Verdana"/>
                <a:cs typeface="Verdana"/>
              </a:rPr>
              <a:t> </a:t>
            </a:r>
            <a:r>
              <a:rPr dirty="0" sz="1550" spc="-40">
                <a:latin typeface="Verdana"/>
                <a:cs typeface="Verdana"/>
              </a:rPr>
              <a:t>SOC</a:t>
            </a:r>
            <a:r>
              <a:rPr dirty="0" sz="1550" spc="-229">
                <a:latin typeface="Verdana"/>
                <a:cs typeface="Verdana"/>
              </a:rPr>
              <a:t> </a:t>
            </a:r>
            <a:r>
              <a:rPr dirty="0" sz="1550" spc="-25">
                <a:latin typeface="Verdana"/>
                <a:cs typeface="Verdana"/>
              </a:rPr>
              <a:t>2.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6000" y="4822219"/>
            <a:ext cx="2797175" cy="4432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700" spc="-165">
                <a:solidFill>
                  <a:srgbClr val="F99C00"/>
                </a:solidFill>
                <a:latin typeface="Verdana"/>
                <a:cs typeface="Verdana"/>
              </a:rPr>
              <a:t>Security</a:t>
            </a:r>
            <a:r>
              <a:rPr dirty="0" sz="2700" spc="-420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700" spc="-150">
                <a:solidFill>
                  <a:srgbClr val="F99C00"/>
                </a:solidFill>
                <a:latin typeface="Verdana"/>
                <a:cs typeface="Verdana"/>
              </a:rPr>
              <a:t>Overview</a:t>
            </a:r>
            <a:endParaRPr sz="2700">
              <a:latin typeface="Verdana"/>
              <a:cs typeface="Verdana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356966" y="2180432"/>
          <a:ext cx="9979025" cy="34817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06465"/>
                <a:gridCol w="3895725"/>
              </a:tblGrid>
              <a:tr h="725170"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dirty="0" sz="1800" spc="-125">
                          <a:solidFill>
                            <a:srgbClr val="F99C00"/>
                          </a:solidFill>
                          <a:latin typeface="Verdana"/>
                          <a:cs typeface="Verdana"/>
                        </a:rPr>
                        <a:t>Security</a:t>
                      </a:r>
                      <a:r>
                        <a:rPr dirty="0" sz="1800" spc="-260">
                          <a:solidFill>
                            <a:srgbClr val="F99C0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00" spc="-10">
                          <a:solidFill>
                            <a:srgbClr val="F99C00"/>
                          </a:solidFill>
                          <a:latin typeface="Verdana"/>
                          <a:cs typeface="Verdana"/>
                        </a:rPr>
                        <a:t>Measure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198755">
                    <a:lnR w="19050">
                      <a:solidFill>
                        <a:srgbClr val="F99C00"/>
                      </a:solidFill>
                      <a:prstDash val="solid"/>
                    </a:lnR>
                    <a:solidFill>
                      <a:srgbClr val="202A20"/>
                    </a:solidFill>
                  </a:tcPr>
                </a:tc>
                <a:tc>
                  <a:txBody>
                    <a:bodyPr/>
                    <a:lstStyle/>
                    <a:p>
                      <a:pPr marL="603250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dirty="0" sz="1800" spc="-10">
                          <a:solidFill>
                            <a:srgbClr val="F99C00"/>
                          </a:solidFill>
                          <a:latin typeface="Verdana"/>
                          <a:cs typeface="Verdana"/>
                        </a:rPr>
                        <a:t>Status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B="0" marT="198755">
                    <a:lnL w="19050">
                      <a:solidFill>
                        <a:srgbClr val="F99C00"/>
                      </a:solidFill>
                      <a:prstDash val="solid"/>
                    </a:lnL>
                    <a:solidFill>
                      <a:srgbClr val="202A20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dirty="0" sz="1550" spc="-75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AWS</a:t>
                      </a:r>
                      <a:r>
                        <a:rPr dirty="0" sz="1550" spc="-25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50" spc="-13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IAM</a:t>
                      </a:r>
                      <a:r>
                        <a:rPr dirty="0" sz="1550" spc="-25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50" spc="-7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Roles</a:t>
                      </a:r>
                      <a:r>
                        <a:rPr dirty="0" sz="1550" spc="-245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50" spc="-2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&amp;</a:t>
                      </a:r>
                      <a:r>
                        <a:rPr dirty="0" sz="1550" spc="-25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50" spc="-1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Policies</a:t>
                      </a:r>
                      <a:endParaRPr sz="1550">
                        <a:latin typeface="Verdana"/>
                        <a:cs typeface="Verdana"/>
                      </a:endParaRPr>
                    </a:p>
                  </a:txBody>
                  <a:tcPr marL="0" marR="0" marB="0" marT="172720">
                    <a:lnR w="19050">
                      <a:solidFill>
                        <a:srgbClr val="F99C00"/>
                      </a:solidFill>
                      <a:prstDash val="solid"/>
                    </a:lnR>
                    <a:lnB w="19050">
                      <a:solidFill>
                        <a:srgbClr val="F99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0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dirty="0" sz="1550" spc="-1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Enabled</a:t>
                      </a:r>
                      <a:endParaRPr sz="1550">
                        <a:latin typeface="Verdana"/>
                        <a:cs typeface="Verdana"/>
                      </a:endParaRPr>
                    </a:p>
                  </a:txBody>
                  <a:tcPr marL="0" marR="0" marB="0" marT="172720">
                    <a:lnL w="19050">
                      <a:solidFill>
                        <a:srgbClr val="F99C00"/>
                      </a:solidFill>
                      <a:prstDash val="solid"/>
                    </a:lnL>
                    <a:lnB w="19050">
                      <a:solidFill>
                        <a:srgbClr val="F99C00"/>
                      </a:solidFill>
                      <a:prstDash val="solid"/>
                    </a:lnB>
                  </a:tcPr>
                </a:tc>
              </a:tr>
              <a:tr h="690880"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550" spc="-5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S3</a:t>
                      </a:r>
                      <a:r>
                        <a:rPr dirty="0" sz="1550" spc="-235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50" spc="-15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AES-</a:t>
                      </a:r>
                      <a:r>
                        <a:rPr dirty="0" sz="1550" spc="-75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256</a:t>
                      </a:r>
                      <a:r>
                        <a:rPr dirty="0" sz="1550" spc="-235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50" spc="-1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Encryption</a:t>
                      </a:r>
                      <a:endParaRPr sz="1550">
                        <a:latin typeface="Verdana"/>
                        <a:cs typeface="Verdana"/>
                      </a:endParaRPr>
                    </a:p>
                  </a:txBody>
                  <a:tcPr marL="0" marR="0" marB="0" marT="179705">
                    <a:lnR w="19050">
                      <a:solidFill>
                        <a:srgbClr val="F99C00"/>
                      </a:solidFill>
                      <a:prstDash val="solid"/>
                    </a:lnR>
                    <a:lnT w="19050">
                      <a:solidFill>
                        <a:srgbClr val="F99C00"/>
                      </a:solidFill>
                      <a:prstDash val="solid"/>
                    </a:lnT>
                    <a:lnB w="19050">
                      <a:solidFill>
                        <a:srgbClr val="F99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0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550" spc="-1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Enabled</a:t>
                      </a:r>
                      <a:endParaRPr sz="1550">
                        <a:latin typeface="Verdana"/>
                        <a:cs typeface="Verdana"/>
                      </a:endParaRPr>
                    </a:p>
                  </a:txBody>
                  <a:tcPr marL="0" marR="0" marB="0" marT="179705">
                    <a:lnL w="19050">
                      <a:solidFill>
                        <a:srgbClr val="F99C00"/>
                      </a:solidFill>
                      <a:prstDash val="solid"/>
                    </a:lnL>
                    <a:lnT w="19050">
                      <a:solidFill>
                        <a:srgbClr val="F99C00"/>
                      </a:solidFill>
                      <a:prstDash val="solid"/>
                    </a:lnT>
                    <a:lnB w="19050">
                      <a:solidFill>
                        <a:srgbClr val="F99C00"/>
                      </a:solidFill>
                      <a:prstDash val="solid"/>
                    </a:lnB>
                  </a:tcPr>
                </a:tc>
              </a:tr>
              <a:tr h="690880"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550" spc="-65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HTTPS</a:t>
                      </a:r>
                      <a:r>
                        <a:rPr dirty="0" sz="1550" spc="-254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5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/</a:t>
                      </a:r>
                      <a:r>
                        <a:rPr dirty="0" sz="1550" spc="-254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50" spc="-85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TLS</a:t>
                      </a:r>
                      <a:r>
                        <a:rPr dirty="0" sz="1550" spc="-25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50" spc="-4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Transmission</a:t>
                      </a:r>
                      <a:endParaRPr sz="1550">
                        <a:latin typeface="Verdana"/>
                        <a:cs typeface="Verdana"/>
                      </a:endParaRPr>
                    </a:p>
                  </a:txBody>
                  <a:tcPr marL="0" marR="0" marB="0" marT="179705">
                    <a:lnR w="19050">
                      <a:solidFill>
                        <a:srgbClr val="F99C00"/>
                      </a:solidFill>
                      <a:prstDash val="solid"/>
                    </a:lnR>
                    <a:lnT w="19050">
                      <a:solidFill>
                        <a:srgbClr val="F99C00"/>
                      </a:solidFill>
                      <a:prstDash val="solid"/>
                    </a:lnT>
                    <a:lnB w="19050">
                      <a:solidFill>
                        <a:srgbClr val="F99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0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550" spc="-1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Enforced</a:t>
                      </a:r>
                      <a:endParaRPr sz="1550">
                        <a:latin typeface="Verdana"/>
                        <a:cs typeface="Verdana"/>
                      </a:endParaRPr>
                    </a:p>
                  </a:txBody>
                  <a:tcPr marL="0" marR="0" marB="0" marT="179705">
                    <a:lnL w="19050">
                      <a:solidFill>
                        <a:srgbClr val="F99C00"/>
                      </a:solidFill>
                      <a:prstDash val="solid"/>
                    </a:lnL>
                    <a:lnT w="19050">
                      <a:solidFill>
                        <a:srgbClr val="F99C00"/>
                      </a:solidFill>
                      <a:prstDash val="solid"/>
                    </a:lnT>
                    <a:lnB w="19050">
                      <a:solidFill>
                        <a:srgbClr val="F99C00"/>
                      </a:solidFill>
                      <a:prstDash val="solid"/>
                    </a:lnB>
                  </a:tcPr>
                </a:tc>
              </a:tr>
              <a:tr h="690880"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550" spc="-145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Multi-</a:t>
                      </a:r>
                      <a:r>
                        <a:rPr dirty="0" sz="1550" spc="-9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Factor</a:t>
                      </a:r>
                      <a:r>
                        <a:rPr dirty="0" sz="1550" spc="-195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50" spc="-45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Authentication</a:t>
                      </a:r>
                      <a:endParaRPr sz="1550">
                        <a:latin typeface="Verdana"/>
                        <a:cs typeface="Verdana"/>
                      </a:endParaRPr>
                    </a:p>
                  </a:txBody>
                  <a:tcPr marL="0" marR="0" marB="0" marT="179705">
                    <a:lnR w="19050">
                      <a:solidFill>
                        <a:srgbClr val="F99C00"/>
                      </a:solidFill>
                      <a:prstDash val="solid"/>
                    </a:lnR>
                    <a:lnT w="19050">
                      <a:solidFill>
                        <a:srgbClr val="F99C00"/>
                      </a:solidFill>
                      <a:prstDash val="solid"/>
                    </a:lnT>
                    <a:lnB w="19050">
                      <a:solidFill>
                        <a:srgbClr val="F99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0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550" spc="-1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Supported</a:t>
                      </a:r>
                      <a:endParaRPr sz="1550">
                        <a:latin typeface="Verdana"/>
                        <a:cs typeface="Verdana"/>
                      </a:endParaRPr>
                    </a:p>
                  </a:txBody>
                  <a:tcPr marL="0" marR="0" marB="0" marT="179705">
                    <a:lnL w="19050">
                      <a:solidFill>
                        <a:srgbClr val="F99C00"/>
                      </a:solidFill>
                      <a:prstDash val="solid"/>
                    </a:lnL>
                    <a:lnT w="19050">
                      <a:solidFill>
                        <a:srgbClr val="F99C00"/>
                      </a:solidFill>
                      <a:prstDash val="solid"/>
                    </a:lnT>
                    <a:lnB w="19050">
                      <a:solidFill>
                        <a:srgbClr val="F99C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7356966" y="6050692"/>
            <a:ext cx="4878705" cy="2330450"/>
          </a:xfrm>
          <a:custGeom>
            <a:avLst/>
            <a:gdLst/>
            <a:ahLst/>
            <a:cxnLst/>
            <a:rect l="l" t="t" r="r" b="b"/>
            <a:pathLst>
              <a:path w="4878705" h="2330450">
                <a:moveTo>
                  <a:pt x="4878601" y="2330078"/>
                </a:moveTo>
                <a:lnTo>
                  <a:pt x="0" y="2330078"/>
                </a:lnTo>
                <a:lnTo>
                  <a:pt x="0" y="0"/>
                </a:lnTo>
                <a:lnTo>
                  <a:pt x="4878601" y="0"/>
                </a:lnTo>
                <a:lnTo>
                  <a:pt x="4878601" y="2330078"/>
                </a:lnTo>
                <a:close/>
              </a:path>
            </a:pathLst>
          </a:custGeom>
          <a:solidFill>
            <a:srgbClr val="202A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382265" y="6050692"/>
            <a:ext cx="4878705" cy="2330450"/>
          </a:xfrm>
          <a:custGeom>
            <a:avLst/>
            <a:gdLst/>
            <a:ahLst/>
            <a:cxnLst/>
            <a:rect l="l" t="t" r="r" b="b"/>
            <a:pathLst>
              <a:path w="4878705" h="2330450">
                <a:moveTo>
                  <a:pt x="4878601" y="2330078"/>
                </a:moveTo>
                <a:lnTo>
                  <a:pt x="0" y="2330078"/>
                </a:lnTo>
                <a:lnTo>
                  <a:pt x="0" y="0"/>
                </a:lnTo>
                <a:lnTo>
                  <a:pt x="4878601" y="0"/>
                </a:lnTo>
                <a:lnTo>
                  <a:pt x="4878601" y="2330078"/>
                </a:lnTo>
                <a:close/>
              </a:path>
            </a:pathLst>
          </a:custGeom>
          <a:solidFill>
            <a:srgbClr val="F99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356966" y="6050692"/>
            <a:ext cx="4878705" cy="2330450"/>
          </a:xfrm>
          <a:prstGeom prst="rect">
            <a:avLst/>
          </a:prstGeom>
        </p:spPr>
        <p:txBody>
          <a:bodyPr wrap="square" lIns="0" tIns="224154" rIns="0" bIns="0" rtlCol="0" vert="horz">
            <a:spAutoFit/>
          </a:bodyPr>
          <a:lstStyle/>
          <a:p>
            <a:pPr marL="329565">
              <a:lnSpc>
                <a:spcPct val="100000"/>
              </a:lnSpc>
              <a:spcBef>
                <a:spcPts val="1764"/>
              </a:spcBef>
            </a:pPr>
            <a:r>
              <a:rPr dirty="0" sz="2350" spc="-125">
                <a:solidFill>
                  <a:srgbClr val="F99C00"/>
                </a:solidFill>
                <a:latin typeface="Verdana"/>
                <a:cs typeface="Verdana"/>
              </a:rPr>
              <a:t>Compliance</a:t>
            </a:r>
            <a:r>
              <a:rPr dirty="0" sz="2350" spc="-310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350" spc="-50">
                <a:solidFill>
                  <a:srgbClr val="F99C00"/>
                </a:solidFill>
                <a:latin typeface="Verdana"/>
                <a:cs typeface="Verdana"/>
              </a:rPr>
              <a:t>Standards</a:t>
            </a:r>
            <a:endParaRPr sz="2350">
              <a:latin typeface="Verdana"/>
              <a:cs typeface="Verdana"/>
            </a:endParaRPr>
          </a:p>
          <a:p>
            <a:pPr algn="just" marL="329565" marR="300990">
              <a:lnSpc>
                <a:spcPct val="112900"/>
              </a:lnSpc>
              <a:spcBef>
                <a:spcPts val="1670"/>
              </a:spcBef>
            </a:pPr>
            <a:r>
              <a:rPr dirty="0" sz="1550" spc="-6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1550" spc="6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95">
                <a:solidFill>
                  <a:srgbClr val="FFFFFF"/>
                </a:solidFill>
                <a:latin typeface="Verdana"/>
                <a:cs typeface="Verdana"/>
              </a:rPr>
              <a:t>solution</a:t>
            </a:r>
            <a:r>
              <a:rPr dirty="0" sz="1550" spc="6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65">
                <a:solidFill>
                  <a:srgbClr val="FFFFFF"/>
                </a:solidFill>
                <a:latin typeface="Verdana"/>
                <a:cs typeface="Verdana"/>
              </a:rPr>
              <a:t>complies</a:t>
            </a:r>
            <a:r>
              <a:rPr dirty="0" sz="1550" spc="6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114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dirty="0" sz="1550" spc="6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75">
                <a:solidFill>
                  <a:srgbClr val="FFFFFF"/>
                </a:solidFill>
                <a:latin typeface="Verdana"/>
                <a:cs typeface="Verdana"/>
              </a:rPr>
              <a:t>GDPR</a:t>
            </a:r>
            <a:r>
              <a:rPr dirty="0" sz="1550" spc="6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85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1550" spc="6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9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dirty="0" sz="155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130">
                <a:solidFill>
                  <a:srgbClr val="FFFFFF"/>
                </a:solidFill>
                <a:latin typeface="Verdana"/>
                <a:cs typeface="Verdana"/>
              </a:rPr>
              <a:t>privacy,</a:t>
            </a:r>
            <a:r>
              <a:rPr dirty="0" sz="1550" spc="7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145">
                <a:solidFill>
                  <a:srgbClr val="FFFFFF"/>
                </a:solidFill>
                <a:latin typeface="Verdana"/>
                <a:cs typeface="Verdana"/>
              </a:rPr>
              <a:t>ISO</a:t>
            </a:r>
            <a:r>
              <a:rPr dirty="0" sz="1550" spc="7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160">
                <a:solidFill>
                  <a:srgbClr val="FFFFFF"/>
                </a:solidFill>
                <a:latin typeface="Verdana"/>
                <a:cs typeface="Verdana"/>
              </a:rPr>
              <a:t>27001</a:t>
            </a:r>
            <a:r>
              <a:rPr dirty="0" sz="1550" spc="7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85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1550" spc="7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130">
                <a:solidFill>
                  <a:srgbClr val="FFFFFF"/>
                </a:solidFill>
                <a:latin typeface="Verdana"/>
                <a:cs typeface="Verdana"/>
              </a:rPr>
              <a:t>information</a:t>
            </a:r>
            <a:r>
              <a:rPr dirty="0" sz="1550" spc="7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95">
                <a:solidFill>
                  <a:srgbClr val="FFFFFF"/>
                </a:solidFill>
                <a:latin typeface="Verdana"/>
                <a:cs typeface="Verdana"/>
              </a:rPr>
              <a:t>security</a:t>
            </a:r>
            <a:r>
              <a:rPr dirty="0" sz="155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135">
                <a:solidFill>
                  <a:srgbClr val="FFFFFF"/>
                </a:solidFill>
                <a:latin typeface="Verdana"/>
                <a:cs typeface="Verdana"/>
              </a:rPr>
              <a:t>management,</a:t>
            </a:r>
            <a:r>
              <a:rPr dirty="0" sz="155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95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55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35">
                <a:solidFill>
                  <a:srgbClr val="FFFFFF"/>
                </a:solidFill>
                <a:latin typeface="Verdana"/>
                <a:cs typeface="Verdana"/>
              </a:rPr>
              <a:t>SOC</a:t>
            </a:r>
            <a:r>
              <a:rPr dirty="0" sz="155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5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dirty="0" sz="155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85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155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80">
                <a:solidFill>
                  <a:srgbClr val="FFFFFF"/>
                </a:solidFill>
                <a:latin typeface="Verdana"/>
                <a:cs typeface="Verdana"/>
              </a:rPr>
              <a:t>service</a:t>
            </a:r>
            <a:r>
              <a:rPr dirty="0" sz="155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114">
                <a:solidFill>
                  <a:srgbClr val="FFFFFF"/>
                </a:solidFill>
                <a:latin typeface="Verdana"/>
                <a:cs typeface="Verdana"/>
              </a:rPr>
              <a:t>organization</a:t>
            </a:r>
            <a:r>
              <a:rPr dirty="0" sz="155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80">
                <a:solidFill>
                  <a:srgbClr val="FFFFFF"/>
                </a:solidFill>
                <a:latin typeface="Verdana"/>
                <a:cs typeface="Verdana"/>
              </a:rPr>
              <a:t>controls</a:t>
            </a:r>
            <a:r>
              <a:rPr dirty="0" sz="1550" spc="-2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155">
                <a:solidFill>
                  <a:srgbClr val="FFFFFF"/>
                </a:solidFill>
                <a:latin typeface="Verdana"/>
                <a:cs typeface="Verdana"/>
              </a:rPr>
              <a:t>—</a:t>
            </a:r>
            <a:r>
              <a:rPr dirty="0" sz="1550" spc="-2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114">
                <a:solidFill>
                  <a:srgbClr val="FFFFFF"/>
                </a:solidFill>
                <a:latin typeface="Verdana"/>
                <a:cs typeface="Verdana"/>
              </a:rPr>
              <a:t>ensuring</a:t>
            </a:r>
            <a:r>
              <a:rPr dirty="0" sz="1550" spc="-2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125">
                <a:solidFill>
                  <a:srgbClr val="FFFFFF"/>
                </a:solidFill>
                <a:latin typeface="Verdana"/>
                <a:cs typeface="Verdana"/>
              </a:rPr>
              <a:t>enterprise-</a:t>
            </a:r>
            <a:r>
              <a:rPr dirty="0" sz="1550" spc="-95">
                <a:solidFill>
                  <a:srgbClr val="FFFFFF"/>
                </a:solidFill>
                <a:latin typeface="Verdana"/>
                <a:cs typeface="Verdana"/>
              </a:rPr>
              <a:t>grade</a:t>
            </a:r>
            <a:r>
              <a:rPr dirty="0" sz="1550" spc="-2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145">
                <a:solidFill>
                  <a:srgbClr val="FFFFFF"/>
                </a:solidFill>
                <a:latin typeface="Verdana"/>
                <a:cs typeface="Verdana"/>
              </a:rPr>
              <a:t>trust.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382265" y="6050692"/>
            <a:ext cx="4878705" cy="2330450"/>
          </a:xfrm>
          <a:prstGeom prst="rect">
            <a:avLst/>
          </a:prstGeom>
        </p:spPr>
        <p:txBody>
          <a:bodyPr wrap="square" lIns="0" tIns="224154" rIns="0" bIns="0" rtlCol="0" vert="horz">
            <a:spAutoFit/>
          </a:bodyPr>
          <a:lstStyle/>
          <a:p>
            <a:pPr marL="323215">
              <a:lnSpc>
                <a:spcPct val="100000"/>
              </a:lnSpc>
              <a:spcBef>
                <a:spcPts val="1764"/>
              </a:spcBef>
            </a:pPr>
            <a:r>
              <a:rPr dirty="0" sz="2350" spc="-10">
                <a:solidFill>
                  <a:srgbClr val="FFFFFF"/>
                </a:solidFill>
                <a:latin typeface="Verdana"/>
                <a:cs typeface="Verdana"/>
              </a:rPr>
              <a:t>Access</a:t>
            </a:r>
            <a:r>
              <a:rPr dirty="0" sz="2350" spc="-3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350" spc="-140">
                <a:solidFill>
                  <a:srgbClr val="FFFFFF"/>
                </a:solidFill>
                <a:latin typeface="Verdana"/>
                <a:cs typeface="Verdana"/>
              </a:rPr>
              <a:t>Control</a:t>
            </a:r>
            <a:r>
              <a:rPr dirty="0" sz="2350" spc="-3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350" spc="-20">
                <a:solidFill>
                  <a:srgbClr val="FFFFFF"/>
                </a:solidFill>
                <a:latin typeface="Verdana"/>
                <a:cs typeface="Verdana"/>
              </a:rPr>
              <a:t>Model</a:t>
            </a:r>
            <a:endParaRPr sz="2350">
              <a:latin typeface="Verdana"/>
              <a:cs typeface="Verdana"/>
            </a:endParaRPr>
          </a:p>
          <a:p>
            <a:pPr algn="just" marL="323215" marR="307340">
              <a:lnSpc>
                <a:spcPct val="112900"/>
              </a:lnSpc>
              <a:spcBef>
                <a:spcPts val="1670"/>
              </a:spcBef>
            </a:pPr>
            <a:r>
              <a:rPr dirty="0" sz="1550">
                <a:solidFill>
                  <a:srgbClr val="FFFFFF"/>
                </a:solidFill>
                <a:latin typeface="Verdana"/>
                <a:cs typeface="Verdana"/>
              </a:rPr>
              <a:t>AWS</a:t>
            </a:r>
            <a:r>
              <a:rPr dirty="0" sz="155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Verdana"/>
                <a:cs typeface="Verdana"/>
              </a:rPr>
              <a:t>IAM</a:t>
            </a:r>
            <a:r>
              <a:rPr dirty="0" sz="155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30">
                <a:solidFill>
                  <a:srgbClr val="FFFFFF"/>
                </a:solidFill>
                <a:latin typeface="Verdana"/>
                <a:cs typeface="Verdana"/>
              </a:rPr>
              <a:t>enforces</a:t>
            </a:r>
            <a:r>
              <a:rPr dirty="0" sz="155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130">
                <a:solidFill>
                  <a:srgbClr val="FFFFFF"/>
                </a:solidFill>
                <a:latin typeface="Verdana"/>
                <a:cs typeface="Verdana"/>
              </a:rPr>
              <a:t>least-</a:t>
            </a:r>
            <a:r>
              <a:rPr dirty="0" sz="1550" spc="-75">
                <a:solidFill>
                  <a:srgbClr val="FFFFFF"/>
                </a:solidFill>
                <a:latin typeface="Verdana"/>
                <a:cs typeface="Verdana"/>
              </a:rPr>
              <a:t>privilege</a:t>
            </a:r>
            <a:r>
              <a:rPr dirty="0" sz="155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FFFFFF"/>
                </a:solidFill>
                <a:latin typeface="Verdana"/>
                <a:cs typeface="Verdana"/>
              </a:rPr>
              <a:t>access</a:t>
            </a:r>
            <a:r>
              <a:rPr dirty="0" sz="155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75">
                <a:solidFill>
                  <a:srgbClr val="FFFFFF"/>
                </a:solidFill>
                <a:latin typeface="Verdana"/>
                <a:cs typeface="Verdana"/>
              </a:rPr>
              <a:t>with </a:t>
            </a:r>
            <a:r>
              <a:rPr dirty="0" sz="1550" spc="-140">
                <a:solidFill>
                  <a:srgbClr val="FFFFFF"/>
                </a:solidFill>
                <a:latin typeface="Verdana"/>
                <a:cs typeface="Verdana"/>
              </a:rPr>
              <a:t>role-</a:t>
            </a:r>
            <a:r>
              <a:rPr dirty="0" sz="1550">
                <a:solidFill>
                  <a:srgbClr val="FFFFFF"/>
                </a:solidFill>
                <a:latin typeface="Verdana"/>
                <a:cs typeface="Verdana"/>
              </a:rPr>
              <a:t>based</a:t>
            </a:r>
            <a:r>
              <a:rPr dirty="0" sz="1550" spc="1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FFFFFF"/>
                </a:solidFill>
                <a:latin typeface="Verdana"/>
                <a:cs typeface="Verdana"/>
              </a:rPr>
              <a:t>policies.</a:t>
            </a:r>
            <a:r>
              <a:rPr dirty="0" sz="1550" spc="1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FFFFFF"/>
                </a:solidFill>
                <a:latin typeface="Verdana"/>
                <a:cs typeface="Verdana"/>
              </a:rPr>
              <a:t>Users</a:t>
            </a:r>
            <a:r>
              <a:rPr dirty="0" sz="1550" spc="1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550" spc="1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FFFFFF"/>
                </a:solidFill>
                <a:latin typeface="Verdana"/>
                <a:cs typeface="Verdana"/>
              </a:rPr>
              <a:t>services</a:t>
            </a:r>
            <a:r>
              <a:rPr dirty="0" sz="1550" spc="1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60">
                <a:solidFill>
                  <a:srgbClr val="FFFFFF"/>
                </a:solidFill>
                <a:latin typeface="Verdana"/>
                <a:cs typeface="Verdana"/>
              </a:rPr>
              <a:t>are </a:t>
            </a:r>
            <a:r>
              <a:rPr dirty="0" sz="1550" spc="-150">
                <a:solidFill>
                  <a:srgbClr val="FFFFFF"/>
                </a:solidFill>
                <a:latin typeface="Verdana"/>
                <a:cs typeface="Verdana"/>
              </a:rPr>
              <a:t>granted</a:t>
            </a:r>
            <a:r>
              <a:rPr dirty="0" sz="1550" spc="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160">
                <a:solidFill>
                  <a:srgbClr val="FFFFFF"/>
                </a:solidFill>
                <a:latin typeface="Verdana"/>
                <a:cs typeface="Verdana"/>
              </a:rPr>
              <a:t>only</a:t>
            </a:r>
            <a:r>
              <a:rPr dirty="0" sz="1550" spc="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185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1550" spc="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125">
                <a:solidFill>
                  <a:srgbClr val="FFFFFF"/>
                </a:solidFill>
                <a:latin typeface="Verdana"/>
                <a:cs typeface="Verdana"/>
              </a:rPr>
              <a:t>permissions</a:t>
            </a:r>
            <a:r>
              <a:rPr dirty="0" sz="1550" spc="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155">
                <a:solidFill>
                  <a:srgbClr val="FFFFFF"/>
                </a:solidFill>
                <a:latin typeface="Verdana"/>
                <a:cs typeface="Verdana"/>
              </a:rPr>
              <a:t>required,</a:t>
            </a:r>
            <a:r>
              <a:rPr dirty="0" sz="1550" spc="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130">
                <a:solidFill>
                  <a:srgbClr val="FFFFFF"/>
                </a:solidFill>
                <a:latin typeface="Verdana"/>
                <a:cs typeface="Verdana"/>
              </a:rPr>
              <a:t>minimizing </a:t>
            </a:r>
            <a:r>
              <a:rPr dirty="0" sz="1550" spc="-95">
                <a:solidFill>
                  <a:srgbClr val="FFFFFF"/>
                </a:solidFill>
                <a:latin typeface="Verdana"/>
                <a:cs typeface="Verdana"/>
              </a:rPr>
              <a:t>attack</a:t>
            </a:r>
            <a:r>
              <a:rPr dirty="0" sz="1550" spc="-2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85">
                <a:solidFill>
                  <a:srgbClr val="FFFFFF"/>
                </a:solidFill>
                <a:latin typeface="Verdana"/>
                <a:cs typeface="Verdana"/>
              </a:rPr>
              <a:t>surface</a:t>
            </a:r>
            <a:r>
              <a:rPr dirty="0" sz="1550" spc="-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10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550" spc="-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125">
                <a:solidFill>
                  <a:srgbClr val="FFFFFF"/>
                </a:solidFill>
                <a:latin typeface="Verdana"/>
                <a:cs typeface="Verdana"/>
              </a:rPr>
              <a:t>unauthorized</a:t>
            </a:r>
            <a:r>
              <a:rPr dirty="0" sz="1550" spc="-2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20">
                <a:solidFill>
                  <a:srgbClr val="FFFFFF"/>
                </a:solidFill>
                <a:latin typeface="Verdana"/>
                <a:cs typeface="Verdana"/>
              </a:rPr>
              <a:t>access</a:t>
            </a:r>
            <a:r>
              <a:rPr dirty="0" sz="1550" spc="-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Verdana"/>
                <a:cs typeface="Verdana"/>
              </a:rPr>
              <a:t>risk.</a:t>
            </a:r>
            <a:endParaRPr sz="1550">
              <a:latin typeface="Verdana"/>
              <a:cs typeface="Verdan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70223" y="6307404"/>
            <a:ext cx="333374" cy="33337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75532" y="6298343"/>
            <a:ext cx="352424" cy="3524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41387" y="6348245"/>
            <a:ext cx="11346815" cy="3938904"/>
            <a:chOff x="6941387" y="6348245"/>
            <a:chExt cx="11346815" cy="3938904"/>
          </a:xfrm>
        </p:grpSpPr>
        <p:sp>
          <p:nvSpPr>
            <p:cNvPr id="3" name="object 3"/>
            <p:cNvSpPr/>
            <p:nvPr/>
          </p:nvSpPr>
          <p:spPr>
            <a:xfrm>
              <a:off x="6941387" y="6348245"/>
              <a:ext cx="11346815" cy="3938904"/>
            </a:xfrm>
            <a:custGeom>
              <a:avLst/>
              <a:gdLst/>
              <a:ahLst/>
              <a:cxnLst/>
              <a:rect l="l" t="t" r="r" b="b"/>
              <a:pathLst>
                <a:path w="11346815" h="3938904">
                  <a:moveTo>
                    <a:pt x="11346611" y="3938754"/>
                  </a:moveTo>
                  <a:lnTo>
                    <a:pt x="0" y="3938754"/>
                  </a:lnTo>
                  <a:lnTo>
                    <a:pt x="0" y="0"/>
                  </a:lnTo>
                  <a:lnTo>
                    <a:pt x="11346611" y="0"/>
                  </a:lnTo>
                  <a:lnTo>
                    <a:pt x="11346611" y="3938754"/>
                  </a:lnTo>
                  <a:close/>
                </a:path>
              </a:pathLst>
            </a:custGeom>
            <a:solidFill>
              <a:srgbClr val="202A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613489" y="8859496"/>
              <a:ext cx="645795" cy="358775"/>
            </a:xfrm>
            <a:custGeom>
              <a:avLst/>
              <a:gdLst/>
              <a:ahLst/>
              <a:cxnLst/>
              <a:rect l="l" t="t" r="r" b="b"/>
              <a:pathLst>
                <a:path w="645794" h="358775">
                  <a:moveTo>
                    <a:pt x="645382" y="358732"/>
                  </a:moveTo>
                  <a:lnTo>
                    <a:pt x="0" y="358732"/>
                  </a:lnTo>
                  <a:lnTo>
                    <a:pt x="0" y="240917"/>
                  </a:lnTo>
                  <a:lnTo>
                    <a:pt x="235708" y="286649"/>
                  </a:lnTo>
                  <a:lnTo>
                    <a:pt x="36692" y="152363"/>
                  </a:lnTo>
                  <a:lnTo>
                    <a:pt x="152363" y="36692"/>
                  </a:lnTo>
                  <a:lnTo>
                    <a:pt x="286649" y="235708"/>
                  </a:lnTo>
                  <a:lnTo>
                    <a:pt x="240917" y="0"/>
                  </a:lnTo>
                  <a:lnTo>
                    <a:pt x="404465" y="0"/>
                  </a:lnTo>
                  <a:lnTo>
                    <a:pt x="358732" y="235708"/>
                  </a:lnTo>
                  <a:lnTo>
                    <a:pt x="493095" y="36692"/>
                  </a:lnTo>
                  <a:lnTo>
                    <a:pt x="608689" y="152363"/>
                  </a:lnTo>
                  <a:lnTo>
                    <a:pt x="409750" y="286649"/>
                  </a:lnTo>
                  <a:lnTo>
                    <a:pt x="645382" y="240917"/>
                  </a:lnTo>
                  <a:lnTo>
                    <a:pt x="645382" y="358732"/>
                  </a:lnTo>
                  <a:close/>
                </a:path>
              </a:pathLst>
            </a:custGeom>
            <a:solidFill>
              <a:srgbClr val="F99C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533846" y="1026388"/>
            <a:ext cx="14204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0">
                <a:latin typeface="Verdana"/>
                <a:cs typeface="Verdana"/>
              </a:rPr>
              <a:t>Personal</a:t>
            </a:r>
            <a:r>
              <a:rPr dirty="0" sz="1200" spc="-165">
                <a:latin typeface="Verdana"/>
                <a:cs typeface="Verdana"/>
              </a:rPr>
              <a:t> </a:t>
            </a:r>
            <a:r>
              <a:rPr dirty="0" sz="1200" spc="-55">
                <a:latin typeface="Verdana"/>
                <a:cs typeface="Verdana"/>
              </a:rPr>
              <a:t>Cloud</a:t>
            </a:r>
            <a:r>
              <a:rPr dirty="0" sz="1200" spc="-160">
                <a:latin typeface="Verdana"/>
                <a:cs typeface="Verdana"/>
              </a:rPr>
              <a:t> </a:t>
            </a:r>
            <a:r>
              <a:rPr dirty="0" sz="1200" spc="-80">
                <a:latin typeface="Verdana"/>
                <a:cs typeface="Verdana"/>
              </a:rPr>
              <a:t>Drive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44979" y="1026388"/>
            <a:ext cx="39331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19854" algn="l"/>
              </a:tabLst>
            </a:pPr>
            <a:r>
              <a:rPr dirty="0" u="heavy" sz="1200">
                <a:uFill>
                  <a:solidFill>
                    <a:srgbClr val="F99C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87316" y="1026388"/>
            <a:ext cx="12426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5">
                <a:latin typeface="Verdana"/>
                <a:cs typeface="Verdana"/>
              </a:rPr>
              <a:t>AWS</a:t>
            </a:r>
            <a:r>
              <a:rPr dirty="0" sz="1200" spc="-195">
                <a:latin typeface="Verdana"/>
                <a:cs typeface="Verdana"/>
              </a:rPr>
              <a:t> </a:t>
            </a:r>
            <a:r>
              <a:rPr dirty="0" sz="1200" spc="-75">
                <a:latin typeface="Verdana"/>
                <a:cs typeface="Verdana"/>
              </a:rPr>
              <a:t>Presentation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678329" y="1026388"/>
            <a:ext cx="5937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99C00"/>
                </a:solidFill>
                <a:latin typeface="Verdana"/>
                <a:cs typeface="Verdana"/>
              </a:rPr>
              <a:t>Page</a:t>
            </a:r>
            <a:r>
              <a:rPr dirty="0" sz="1200" spc="-185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1200" spc="-25">
                <a:solidFill>
                  <a:srgbClr val="F99C00"/>
                </a:solidFill>
                <a:latin typeface="Verdana"/>
                <a:cs typeface="Verdana"/>
              </a:rPr>
              <a:t>08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6000" y="8980804"/>
            <a:ext cx="1648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80">
                <a:latin typeface="Verdana"/>
                <a:cs typeface="Verdana"/>
                <a:hlinkClick r:id="rId2"/>
              </a:rPr>
              <a:t>www.yourcloudsite.com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6000" y="2087836"/>
            <a:ext cx="4002404" cy="1329055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12700" marR="5080">
              <a:lnSpc>
                <a:spcPts val="4650"/>
              </a:lnSpc>
              <a:spcBef>
                <a:spcPts val="1055"/>
              </a:spcBef>
            </a:pPr>
            <a:r>
              <a:rPr dirty="0" sz="4650" spc="-20">
                <a:solidFill>
                  <a:srgbClr val="202A20"/>
                </a:solidFill>
                <a:latin typeface="Verdana"/>
                <a:cs typeface="Verdana"/>
              </a:rPr>
              <a:t>COST </a:t>
            </a:r>
            <a:r>
              <a:rPr dirty="0" sz="4650" spc="-320">
                <a:solidFill>
                  <a:srgbClr val="202A20"/>
                </a:solidFill>
                <a:latin typeface="Verdana"/>
                <a:cs typeface="Verdana"/>
              </a:rPr>
              <a:t>O</a:t>
            </a:r>
            <a:r>
              <a:rPr dirty="0" sz="4650" spc="-310">
                <a:solidFill>
                  <a:srgbClr val="202A20"/>
                </a:solidFill>
                <a:latin typeface="Verdana"/>
                <a:cs typeface="Verdana"/>
              </a:rPr>
              <a:t>P</a:t>
            </a:r>
            <a:r>
              <a:rPr dirty="0" sz="4650" spc="-320">
                <a:solidFill>
                  <a:srgbClr val="202A20"/>
                </a:solidFill>
                <a:latin typeface="Verdana"/>
                <a:cs typeface="Verdana"/>
              </a:rPr>
              <a:t>T</a:t>
            </a:r>
            <a:r>
              <a:rPr dirty="0" sz="4650" spc="-465">
                <a:solidFill>
                  <a:srgbClr val="202A20"/>
                </a:solidFill>
                <a:latin typeface="Verdana"/>
                <a:cs typeface="Verdana"/>
              </a:rPr>
              <a:t>I</a:t>
            </a:r>
            <a:r>
              <a:rPr dirty="0" sz="4650" spc="-310">
                <a:solidFill>
                  <a:srgbClr val="202A20"/>
                </a:solidFill>
                <a:latin typeface="Verdana"/>
                <a:cs typeface="Verdana"/>
              </a:rPr>
              <a:t>M</a:t>
            </a:r>
            <a:r>
              <a:rPr dirty="0" sz="4650" spc="-465">
                <a:solidFill>
                  <a:srgbClr val="202A20"/>
                </a:solidFill>
                <a:latin typeface="Verdana"/>
                <a:cs typeface="Verdana"/>
              </a:rPr>
              <a:t>I</a:t>
            </a:r>
            <a:r>
              <a:rPr dirty="0" sz="4650" spc="-350">
                <a:solidFill>
                  <a:srgbClr val="202A20"/>
                </a:solidFill>
                <a:latin typeface="Verdana"/>
                <a:cs typeface="Verdana"/>
              </a:rPr>
              <a:t>Z</a:t>
            </a:r>
            <a:r>
              <a:rPr dirty="0" sz="4650" spc="-735">
                <a:solidFill>
                  <a:srgbClr val="202A20"/>
                </a:solidFill>
                <a:latin typeface="Verdana"/>
                <a:cs typeface="Verdana"/>
              </a:rPr>
              <a:t>A</a:t>
            </a:r>
            <a:r>
              <a:rPr dirty="0" sz="4650" spc="-320">
                <a:solidFill>
                  <a:srgbClr val="202A20"/>
                </a:solidFill>
                <a:latin typeface="Verdana"/>
                <a:cs typeface="Verdana"/>
              </a:rPr>
              <a:t>T</a:t>
            </a:r>
            <a:r>
              <a:rPr dirty="0" sz="4650" spc="-465">
                <a:solidFill>
                  <a:srgbClr val="202A20"/>
                </a:solidFill>
                <a:latin typeface="Verdana"/>
                <a:cs typeface="Verdana"/>
              </a:rPr>
              <a:t>I</a:t>
            </a:r>
            <a:r>
              <a:rPr dirty="0" sz="4650" spc="-320">
                <a:solidFill>
                  <a:srgbClr val="202A20"/>
                </a:solidFill>
                <a:latin typeface="Verdana"/>
                <a:cs typeface="Verdana"/>
              </a:rPr>
              <a:t>O</a:t>
            </a:r>
            <a:r>
              <a:rPr dirty="0" sz="4650" spc="-90">
                <a:solidFill>
                  <a:srgbClr val="202A20"/>
                </a:solidFill>
                <a:latin typeface="Verdana"/>
                <a:cs typeface="Verdana"/>
              </a:rPr>
              <a:t>N</a:t>
            </a:r>
            <a:endParaRPr sz="46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6000" y="5533120"/>
            <a:ext cx="5064760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200" spc="-95">
                <a:latin typeface="Verdana"/>
                <a:cs typeface="Verdana"/>
              </a:rPr>
              <a:t>Optimizing</a:t>
            </a:r>
            <a:r>
              <a:rPr dirty="0" sz="1200" spc="-180">
                <a:latin typeface="Verdana"/>
                <a:cs typeface="Verdana"/>
              </a:rPr>
              <a:t> </a:t>
            </a:r>
            <a:r>
              <a:rPr dirty="0" sz="1200" spc="-45">
                <a:latin typeface="Verdana"/>
                <a:cs typeface="Verdana"/>
              </a:rPr>
              <a:t>cloud</a:t>
            </a:r>
            <a:r>
              <a:rPr dirty="0" sz="1200" spc="-180">
                <a:latin typeface="Verdana"/>
                <a:cs typeface="Verdana"/>
              </a:rPr>
              <a:t> </a:t>
            </a:r>
            <a:r>
              <a:rPr dirty="0" sz="1200" spc="-65">
                <a:latin typeface="Verdana"/>
                <a:cs typeface="Verdana"/>
              </a:rPr>
              <a:t>storage</a:t>
            </a:r>
            <a:r>
              <a:rPr dirty="0" sz="1200" spc="-180">
                <a:latin typeface="Verdana"/>
                <a:cs typeface="Verdana"/>
              </a:rPr>
              <a:t> </a:t>
            </a:r>
            <a:r>
              <a:rPr dirty="0" sz="1200" spc="-20">
                <a:latin typeface="Verdana"/>
                <a:cs typeface="Verdana"/>
              </a:rPr>
              <a:t>costs</a:t>
            </a:r>
            <a:r>
              <a:rPr dirty="0" sz="1200" spc="-180">
                <a:latin typeface="Verdana"/>
                <a:cs typeface="Verdana"/>
              </a:rPr>
              <a:t> </a:t>
            </a:r>
            <a:r>
              <a:rPr dirty="0" sz="1200" spc="-40">
                <a:latin typeface="Verdana"/>
                <a:cs typeface="Verdana"/>
              </a:rPr>
              <a:t>is</a:t>
            </a:r>
            <a:r>
              <a:rPr dirty="0" sz="1200" spc="-180">
                <a:latin typeface="Verdana"/>
                <a:cs typeface="Verdana"/>
              </a:rPr>
              <a:t> </a:t>
            </a:r>
            <a:r>
              <a:rPr dirty="0" sz="1200" spc="-65">
                <a:latin typeface="Verdana"/>
                <a:cs typeface="Verdana"/>
              </a:rPr>
              <a:t>essential</a:t>
            </a:r>
            <a:r>
              <a:rPr dirty="0" sz="1200" spc="-180">
                <a:latin typeface="Verdana"/>
                <a:cs typeface="Verdana"/>
              </a:rPr>
              <a:t> </a:t>
            </a:r>
            <a:r>
              <a:rPr dirty="0" sz="1200" spc="-65">
                <a:latin typeface="Verdana"/>
                <a:cs typeface="Verdana"/>
              </a:rPr>
              <a:t>for</a:t>
            </a:r>
            <a:r>
              <a:rPr dirty="0" sz="1200" spc="-180">
                <a:latin typeface="Verdana"/>
                <a:cs typeface="Verdana"/>
              </a:rPr>
              <a:t> </a:t>
            </a:r>
            <a:r>
              <a:rPr dirty="0" sz="1200" spc="-40">
                <a:latin typeface="Verdana"/>
                <a:cs typeface="Verdana"/>
              </a:rPr>
              <a:t>a</a:t>
            </a:r>
            <a:r>
              <a:rPr dirty="0" sz="1200" spc="-180">
                <a:latin typeface="Verdana"/>
                <a:cs typeface="Verdana"/>
              </a:rPr>
              <a:t> </a:t>
            </a:r>
            <a:r>
              <a:rPr dirty="0" sz="1200" spc="-80">
                <a:latin typeface="Verdana"/>
                <a:cs typeface="Verdana"/>
              </a:rPr>
              <a:t>sustainable</a:t>
            </a:r>
            <a:r>
              <a:rPr dirty="0" sz="1200" spc="-180">
                <a:latin typeface="Verdana"/>
                <a:cs typeface="Verdana"/>
              </a:rPr>
              <a:t> </a:t>
            </a:r>
            <a:r>
              <a:rPr dirty="0" sz="1200" spc="-65">
                <a:latin typeface="Verdana"/>
                <a:cs typeface="Verdana"/>
              </a:rPr>
              <a:t>personal</a:t>
            </a:r>
            <a:r>
              <a:rPr dirty="0" sz="1200" spc="-180">
                <a:latin typeface="Verdana"/>
                <a:cs typeface="Verdana"/>
              </a:rPr>
              <a:t> </a:t>
            </a:r>
            <a:r>
              <a:rPr dirty="0" sz="1200" spc="-45">
                <a:latin typeface="Verdana"/>
                <a:cs typeface="Verdana"/>
              </a:rPr>
              <a:t>cloud</a:t>
            </a:r>
            <a:r>
              <a:rPr dirty="0" sz="1200">
                <a:latin typeface="Verdana"/>
                <a:cs typeface="Verdana"/>
              </a:rPr>
              <a:t> </a:t>
            </a:r>
            <a:r>
              <a:rPr dirty="0" sz="1200" spc="-110">
                <a:latin typeface="Verdana"/>
                <a:cs typeface="Verdana"/>
              </a:rPr>
              <a:t>drive.</a:t>
            </a:r>
            <a:r>
              <a:rPr dirty="0" sz="1200" spc="-65">
                <a:latin typeface="Verdana"/>
                <a:cs typeface="Verdana"/>
              </a:rPr>
              <a:t> </a:t>
            </a:r>
            <a:r>
              <a:rPr dirty="0" sz="1200" spc="-60">
                <a:latin typeface="Verdana"/>
                <a:cs typeface="Verdana"/>
              </a:rPr>
              <a:t>By</a:t>
            </a:r>
            <a:r>
              <a:rPr dirty="0" sz="1200" spc="-65">
                <a:latin typeface="Verdana"/>
                <a:cs typeface="Verdana"/>
              </a:rPr>
              <a:t> </a:t>
            </a:r>
            <a:r>
              <a:rPr dirty="0" sz="1200" spc="-90">
                <a:latin typeface="Verdana"/>
                <a:cs typeface="Verdana"/>
              </a:rPr>
              <a:t>leveraging</a:t>
            </a:r>
            <a:r>
              <a:rPr dirty="0" sz="1200" spc="-65">
                <a:latin typeface="Verdana"/>
                <a:cs typeface="Verdana"/>
              </a:rPr>
              <a:t> </a:t>
            </a:r>
            <a:r>
              <a:rPr dirty="0" sz="1200" spc="-50">
                <a:latin typeface="Verdana"/>
                <a:cs typeface="Verdana"/>
              </a:rPr>
              <a:t>AWS</a:t>
            </a:r>
            <a:r>
              <a:rPr dirty="0" sz="1200" spc="-65">
                <a:latin typeface="Verdana"/>
                <a:cs typeface="Verdana"/>
              </a:rPr>
              <a:t> </a:t>
            </a:r>
            <a:r>
              <a:rPr dirty="0" sz="1200" spc="-35">
                <a:latin typeface="Verdana"/>
                <a:cs typeface="Verdana"/>
              </a:rPr>
              <a:t>S3</a:t>
            </a:r>
            <a:r>
              <a:rPr dirty="0" sz="1200" spc="-65">
                <a:latin typeface="Verdana"/>
                <a:cs typeface="Verdana"/>
              </a:rPr>
              <a:t> storage </a:t>
            </a:r>
            <a:r>
              <a:rPr dirty="0" sz="1200" spc="-25">
                <a:latin typeface="Verdana"/>
                <a:cs typeface="Verdana"/>
              </a:rPr>
              <a:t>classes</a:t>
            </a:r>
            <a:r>
              <a:rPr dirty="0" sz="1200" spc="-65">
                <a:latin typeface="Verdana"/>
                <a:cs typeface="Verdana"/>
              </a:rPr>
              <a:t> </a:t>
            </a:r>
            <a:r>
              <a:rPr dirty="0" sz="1200" spc="-75">
                <a:latin typeface="Verdana"/>
                <a:cs typeface="Verdana"/>
              </a:rPr>
              <a:t>and</a:t>
            </a:r>
            <a:r>
              <a:rPr dirty="0" sz="1200" spc="-65">
                <a:latin typeface="Verdana"/>
                <a:cs typeface="Verdana"/>
              </a:rPr>
              <a:t> </a:t>
            </a:r>
            <a:r>
              <a:rPr dirty="0" sz="1200" spc="-45">
                <a:latin typeface="Verdana"/>
                <a:cs typeface="Verdana"/>
              </a:rPr>
              <a:t>lifecycle</a:t>
            </a:r>
            <a:r>
              <a:rPr dirty="0" sz="1200" spc="-65">
                <a:latin typeface="Verdana"/>
                <a:cs typeface="Verdana"/>
              </a:rPr>
              <a:t> </a:t>
            </a:r>
            <a:r>
              <a:rPr dirty="0" sz="1200" spc="-55">
                <a:latin typeface="Verdana"/>
                <a:cs typeface="Verdana"/>
              </a:rPr>
              <a:t>policies,</a:t>
            </a:r>
            <a:r>
              <a:rPr dirty="0" sz="1200" spc="-65">
                <a:latin typeface="Verdana"/>
                <a:cs typeface="Verdana"/>
              </a:rPr>
              <a:t> </a:t>
            </a:r>
            <a:r>
              <a:rPr dirty="0" sz="1200" spc="-60">
                <a:latin typeface="Verdana"/>
                <a:cs typeface="Verdana"/>
              </a:rPr>
              <a:t>users</a:t>
            </a:r>
            <a:r>
              <a:rPr dirty="0" sz="1200" spc="25">
                <a:latin typeface="Verdana"/>
                <a:cs typeface="Verdana"/>
              </a:rPr>
              <a:t> </a:t>
            </a:r>
            <a:r>
              <a:rPr dirty="0" sz="1200" spc="-50">
                <a:latin typeface="Verdana"/>
                <a:cs typeface="Verdana"/>
              </a:rPr>
              <a:t>can</a:t>
            </a:r>
            <a:r>
              <a:rPr dirty="0" sz="1200" spc="275">
                <a:latin typeface="Verdana"/>
                <a:cs typeface="Verdana"/>
              </a:rPr>
              <a:t> </a:t>
            </a:r>
            <a:r>
              <a:rPr dirty="0" sz="1200" spc="-85">
                <a:latin typeface="Verdana"/>
                <a:cs typeface="Verdana"/>
              </a:rPr>
              <a:t>significantly</a:t>
            </a:r>
            <a:r>
              <a:rPr dirty="0" sz="1200" spc="275">
                <a:latin typeface="Verdana"/>
                <a:cs typeface="Verdana"/>
              </a:rPr>
              <a:t> </a:t>
            </a:r>
            <a:r>
              <a:rPr dirty="0" sz="1200" spc="-55">
                <a:latin typeface="Verdana"/>
                <a:cs typeface="Verdana"/>
              </a:rPr>
              <a:t>reduce</a:t>
            </a:r>
            <a:r>
              <a:rPr dirty="0" sz="1200" spc="275">
                <a:latin typeface="Verdana"/>
                <a:cs typeface="Verdana"/>
              </a:rPr>
              <a:t> </a:t>
            </a:r>
            <a:r>
              <a:rPr dirty="0" sz="1200" spc="-50">
                <a:latin typeface="Verdana"/>
                <a:cs typeface="Verdana"/>
              </a:rPr>
              <a:t>expenses</a:t>
            </a:r>
            <a:r>
              <a:rPr dirty="0" sz="1200" spc="275">
                <a:latin typeface="Verdana"/>
                <a:cs typeface="Verdana"/>
              </a:rPr>
              <a:t> </a:t>
            </a:r>
            <a:r>
              <a:rPr dirty="0" sz="1200" spc="-75">
                <a:latin typeface="Verdana"/>
                <a:cs typeface="Verdana"/>
              </a:rPr>
              <a:t>while</a:t>
            </a:r>
            <a:r>
              <a:rPr dirty="0" sz="1200" spc="275">
                <a:latin typeface="Verdana"/>
                <a:cs typeface="Verdana"/>
              </a:rPr>
              <a:t> </a:t>
            </a:r>
            <a:r>
              <a:rPr dirty="0" sz="1200" spc="-114">
                <a:latin typeface="Verdana"/>
                <a:cs typeface="Verdana"/>
              </a:rPr>
              <a:t>maintaining</a:t>
            </a:r>
            <a:r>
              <a:rPr dirty="0" sz="1200" spc="275">
                <a:latin typeface="Verdana"/>
                <a:cs typeface="Verdana"/>
              </a:rPr>
              <a:t> </a:t>
            </a:r>
            <a:r>
              <a:rPr dirty="0" sz="1200" spc="-75">
                <a:latin typeface="Verdana"/>
                <a:cs typeface="Verdana"/>
              </a:rPr>
              <a:t>performance</a:t>
            </a:r>
            <a:r>
              <a:rPr dirty="0" sz="1200" spc="275">
                <a:latin typeface="Verdana"/>
                <a:cs typeface="Verdana"/>
              </a:rPr>
              <a:t> </a:t>
            </a:r>
            <a:r>
              <a:rPr dirty="0" sz="1200" spc="-75">
                <a:latin typeface="Verdana"/>
                <a:cs typeface="Verdana"/>
              </a:rPr>
              <a:t>and</a:t>
            </a:r>
            <a:r>
              <a:rPr dirty="0" sz="1200">
                <a:latin typeface="Verdana"/>
                <a:cs typeface="Verdana"/>
              </a:rPr>
              <a:t> </a:t>
            </a:r>
            <a:r>
              <a:rPr dirty="0" sz="1200" spc="-100">
                <a:latin typeface="Verdana"/>
                <a:cs typeface="Verdana"/>
              </a:rPr>
              <a:t>reliability.</a:t>
            </a:r>
            <a:r>
              <a:rPr dirty="0" sz="1200" spc="-210">
                <a:latin typeface="Verdana"/>
                <a:cs typeface="Verdana"/>
              </a:rPr>
              <a:t> </a:t>
            </a:r>
            <a:r>
              <a:rPr dirty="0" sz="1200" spc="-50">
                <a:latin typeface="Verdana"/>
                <a:cs typeface="Verdana"/>
              </a:rPr>
              <a:t>The</a:t>
            </a:r>
            <a:r>
              <a:rPr dirty="0" sz="1200" spc="-210">
                <a:latin typeface="Verdana"/>
                <a:cs typeface="Verdana"/>
              </a:rPr>
              <a:t> </a:t>
            </a:r>
            <a:r>
              <a:rPr dirty="0" sz="1200" spc="-120">
                <a:latin typeface="Verdana"/>
                <a:cs typeface="Verdana"/>
              </a:rPr>
              <a:t>pay-</a:t>
            </a:r>
            <a:r>
              <a:rPr dirty="0" sz="1200" spc="-110">
                <a:latin typeface="Verdana"/>
                <a:cs typeface="Verdana"/>
              </a:rPr>
              <a:t>as-</a:t>
            </a:r>
            <a:r>
              <a:rPr dirty="0" sz="1200" spc="-120">
                <a:latin typeface="Verdana"/>
                <a:cs typeface="Verdana"/>
              </a:rPr>
              <a:t>you-</a:t>
            </a:r>
            <a:r>
              <a:rPr dirty="0" sz="1200" spc="-10">
                <a:latin typeface="Verdana"/>
                <a:cs typeface="Verdana"/>
              </a:rPr>
              <a:t>go</a:t>
            </a:r>
            <a:r>
              <a:rPr dirty="0" sz="1200" spc="-210">
                <a:latin typeface="Verdana"/>
                <a:cs typeface="Verdana"/>
              </a:rPr>
              <a:t> </a:t>
            </a:r>
            <a:r>
              <a:rPr dirty="0" sz="1200" spc="-60">
                <a:latin typeface="Verdana"/>
                <a:cs typeface="Verdana"/>
              </a:rPr>
              <a:t>model</a:t>
            </a:r>
            <a:r>
              <a:rPr dirty="0" sz="1200" spc="-210">
                <a:latin typeface="Verdana"/>
                <a:cs typeface="Verdana"/>
              </a:rPr>
              <a:t> </a:t>
            </a:r>
            <a:r>
              <a:rPr dirty="0" sz="1200" spc="-70">
                <a:latin typeface="Verdana"/>
                <a:cs typeface="Verdana"/>
              </a:rPr>
              <a:t>ensures</a:t>
            </a:r>
            <a:r>
              <a:rPr dirty="0" sz="1200" spc="-210">
                <a:latin typeface="Verdana"/>
                <a:cs typeface="Verdana"/>
              </a:rPr>
              <a:t> </a:t>
            </a:r>
            <a:r>
              <a:rPr dirty="0" sz="1200" spc="-75">
                <a:latin typeface="Verdana"/>
                <a:cs typeface="Verdana"/>
              </a:rPr>
              <a:t>you</a:t>
            </a:r>
            <a:r>
              <a:rPr dirty="0" sz="1200" spc="-210">
                <a:latin typeface="Verdana"/>
                <a:cs typeface="Verdana"/>
              </a:rPr>
              <a:t> </a:t>
            </a:r>
            <a:r>
              <a:rPr dirty="0" sz="1200" spc="-70">
                <a:latin typeface="Verdana"/>
                <a:cs typeface="Verdana"/>
              </a:rPr>
              <a:t>only</a:t>
            </a:r>
            <a:r>
              <a:rPr dirty="0" sz="1200" spc="-210">
                <a:latin typeface="Verdana"/>
                <a:cs typeface="Verdana"/>
              </a:rPr>
              <a:t> </a:t>
            </a:r>
            <a:r>
              <a:rPr dirty="0" sz="1200" spc="-70">
                <a:latin typeface="Verdana"/>
                <a:cs typeface="Verdana"/>
              </a:rPr>
              <a:t>pay</a:t>
            </a:r>
            <a:r>
              <a:rPr dirty="0" sz="1200" spc="-210">
                <a:latin typeface="Verdana"/>
                <a:cs typeface="Verdana"/>
              </a:rPr>
              <a:t> </a:t>
            </a:r>
            <a:r>
              <a:rPr dirty="0" sz="1200" spc="-65">
                <a:latin typeface="Verdana"/>
                <a:cs typeface="Verdana"/>
              </a:rPr>
              <a:t>for</a:t>
            </a:r>
            <a:r>
              <a:rPr dirty="0" sz="1200" spc="-210">
                <a:latin typeface="Verdana"/>
                <a:cs typeface="Verdana"/>
              </a:rPr>
              <a:t> </a:t>
            </a:r>
            <a:r>
              <a:rPr dirty="0" sz="1200" spc="-90">
                <a:latin typeface="Verdana"/>
                <a:cs typeface="Verdana"/>
              </a:rPr>
              <a:t>what</a:t>
            </a:r>
            <a:r>
              <a:rPr dirty="0" sz="1200" spc="-210">
                <a:latin typeface="Verdana"/>
                <a:cs typeface="Verdana"/>
              </a:rPr>
              <a:t> </a:t>
            </a:r>
            <a:r>
              <a:rPr dirty="0" sz="1200" spc="-75">
                <a:latin typeface="Verdana"/>
                <a:cs typeface="Verdana"/>
              </a:rPr>
              <a:t>you</a:t>
            </a:r>
            <a:r>
              <a:rPr dirty="0" sz="1200" spc="-210">
                <a:latin typeface="Verdana"/>
                <a:cs typeface="Verdana"/>
              </a:rPr>
              <a:t> </a:t>
            </a:r>
            <a:r>
              <a:rPr dirty="0" sz="1200" spc="-85">
                <a:latin typeface="Verdana"/>
                <a:cs typeface="Verdana"/>
              </a:rPr>
              <a:t>use.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66870" y="7556374"/>
            <a:ext cx="32518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5">
                <a:solidFill>
                  <a:srgbClr val="FFFFFF"/>
                </a:solidFill>
                <a:latin typeface="Verdana"/>
                <a:cs typeface="Verdana"/>
              </a:rPr>
              <a:t>S3</a:t>
            </a:r>
            <a:r>
              <a:rPr dirty="0" sz="1400" spc="-20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FFFFFF"/>
                </a:solidFill>
                <a:latin typeface="Verdana"/>
                <a:cs typeface="Verdana"/>
              </a:rPr>
              <a:t>Standard</a:t>
            </a:r>
            <a:r>
              <a:rPr dirty="0" sz="1400" spc="-20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1400" spc="-2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FFFFFF"/>
                </a:solidFill>
                <a:latin typeface="Verdana"/>
                <a:cs typeface="Verdana"/>
              </a:rPr>
              <a:t>frequently</a:t>
            </a:r>
            <a:r>
              <a:rPr dirty="0" sz="1400" spc="-20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accessed</a:t>
            </a:r>
            <a:r>
              <a:rPr dirty="0" sz="1400" spc="-20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files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155645" y="7556374"/>
            <a:ext cx="27806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65">
                <a:solidFill>
                  <a:srgbClr val="FFFFFF"/>
                </a:solidFill>
                <a:latin typeface="Verdana"/>
                <a:cs typeface="Verdana"/>
              </a:rPr>
              <a:t>Lifecycle</a:t>
            </a:r>
            <a:r>
              <a:rPr dirty="0" sz="1400" spc="-1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FFFFFF"/>
                </a:solidFill>
                <a:latin typeface="Verdana"/>
                <a:cs typeface="Verdana"/>
              </a:rPr>
              <a:t>policies</a:t>
            </a:r>
            <a:r>
              <a:rPr dirty="0" sz="1400" spc="-1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FFFFFF"/>
                </a:solidFill>
                <a:latin typeface="Verdana"/>
                <a:cs typeface="Verdana"/>
              </a:rPr>
              <a:t>automate</a:t>
            </a:r>
            <a:r>
              <a:rPr dirty="0" sz="1400" spc="-1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FFFFFF"/>
                </a:solidFill>
                <a:latin typeface="Verdana"/>
                <a:cs typeface="Verdana"/>
              </a:rPr>
              <a:t>archival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66870" y="7979837"/>
            <a:ext cx="348742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5">
                <a:solidFill>
                  <a:srgbClr val="FFFFFF"/>
                </a:solidFill>
                <a:latin typeface="Verdana"/>
                <a:cs typeface="Verdana"/>
              </a:rPr>
              <a:t>S3</a:t>
            </a:r>
            <a:r>
              <a:rPr dirty="0" sz="1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35">
                <a:solidFill>
                  <a:srgbClr val="FFFFFF"/>
                </a:solidFill>
                <a:latin typeface="Verdana"/>
                <a:cs typeface="Verdana"/>
              </a:rPr>
              <a:t>Infrequent</a:t>
            </a:r>
            <a:r>
              <a:rPr dirty="0" sz="1400" spc="-2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Access</a:t>
            </a:r>
            <a:r>
              <a:rPr dirty="0" sz="1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&amp;</a:t>
            </a:r>
            <a:r>
              <a:rPr dirty="0" sz="1400" spc="-2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FFFFFF"/>
                </a:solidFill>
                <a:latin typeface="Verdana"/>
                <a:cs typeface="Verdana"/>
              </a:rPr>
              <a:t>Glacier</a:t>
            </a:r>
            <a:r>
              <a:rPr dirty="0" sz="1400" spc="-2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1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FFFFFF"/>
                </a:solidFill>
                <a:latin typeface="Verdana"/>
                <a:cs typeface="Verdana"/>
              </a:rPr>
              <a:t>cold</a:t>
            </a:r>
            <a:r>
              <a:rPr dirty="0" sz="1400" spc="-2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155645" y="7979837"/>
            <a:ext cx="25419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45">
                <a:solidFill>
                  <a:srgbClr val="FFFFFF"/>
                </a:solidFill>
                <a:latin typeface="Verdana"/>
                <a:cs typeface="Verdana"/>
              </a:rPr>
              <a:t>Pay-</a:t>
            </a:r>
            <a:r>
              <a:rPr dirty="0" sz="1400" spc="-130">
                <a:solidFill>
                  <a:srgbClr val="FFFFFF"/>
                </a:solidFill>
                <a:latin typeface="Verdana"/>
                <a:cs typeface="Verdana"/>
              </a:rPr>
              <a:t>as-</a:t>
            </a:r>
            <a:r>
              <a:rPr dirty="0" sz="1400" spc="-145">
                <a:solidFill>
                  <a:srgbClr val="FFFFFF"/>
                </a:solidFill>
                <a:latin typeface="Verdana"/>
                <a:cs typeface="Verdana"/>
              </a:rPr>
              <a:t>you-</a:t>
            </a:r>
            <a:r>
              <a:rPr dirty="0" sz="1400" spc="-160">
                <a:solidFill>
                  <a:srgbClr val="FFFFFF"/>
                </a:solidFill>
                <a:latin typeface="Verdana"/>
                <a:cs typeface="Verdana"/>
              </a:rPr>
              <a:t>go:</a:t>
            </a:r>
            <a:r>
              <a:rPr dirty="0" sz="1400" spc="-1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FFFFFF"/>
                </a:solidFill>
                <a:latin typeface="Verdana"/>
                <a:cs typeface="Verdana"/>
              </a:rPr>
              <a:t>zero</a:t>
            </a:r>
            <a:r>
              <a:rPr dirty="0" sz="1400" spc="-1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20">
                <a:solidFill>
                  <a:srgbClr val="FFFFFF"/>
                </a:solidFill>
                <a:latin typeface="Verdana"/>
                <a:cs typeface="Verdana"/>
              </a:rPr>
              <a:t>upfront</a:t>
            </a:r>
            <a:r>
              <a:rPr dirty="0" sz="1400" spc="-1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Verdana"/>
                <a:cs typeface="Verdana"/>
              </a:rPr>
              <a:t>cost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16000" y="4705968"/>
            <a:ext cx="2094230" cy="2755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00" spc="-45">
                <a:solidFill>
                  <a:srgbClr val="F99C00"/>
                </a:solidFill>
                <a:latin typeface="Verdana"/>
                <a:cs typeface="Verdana"/>
              </a:rPr>
              <a:t>AWS</a:t>
            </a:r>
            <a:r>
              <a:rPr dirty="0" sz="1600" spc="-245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1600" spc="-80">
                <a:solidFill>
                  <a:srgbClr val="F99C00"/>
                </a:solidFill>
                <a:latin typeface="Verdana"/>
                <a:cs typeface="Verdana"/>
              </a:rPr>
              <a:t>Storage</a:t>
            </a:r>
            <a:r>
              <a:rPr dirty="0" sz="1600" spc="-240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1600" spc="-80">
                <a:solidFill>
                  <a:srgbClr val="F99C00"/>
                </a:solidFill>
                <a:latin typeface="Verdana"/>
                <a:cs typeface="Verdana"/>
              </a:rPr>
              <a:t>Strategy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15823" y="6753581"/>
            <a:ext cx="989901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75890" algn="l"/>
                <a:tab pos="9885045" algn="l"/>
              </a:tabLst>
            </a:pPr>
            <a:r>
              <a:rPr dirty="0" sz="1400" spc="-35">
                <a:solidFill>
                  <a:srgbClr val="F99C00"/>
                </a:solidFill>
                <a:latin typeface="Verdana"/>
                <a:cs typeface="Verdana"/>
              </a:rPr>
              <a:t>Cost</a:t>
            </a:r>
            <a:r>
              <a:rPr dirty="0" sz="1400" spc="-210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F99C00"/>
                </a:solidFill>
                <a:latin typeface="Verdana"/>
                <a:cs typeface="Verdana"/>
              </a:rPr>
              <a:t>Savings</a:t>
            </a:r>
            <a:r>
              <a:rPr dirty="0" sz="1400" spc="-210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F99C00"/>
                </a:solidFill>
                <a:latin typeface="Verdana"/>
                <a:cs typeface="Verdana"/>
              </a:rPr>
              <a:t>by</a:t>
            </a:r>
            <a:r>
              <a:rPr dirty="0" sz="1400" spc="-210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F99C00"/>
                </a:solidFill>
                <a:latin typeface="Verdana"/>
                <a:cs typeface="Verdana"/>
              </a:rPr>
              <a:t>Storage</a:t>
            </a:r>
            <a:r>
              <a:rPr dirty="0" sz="1400" spc="-210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F99C00"/>
                </a:solidFill>
                <a:latin typeface="Verdana"/>
                <a:cs typeface="Verdana"/>
              </a:rPr>
              <a:t>Class</a:t>
            </a:r>
            <a:r>
              <a:rPr dirty="0" sz="1400">
                <a:solidFill>
                  <a:srgbClr val="F99C00"/>
                </a:solidFill>
                <a:latin typeface="Verdana"/>
                <a:cs typeface="Verdana"/>
              </a:rPr>
              <a:t>	</a:t>
            </a:r>
            <a:r>
              <a:rPr dirty="0" u="heavy" sz="1400">
                <a:solidFill>
                  <a:srgbClr val="F99C00"/>
                </a:solidFill>
                <a:uFill>
                  <a:solidFill>
                    <a:srgbClr val="F99C00"/>
                  </a:solidFill>
                </a:uFill>
                <a:latin typeface="Times New Roman"/>
                <a:cs typeface="Times New Roman"/>
              </a:rPr>
              <a:t>	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60472" y="2013826"/>
            <a:ext cx="178244" cy="17824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815140" y="1955136"/>
            <a:ext cx="23126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Standard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storage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cost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(USD)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39771" y="2013826"/>
            <a:ext cx="178244" cy="17824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0684889" y="1955136"/>
            <a:ext cx="30060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</a:rPr>
              <a:t>Infrequent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Access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storage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cost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(USD)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12445" y="2013826"/>
            <a:ext cx="178244" cy="17824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4267112" y="1955136"/>
            <a:ext cx="21539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Glacier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storage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cost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(USD)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261783" y="2423788"/>
            <a:ext cx="9965055" cy="0"/>
          </a:xfrm>
          <a:custGeom>
            <a:avLst/>
            <a:gdLst/>
            <a:ahLst/>
            <a:cxnLst/>
            <a:rect l="l" t="t" r="r" b="b"/>
            <a:pathLst>
              <a:path w="9965055" h="0">
                <a:moveTo>
                  <a:pt x="0" y="0"/>
                </a:moveTo>
                <a:lnTo>
                  <a:pt x="9964499" y="0"/>
                </a:lnTo>
              </a:path>
            </a:pathLst>
          </a:custGeom>
          <a:ln w="95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5" name="object 25"/>
          <p:cNvGrpSpPr/>
          <p:nvPr/>
        </p:nvGrpSpPr>
        <p:grpSpPr>
          <a:xfrm>
            <a:off x="7261783" y="2618593"/>
            <a:ext cx="9965055" cy="3156585"/>
            <a:chOff x="7261783" y="2618593"/>
            <a:chExt cx="9965055" cy="3156585"/>
          </a:xfrm>
        </p:grpSpPr>
        <p:sp>
          <p:nvSpPr>
            <p:cNvPr id="26" name="object 26"/>
            <p:cNvSpPr/>
            <p:nvPr/>
          </p:nvSpPr>
          <p:spPr>
            <a:xfrm>
              <a:off x="7261783" y="5769841"/>
              <a:ext cx="9965055" cy="0"/>
            </a:xfrm>
            <a:custGeom>
              <a:avLst/>
              <a:gdLst/>
              <a:ahLst/>
              <a:cxnLst/>
              <a:rect l="l" t="t" r="r" b="b"/>
              <a:pathLst>
                <a:path w="9965055" h="0">
                  <a:moveTo>
                    <a:pt x="0" y="0"/>
                  </a:moveTo>
                  <a:lnTo>
                    <a:pt x="9964499" y="0"/>
                  </a:lnTo>
                </a:path>
              </a:pathLst>
            </a:custGeom>
            <a:ln w="95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261783" y="3260301"/>
              <a:ext cx="9965055" cy="1673225"/>
            </a:xfrm>
            <a:custGeom>
              <a:avLst/>
              <a:gdLst/>
              <a:ahLst/>
              <a:cxnLst/>
              <a:rect l="l" t="t" r="r" b="b"/>
              <a:pathLst>
                <a:path w="9965055" h="1673225">
                  <a:moveTo>
                    <a:pt x="0" y="1673026"/>
                  </a:moveTo>
                  <a:lnTo>
                    <a:pt x="9964499" y="1673026"/>
                  </a:lnTo>
                </a:path>
                <a:path w="9965055" h="1673225">
                  <a:moveTo>
                    <a:pt x="0" y="836513"/>
                  </a:moveTo>
                  <a:lnTo>
                    <a:pt x="9964499" y="836513"/>
                  </a:lnTo>
                </a:path>
                <a:path w="9965055" h="1673225">
                  <a:moveTo>
                    <a:pt x="0" y="0"/>
                  </a:moveTo>
                  <a:lnTo>
                    <a:pt x="9964499" y="0"/>
                  </a:lnTo>
                </a:path>
              </a:pathLst>
            </a:custGeom>
            <a:ln w="95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092158" y="2632916"/>
              <a:ext cx="8303895" cy="1380490"/>
            </a:xfrm>
            <a:custGeom>
              <a:avLst/>
              <a:gdLst/>
              <a:ahLst/>
              <a:cxnLst/>
              <a:rect l="l" t="t" r="r" b="b"/>
              <a:pathLst>
                <a:path w="8303894" h="1380489">
                  <a:moveTo>
                    <a:pt x="8303750" y="1380246"/>
                  </a:moveTo>
                  <a:lnTo>
                    <a:pt x="6642999" y="1254769"/>
                  </a:lnTo>
                  <a:lnTo>
                    <a:pt x="3321500" y="836513"/>
                  </a:lnTo>
                  <a:lnTo>
                    <a:pt x="1660749" y="585559"/>
                  </a:lnTo>
                  <a:lnTo>
                    <a:pt x="0" y="418256"/>
                  </a:lnTo>
                  <a:lnTo>
                    <a:pt x="0" y="0"/>
                  </a:lnTo>
                  <a:lnTo>
                    <a:pt x="1660749" y="209128"/>
                  </a:lnTo>
                  <a:lnTo>
                    <a:pt x="3321500" y="501907"/>
                  </a:lnTo>
                  <a:lnTo>
                    <a:pt x="4982249" y="752861"/>
                  </a:lnTo>
                  <a:lnTo>
                    <a:pt x="6642999" y="1045641"/>
                  </a:lnTo>
                  <a:lnTo>
                    <a:pt x="8303750" y="1212944"/>
                  </a:lnTo>
                  <a:lnTo>
                    <a:pt x="8303750" y="1380246"/>
                  </a:lnTo>
                  <a:close/>
                </a:path>
              </a:pathLst>
            </a:custGeom>
            <a:solidFill>
              <a:srgbClr val="F2B86A">
                <a:alpha val="6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092158" y="3051173"/>
              <a:ext cx="8303895" cy="1464310"/>
            </a:xfrm>
            <a:custGeom>
              <a:avLst/>
              <a:gdLst/>
              <a:ahLst/>
              <a:cxnLst/>
              <a:rect l="l" t="t" r="r" b="b"/>
              <a:pathLst>
                <a:path w="8303894" h="1464310">
                  <a:moveTo>
                    <a:pt x="8303750" y="1463898"/>
                  </a:moveTo>
                  <a:lnTo>
                    <a:pt x="6642999" y="1380246"/>
                  </a:lnTo>
                  <a:lnTo>
                    <a:pt x="3321500" y="1129292"/>
                  </a:lnTo>
                  <a:lnTo>
                    <a:pt x="1660749" y="961990"/>
                  </a:lnTo>
                  <a:lnTo>
                    <a:pt x="0" y="836513"/>
                  </a:lnTo>
                  <a:lnTo>
                    <a:pt x="0" y="0"/>
                  </a:lnTo>
                  <a:lnTo>
                    <a:pt x="1660749" y="167302"/>
                  </a:lnTo>
                  <a:lnTo>
                    <a:pt x="3321500" y="418256"/>
                  </a:lnTo>
                  <a:lnTo>
                    <a:pt x="6642999" y="836513"/>
                  </a:lnTo>
                  <a:lnTo>
                    <a:pt x="8303750" y="961990"/>
                  </a:lnTo>
                  <a:lnTo>
                    <a:pt x="8303750" y="1463898"/>
                  </a:lnTo>
                  <a:close/>
                </a:path>
              </a:pathLst>
            </a:custGeom>
            <a:solidFill>
              <a:srgbClr val="AE8CF5">
                <a:alpha val="6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092158" y="3887686"/>
              <a:ext cx="8303895" cy="1882775"/>
            </a:xfrm>
            <a:custGeom>
              <a:avLst/>
              <a:gdLst/>
              <a:ahLst/>
              <a:cxnLst/>
              <a:rect l="l" t="t" r="r" b="b"/>
              <a:pathLst>
                <a:path w="8303894" h="1882775">
                  <a:moveTo>
                    <a:pt x="8303750" y="1882154"/>
                  </a:moveTo>
                  <a:lnTo>
                    <a:pt x="0" y="1882154"/>
                  </a:lnTo>
                  <a:lnTo>
                    <a:pt x="0" y="0"/>
                  </a:lnTo>
                  <a:lnTo>
                    <a:pt x="1660749" y="125476"/>
                  </a:lnTo>
                  <a:lnTo>
                    <a:pt x="3321500" y="292779"/>
                  </a:lnTo>
                  <a:lnTo>
                    <a:pt x="6642999" y="543733"/>
                  </a:lnTo>
                  <a:lnTo>
                    <a:pt x="8303750" y="627385"/>
                  </a:lnTo>
                  <a:lnTo>
                    <a:pt x="8303750" y="1882154"/>
                  </a:lnTo>
                  <a:close/>
                </a:path>
              </a:pathLst>
            </a:custGeom>
            <a:solidFill>
              <a:srgbClr val="4A7EF6">
                <a:alpha val="6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092158" y="2632917"/>
              <a:ext cx="8299450" cy="1212850"/>
            </a:xfrm>
            <a:custGeom>
              <a:avLst/>
              <a:gdLst/>
              <a:ahLst/>
              <a:cxnLst/>
              <a:rect l="l" t="t" r="r" b="b"/>
              <a:pathLst>
                <a:path w="8299450" h="1212850">
                  <a:moveTo>
                    <a:pt x="0" y="0"/>
                  </a:moveTo>
                  <a:lnTo>
                    <a:pt x="1660749" y="209128"/>
                  </a:lnTo>
                  <a:lnTo>
                    <a:pt x="3321500" y="501907"/>
                  </a:lnTo>
                  <a:lnTo>
                    <a:pt x="4982249" y="752862"/>
                  </a:lnTo>
                  <a:lnTo>
                    <a:pt x="6642999" y="1045641"/>
                  </a:lnTo>
                  <a:lnTo>
                    <a:pt x="8298976" y="1212463"/>
                  </a:lnTo>
                </a:path>
              </a:pathLst>
            </a:custGeom>
            <a:ln w="28646">
              <a:solidFill>
                <a:srgbClr val="F2B8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092158" y="3051173"/>
              <a:ext cx="8299450" cy="962025"/>
            </a:xfrm>
            <a:custGeom>
              <a:avLst/>
              <a:gdLst/>
              <a:ahLst/>
              <a:cxnLst/>
              <a:rect l="l" t="t" r="r" b="b"/>
              <a:pathLst>
                <a:path w="8299450" h="962025">
                  <a:moveTo>
                    <a:pt x="0" y="0"/>
                  </a:moveTo>
                  <a:lnTo>
                    <a:pt x="1660749" y="167302"/>
                  </a:lnTo>
                  <a:lnTo>
                    <a:pt x="3321500" y="418256"/>
                  </a:lnTo>
                  <a:lnTo>
                    <a:pt x="4982249" y="627385"/>
                  </a:lnTo>
                  <a:lnTo>
                    <a:pt x="6642999" y="836513"/>
                  </a:lnTo>
                  <a:lnTo>
                    <a:pt x="8298976" y="961629"/>
                  </a:lnTo>
                </a:path>
              </a:pathLst>
            </a:custGeom>
            <a:ln w="28646">
              <a:solidFill>
                <a:srgbClr val="AE8CF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092158" y="3887687"/>
              <a:ext cx="8209280" cy="622935"/>
            </a:xfrm>
            <a:custGeom>
              <a:avLst/>
              <a:gdLst/>
              <a:ahLst/>
              <a:cxnLst/>
              <a:rect l="l" t="t" r="r" b="b"/>
              <a:pathLst>
                <a:path w="8209280" h="622935">
                  <a:moveTo>
                    <a:pt x="0" y="0"/>
                  </a:moveTo>
                  <a:lnTo>
                    <a:pt x="1660749" y="125476"/>
                  </a:lnTo>
                  <a:lnTo>
                    <a:pt x="3321500" y="292779"/>
                  </a:lnTo>
                  <a:lnTo>
                    <a:pt x="4982249" y="418256"/>
                  </a:lnTo>
                  <a:lnTo>
                    <a:pt x="6642999" y="543733"/>
                  </a:lnTo>
                  <a:lnTo>
                    <a:pt x="8208967" y="622610"/>
                  </a:lnTo>
                </a:path>
              </a:pathLst>
            </a:custGeom>
            <a:ln w="28646">
              <a:solidFill>
                <a:srgbClr val="4A7E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7615747" y="5792217"/>
            <a:ext cx="95694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Jan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1,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2026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4229204" y="5792217"/>
            <a:ext cx="10058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May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1,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2026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919496" y="5792217"/>
            <a:ext cx="95694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Jun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1,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2026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915909" y="5631479"/>
            <a:ext cx="22415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$0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816838" y="4794965"/>
            <a:ext cx="3232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$20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816838" y="3958452"/>
            <a:ext cx="3232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$40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816838" y="3121939"/>
            <a:ext cx="3232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$60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816838" y="2285426"/>
            <a:ext cx="3232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$80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261875" y="5792217"/>
            <a:ext cx="4783455" cy="572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73225" algn="l"/>
                <a:tab pos="3353435" algn="l"/>
              </a:tabLst>
            </a:pPr>
            <a:r>
              <a:rPr dirty="0" sz="1400">
                <a:latin typeface="Arial"/>
                <a:cs typeface="Arial"/>
              </a:rPr>
              <a:t>Feb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1,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2026</a:t>
            </a:r>
            <a:r>
              <a:rPr dirty="0" sz="1400">
                <a:latin typeface="Arial"/>
                <a:cs typeface="Arial"/>
              </a:rPr>
              <a:t>	Mar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1,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2026</a:t>
            </a:r>
            <a:r>
              <a:rPr dirty="0" sz="1400">
                <a:latin typeface="Arial"/>
                <a:cs typeface="Arial"/>
              </a:rPr>
              <a:t>	Apr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1,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2026</a:t>
            </a:r>
            <a:endParaRPr sz="1400">
              <a:latin typeface="Arial"/>
              <a:cs typeface="Arial"/>
            </a:endParaRPr>
          </a:p>
          <a:p>
            <a:pPr marL="761365">
              <a:lnSpc>
                <a:spcPct val="100000"/>
              </a:lnSpc>
              <a:spcBef>
                <a:spcPts val="1120"/>
              </a:spcBef>
            </a:pPr>
            <a:r>
              <a:rPr dirty="0" sz="1250" spc="-10">
                <a:latin typeface="Arial"/>
                <a:cs typeface="Arial"/>
              </a:rPr>
              <a:t>Source:</a:t>
            </a:r>
            <a:r>
              <a:rPr dirty="0" sz="1250" spc="-80">
                <a:latin typeface="Arial"/>
                <a:cs typeface="Arial"/>
              </a:rPr>
              <a:t> </a:t>
            </a:r>
            <a:r>
              <a:rPr dirty="0" sz="1250" spc="-10">
                <a:latin typeface="Arial"/>
                <a:cs typeface="Arial"/>
              </a:rPr>
              <a:t>AI-</a:t>
            </a:r>
            <a:r>
              <a:rPr dirty="0" sz="1250">
                <a:latin typeface="Arial"/>
                <a:cs typeface="Arial"/>
              </a:rPr>
              <a:t>generated</a:t>
            </a:r>
            <a:r>
              <a:rPr dirty="0" sz="1250" spc="-5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data.</a:t>
            </a:r>
            <a:r>
              <a:rPr dirty="0" sz="1250" spc="-10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Replace</a:t>
            </a:r>
            <a:r>
              <a:rPr dirty="0" sz="1250" spc="-5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or</a:t>
            </a:r>
            <a:r>
              <a:rPr dirty="0" sz="1250" spc="-10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verify</a:t>
            </a:r>
            <a:r>
              <a:rPr dirty="0" sz="1250" spc="-5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before</a:t>
            </a:r>
            <a:r>
              <a:rPr dirty="0" sz="1250" spc="-10">
                <a:latin typeface="Arial"/>
                <a:cs typeface="Arial"/>
              </a:rPr>
              <a:t> </a:t>
            </a:r>
            <a:r>
              <a:rPr dirty="0" sz="1250" spc="-20">
                <a:latin typeface="Arial"/>
                <a:cs typeface="Arial"/>
              </a:rPr>
              <a:t>use.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613489" y="8859495"/>
            <a:ext cx="645795" cy="358775"/>
          </a:xfrm>
          <a:custGeom>
            <a:avLst/>
            <a:gdLst/>
            <a:ahLst/>
            <a:cxnLst/>
            <a:rect l="l" t="t" r="r" b="b"/>
            <a:pathLst>
              <a:path w="645794" h="358775">
                <a:moveTo>
                  <a:pt x="645382" y="358732"/>
                </a:moveTo>
                <a:lnTo>
                  <a:pt x="0" y="358732"/>
                </a:lnTo>
                <a:lnTo>
                  <a:pt x="0" y="240917"/>
                </a:lnTo>
                <a:lnTo>
                  <a:pt x="235708" y="286649"/>
                </a:lnTo>
                <a:lnTo>
                  <a:pt x="36692" y="152363"/>
                </a:lnTo>
                <a:lnTo>
                  <a:pt x="152363" y="36692"/>
                </a:lnTo>
                <a:lnTo>
                  <a:pt x="286649" y="235708"/>
                </a:lnTo>
                <a:lnTo>
                  <a:pt x="240917" y="0"/>
                </a:lnTo>
                <a:lnTo>
                  <a:pt x="404465" y="0"/>
                </a:lnTo>
                <a:lnTo>
                  <a:pt x="358732" y="235708"/>
                </a:lnTo>
                <a:lnTo>
                  <a:pt x="493095" y="36692"/>
                </a:lnTo>
                <a:lnTo>
                  <a:pt x="608689" y="152363"/>
                </a:lnTo>
                <a:lnTo>
                  <a:pt x="409750" y="286649"/>
                </a:lnTo>
                <a:lnTo>
                  <a:pt x="645382" y="240917"/>
                </a:lnTo>
                <a:lnTo>
                  <a:pt x="645382" y="358732"/>
                </a:lnTo>
                <a:close/>
              </a:path>
            </a:pathLst>
          </a:custGeom>
          <a:solidFill>
            <a:srgbClr val="F99C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16132" y="0"/>
            <a:ext cx="8471866" cy="402195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28699" y="4569307"/>
            <a:ext cx="3949700" cy="3723004"/>
          </a:xfrm>
          <a:custGeom>
            <a:avLst/>
            <a:gdLst/>
            <a:ahLst/>
            <a:cxnLst/>
            <a:rect l="l" t="t" r="r" b="b"/>
            <a:pathLst>
              <a:path w="3949700" h="3723004">
                <a:moveTo>
                  <a:pt x="3949602" y="3722888"/>
                </a:moveTo>
                <a:lnTo>
                  <a:pt x="0" y="3722888"/>
                </a:lnTo>
                <a:lnTo>
                  <a:pt x="0" y="0"/>
                </a:lnTo>
                <a:lnTo>
                  <a:pt x="3949602" y="0"/>
                </a:lnTo>
                <a:lnTo>
                  <a:pt x="3949602" y="3722888"/>
                </a:lnTo>
                <a:close/>
              </a:path>
            </a:pathLst>
          </a:custGeom>
          <a:solidFill>
            <a:srgbClr val="202A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22365" y="4569307"/>
            <a:ext cx="3949700" cy="3723004"/>
          </a:xfrm>
          <a:custGeom>
            <a:avLst/>
            <a:gdLst/>
            <a:ahLst/>
            <a:cxnLst/>
            <a:rect l="l" t="t" r="r" b="b"/>
            <a:pathLst>
              <a:path w="3949700" h="3723004">
                <a:moveTo>
                  <a:pt x="3949603" y="3722888"/>
                </a:moveTo>
                <a:lnTo>
                  <a:pt x="0" y="3722888"/>
                </a:lnTo>
                <a:lnTo>
                  <a:pt x="0" y="0"/>
                </a:lnTo>
                <a:lnTo>
                  <a:pt x="3949603" y="0"/>
                </a:lnTo>
                <a:lnTo>
                  <a:pt x="3949603" y="3722888"/>
                </a:lnTo>
                <a:close/>
              </a:path>
            </a:pathLst>
          </a:custGeom>
          <a:solidFill>
            <a:srgbClr val="F99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216031" y="4569307"/>
            <a:ext cx="3949700" cy="3723004"/>
          </a:xfrm>
          <a:custGeom>
            <a:avLst/>
            <a:gdLst/>
            <a:ahLst/>
            <a:cxnLst/>
            <a:rect l="l" t="t" r="r" b="b"/>
            <a:pathLst>
              <a:path w="3949700" h="3723004">
                <a:moveTo>
                  <a:pt x="3949602" y="3722888"/>
                </a:moveTo>
                <a:lnTo>
                  <a:pt x="0" y="3722888"/>
                </a:lnTo>
                <a:lnTo>
                  <a:pt x="0" y="0"/>
                </a:lnTo>
                <a:lnTo>
                  <a:pt x="3949602" y="0"/>
                </a:lnTo>
                <a:lnTo>
                  <a:pt x="3949602" y="3722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117124" y="5143512"/>
            <a:ext cx="481330" cy="481330"/>
          </a:xfrm>
          <a:custGeom>
            <a:avLst/>
            <a:gdLst/>
            <a:ahLst/>
            <a:cxnLst/>
            <a:rect l="l" t="t" r="r" b="b"/>
            <a:pathLst>
              <a:path w="481329" h="481329">
                <a:moveTo>
                  <a:pt x="348805" y="242189"/>
                </a:moveTo>
                <a:lnTo>
                  <a:pt x="348678" y="241884"/>
                </a:lnTo>
                <a:lnTo>
                  <a:pt x="348678" y="240919"/>
                </a:lnTo>
                <a:lnTo>
                  <a:pt x="347980" y="240233"/>
                </a:lnTo>
                <a:lnTo>
                  <a:pt x="347129" y="238163"/>
                </a:lnTo>
                <a:lnTo>
                  <a:pt x="249389" y="140347"/>
                </a:lnTo>
                <a:lnTo>
                  <a:pt x="243001" y="140347"/>
                </a:lnTo>
                <a:lnTo>
                  <a:pt x="235064" y="148221"/>
                </a:lnTo>
                <a:lnTo>
                  <a:pt x="235064" y="154609"/>
                </a:lnTo>
                <a:lnTo>
                  <a:pt x="316865" y="236410"/>
                </a:lnTo>
                <a:lnTo>
                  <a:pt x="138607" y="236410"/>
                </a:lnTo>
                <a:lnTo>
                  <a:pt x="134099" y="240919"/>
                </a:lnTo>
                <a:lnTo>
                  <a:pt x="134099" y="252082"/>
                </a:lnTo>
                <a:lnTo>
                  <a:pt x="138607" y="256578"/>
                </a:lnTo>
                <a:lnTo>
                  <a:pt x="316865" y="256578"/>
                </a:lnTo>
                <a:lnTo>
                  <a:pt x="235064" y="338328"/>
                </a:lnTo>
                <a:lnTo>
                  <a:pt x="235064" y="344703"/>
                </a:lnTo>
                <a:lnTo>
                  <a:pt x="240982" y="350621"/>
                </a:lnTo>
                <a:lnTo>
                  <a:pt x="243611" y="351637"/>
                </a:lnTo>
                <a:lnTo>
                  <a:pt x="246164" y="351637"/>
                </a:lnTo>
                <a:lnTo>
                  <a:pt x="248716" y="351637"/>
                </a:lnTo>
                <a:lnTo>
                  <a:pt x="251333" y="350621"/>
                </a:lnTo>
                <a:lnTo>
                  <a:pt x="347129" y="254901"/>
                </a:lnTo>
                <a:lnTo>
                  <a:pt x="348005" y="252755"/>
                </a:lnTo>
                <a:lnTo>
                  <a:pt x="348678" y="252082"/>
                </a:lnTo>
                <a:lnTo>
                  <a:pt x="348678" y="251117"/>
                </a:lnTo>
                <a:lnTo>
                  <a:pt x="348805" y="250799"/>
                </a:lnTo>
                <a:lnTo>
                  <a:pt x="348805" y="242189"/>
                </a:lnTo>
                <a:close/>
              </a:path>
              <a:path w="481329" h="481329">
                <a:moveTo>
                  <a:pt x="481241" y="240652"/>
                </a:moveTo>
                <a:lnTo>
                  <a:pt x="476338" y="192214"/>
                </a:lnTo>
                <a:lnTo>
                  <a:pt x="462305" y="147066"/>
                </a:lnTo>
                <a:lnTo>
                  <a:pt x="461073" y="144805"/>
                </a:lnTo>
                <a:lnTo>
                  <a:pt x="461073" y="240652"/>
                </a:lnTo>
                <a:lnTo>
                  <a:pt x="456590" y="285038"/>
                </a:lnTo>
                <a:lnTo>
                  <a:pt x="443725" y="326402"/>
                </a:lnTo>
                <a:lnTo>
                  <a:pt x="423392" y="363855"/>
                </a:lnTo>
                <a:lnTo>
                  <a:pt x="396455" y="396494"/>
                </a:lnTo>
                <a:lnTo>
                  <a:pt x="363829" y="423430"/>
                </a:lnTo>
                <a:lnTo>
                  <a:pt x="326390" y="443788"/>
                </a:lnTo>
                <a:lnTo>
                  <a:pt x="285038" y="456653"/>
                </a:lnTo>
                <a:lnTo>
                  <a:pt x="240652" y="461137"/>
                </a:lnTo>
                <a:lnTo>
                  <a:pt x="196265" y="456653"/>
                </a:lnTo>
                <a:lnTo>
                  <a:pt x="154901" y="443788"/>
                </a:lnTo>
                <a:lnTo>
                  <a:pt x="117449" y="423430"/>
                </a:lnTo>
                <a:lnTo>
                  <a:pt x="84797" y="396494"/>
                </a:lnTo>
                <a:lnTo>
                  <a:pt x="57861" y="363855"/>
                </a:lnTo>
                <a:lnTo>
                  <a:pt x="37515" y="326402"/>
                </a:lnTo>
                <a:lnTo>
                  <a:pt x="24650" y="285038"/>
                </a:lnTo>
                <a:lnTo>
                  <a:pt x="20167" y="240652"/>
                </a:lnTo>
                <a:lnTo>
                  <a:pt x="24650" y="196265"/>
                </a:lnTo>
                <a:lnTo>
                  <a:pt x="37515" y="154889"/>
                </a:lnTo>
                <a:lnTo>
                  <a:pt x="57861" y="117449"/>
                </a:lnTo>
                <a:lnTo>
                  <a:pt x="84797" y="84797"/>
                </a:lnTo>
                <a:lnTo>
                  <a:pt x="117449" y="57861"/>
                </a:lnTo>
                <a:lnTo>
                  <a:pt x="154901" y="37515"/>
                </a:lnTo>
                <a:lnTo>
                  <a:pt x="196265" y="24650"/>
                </a:lnTo>
                <a:lnTo>
                  <a:pt x="240652" y="20154"/>
                </a:lnTo>
                <a:lnTo>
                  <a:pt x="285013" y="24650"/>
                </a:lnTo>
                <a:lnTo>
                  <a:pt x="326364" y="37515"/>
                </a:lnTo>
                <a:lnTo>
                  <a:pt x="363804" y="57861"/>
                </a:lnTo>
                <a:lnTo>
                  <a:pt x="396443" y="84797"/>
                </a:lnTo>
                <a:lnTo>
                  <a:pt x="423379" y="117449"/>
                </a:lnTo>
                <a:lnTo>
                  <a:pt x="443725" y="154889"/>
                </a:lnTo>
                <a:lnTo>
                  <a:pt x="456590" y="196265"/>
                </a:lnTo>
                <a:lnTo>
                  <a:pt x="461073" y="240652"/>
                </a:lnTo>
                <a:lnTo>
                  <a:pt x="461073" y="144805"/>
                </a:lnTo>
                <a:lnTo>
                  <a:pt x="440105" y="106184"/>
                </a:lnTo>
                <a:lnTo>
                  <a:pt x="410705" y="70561"/>
                </a:lnTo>
                <a:lnTo>
                  <a:pt x="375081" y="41148"/>
                </a:lnTo>
                <a:lnTo>
                  <a:pt x="336473" y="20154"/>
                </a:lnTo>
                <a:lnTo>
                  <a:pt x="289090" y="4889"/>
                </a:lnTo>
                <a:lnTo>
                  <a:pt x="240652" y="0"/>
                </a:lnTo>
                <a:lnTo>
                  <a:pt x="192239" y="4889"/>
                </a:lnTo>
                <a:lnTo>
                  <a:pt x="147091" y="18935"/>
                </a:lnTo>
                <a:lnTo>
                  <a:pt x="106222" y="41148"/>
                </a:lnTo>
                <a:lnTo>
                  <a:pt x="70586" y="70561"/>
                </a:lnTo>
                <a:lnTo>
                  <a:pt x="41173" y="106184"/>
                </a:lnTo>
                <a:lnTo>
                  <a:pt x="18948" y="147066"/>
                </a:lnTo>
                <a:lnTo>
                  <a:pt x="4902" y="192214"/>
                </a:lnTo>
                <a:lnTo>
                  <a:pt x="0" y="240652"/>
                </a:lnTo>
                <a:lnTo>
                  <a:pt x="4889" y="289064"/>
                </a:lnTo>
                <a:lnTo>
                  <a:pt x="18935" y="334187"/>
                </a:lnTo>
                <a:lnTo>
                  <a:pt x="41148" y="375056"/>
                </a:lnTo>
                <a:lnTo>
                  <a:pt x="70561" y="410679"/>
                </a:lnTo>
                <a:lnTo>
                  <a:pt x="106197" y="440080"/>
                </a:lnTo>
                <a:lnTo>
                  <a:pt x="147066" y="462292"/>
                </a:lnTo>
                <a:lnTo>
                  <a:pt x="192214" y="476338"/>
                </a:lnTo>
                <a:lnTo>
                  <a:pt x="240652" y="481241"/>
                </a:lnTo>
                <a:lnTo>
                  <a:pt x="241312" y="481241"/>
                </a:lnTo>
                <a:lnTo>
                  <a:pt x="289725" y="476338"/>
                </a:lnTo>
                <a:lnTo>
                  <a:pt x="289280" y="476338"/>
                </a:lnTo>
                <a:lnTo>
                  <a:pt x="334314" y="462292"/>
                </a:lnTo>
                <a:lnTo>
                  <a:pt x="375132" y="440080"/>
                </a:lnTo>
                <a:lnTo>
                  <a:pt x="410730" y="410679"/>
                </a:lnTo>
                <a:lnTo>
                  <a:pt x="440118" y="375056"/>
                </a:lnTo>
                <a:lnTo>
                  <a:pt x="462305" y="334187"/>
                </a:lnTo>
                <a:lnTo>
                  <a:pt x="476338" y="289064"/>
                </a:lnTo>
                <a:lnTo>
                  <a:pt x="481241" y="2406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201253" y="5143512"/>
            <a:ext cx="481330" cy="481330"/>
          </a:xfrm>
          <a:custGeom>
            <a:avLst/>
            <a:gdLst/>
            <a:ahLst/>
            <a:cxnLst/>
            <a:rect l="l" t="t" r="r" b="b"/>
            <a:pathLst>
              <a:path w="481329" h="481329">
                <a:moveTo>
                  <a:pt x="348818" y="242189"/>
                </a:moveTo>
                <a:lnTo>
                  <a:pt x="348691" y="241884"/>
                </a:lnTo>
                <a:lnTo>
                  <a:pt x="348691" y="240919"/>
                </a:lnTo>
                <a:lnTo>
                  <a:pt x="347992" y="240233"/>
                </a:lnTo>
                <a:lnTo>
                  <a:pt x="347141" y="238163"/>
                </a:lnTo>
                <a:lnTo>
                  <a:pt x="249402" y="140347"/>
                </a:lnTo>
                <a:lnTo>
                  <a:pt x="243014" y="140347"/>
                </a:lnTo>
                <a:lnTo>
                  <a:pt x="235077" y="148221"/>
                </a:lnTo>
                <a:lnTo>
                  <a:pt x="235077" y="154609"/>
                </a:lnTo>
                <a:lnTo>
                  <a:pt x="316877" y="236410"/>
                </a:lnTo>
                <a:lnTo>
                  <a:pt x="138620" y="236410"/>
                </a:lnTo>
                <a:lnTo>
                  <a:pt x="134112" y="240919"/>
                </a:lnTo>
                <a:lnTo>
                  <a:pt x="134112" y="252082"/>
                </a:lnTo>
                <a:lnTo>
                  <a:pt x="138620" y="256578"/>
                </a:lnTo>
                <a:lnTo>
                  <a:pt x="316877" y="256578"/>
                </a:lnTo>
                <a:lnTo>
                  <a:pt x="235077" y="338328"/>
                </a:lnTo>
                <a:lnTo>
                  <a:pt x="235077" y="344703"/>
                </a:lnTo>
                <a:lnTo>
                  <a:pt x="240995" y="350621"/>
                </a:lnTo>
                <a:lnTo>
                  <a:pt x="243624" y="351637"/>
                </a:lnTo>
                <a:lnTo>
                  <a:pt x="246176" y="351637"/>
                </a:lnTo>
                <a:lnTo>
                  <a:pt x="248729" y="351637"/>
                </a:lnTo>
                <a:lnTo>
                  <a:pt x="251345" y="350621"/>
                </a:lnTo>
                <a:lnTo>
                  <a:pt x="347141" y="254901"/>
                </a:lnTo>
                <a:lnTo>
                  <a:pt x="348018" y="252755"/>
                </a:lnTo>
                <a:lnTo>
                  <a:pt x="348691" y="252082"/>
                </a:lnTo>
                <a:lnTo>
                  <a:pt x="348691" y="251117"/>
                </a:lnTo>
                <a:lnTo>
                  <a:pt x="348818" y="250799"/>
                </a:lnTo>
                <a:lnTo>
                  <a:pt x="348818" y="242189"/>
                </a:lnTo>
                <a:close/>
              </a:path>
              <a:path w="481329" h="481329">
                <a:moveTo>
                  <a:pt x="481253" y="240652"/>
                </a:moveTo>
                <a:lnTo>
                  <a:pt x="476351" y="192214"/>
                </a:lnTo>
                <a:lnTo>
                  <a:pt x="462318" y="147066"/>
                </a:lnTo>
                <a:lnTo>
                  <a:pt x="461086" y="144805"/>
                </a:lnTo>
                <a:lnTo>
                  <a:pt x="461086" y="240652"/>
                </a:lnTo>
                <a:lnTo>
                  <a:pt x="456603" y="285038"/>
                </a:lnTo>
                <a:lnTo>
                  <a:pt x="443738" y="326402"/>
                </a:lnTo>
                <a:lnTo>
                  <a:pt x="423405" y="363855"/>
                </a:lnTo>
                <a:lnTo>
                  <a:pt x="396468" y="396494"/>
                </a:lnTo>
                <a:lnTo>
                  <a:pt x="363842" y="423430"/>
                </a:lnTo>
                <a:lnTo>
                  <a:pt x="326402" y="443788"/>
                </a:lnTo>
                <a:lnTo>
                  <a:pt x="285051" y="456653"/>
                </a:lnTo>
                <a:lnTo>
                  <a:pt x="240665" y="461137"/>
                </a:lnTo>
                <a:lnTo>
                  <a:pt x="196278" y="456653"/>
                </a:lnTo>
                <a:lnTo>
                  <a:pt x="154901" y="443788"/>
                </a:lnTo>
                <a:lnTo>
                  <a:pt x="117462" y="423430"/>
                </a:lnTo>
                <a:lnTo>
                  <a:pt x="84810" y="396494"/>
                </a:lnTo>
                <a:lnTo>
                  <a:pt x="57873" y="363855"/>
                </a:lnTo>
                <a:lnTo>
                  <a:pt x="37528" y="326402"/>
                </a:lnTo>
                <a:lnTo>
                  <a:pt x="24663" y="285038"/>
                </a:lnTo>
                <a:lnTo>
                  <a:pt x="20167" y="240652"/>
                </a:lnTo>
                <a:lnTo>
                  <a:pt x="24663" y="196265"/>
                </a:lnTo>
                <a:lnTo>
                  <a:pt x="37528" y="154889"/>
                </a:lnTo>
                <a:lnTo>
                  <a:pt x="57873" y="117449"/>
                </a:lnTo>
                <a:lnTo>
                  <a:pt x="84810" y="84797"/>
                </a:lnTo>
                <a:lnTo>
                  <a:pt x="117462" y="57861"/>
                </a:lnTo>
                <a:lnTo>
                  <a:pt x="154901" y="37515"/>
                </a:lnTo>
                <a:lnTo>
                  <a:pt x="196278" y="24650"/>
                </a:lnTo>
                <a:lnTo>
                  <a:pt x="240665" y="20154"/>
                </a:lnTo>
                <a:lnTo>
                  <a:pt x="285026" y="24650"/>
                </a:lnTo>
                <a:lnTo>
                  <a:pt x="326377" y="37515"/>
                </a:lnTo>
                <a:lnTo>
                  <a:pt x="363816" y="57861"/>
                </a:lnTo>
                <a:lnTo>
                  <a:pt x="396443" y="84797"/>
                </a:lnTo>
                <a:lnTo>
                  <a:pt x="423379" y="117449"/>
                </a:lnTo>
                <a:lnTo>
                  <a:pt x="443738" y="154889"/>
                </a:lnTo>
                <a:lnTo>
                  <a:pt x="456590" y="196265"/>
                </a:lnTo>
                <a:lnTo>
                  <a:pt x="461086" y="240652"/>
                </a:lnTo>
                <a:lnTo>
                  <a:pt x="461086" y="144805"/>
                </a:lnTo>
                <a:lnTo>
                  <a:pt x="440118" y="106184"/>
                </a:lnTo>
                <a:lnTo>
                  <a:pt x="410718" y="70561"/>
                </a:lnTo>
                <a:lnTo>
                  <a:pt x="375094" y="41148"/>
                </a:lnTo>
                <a:lnTo>
                  <a:pt x="336486" y="20154"/>
                </a:lnTo>
                <a:lnTo>
                  <a:pt x="289102" y="4889"/>
                </a:lnTo>
                <a:lnTo>
                  <a:pt x="240665" y="0"/>
                </a:lnTo>
                <a:lnTo>
                  <a:pt x="192252" y="4889"/>
                </a:lnTo>
                <a:lnTo>
                  <a:pt x="147104" y="18935"/>
                </a:lnTo>
                <a:lnTo>
                  <a:pt x="106235" y="41148"/>
                </a:lnTo>
                <a:lnTo>
                  <a:pt x="70599" y="70561"/>
                </a:lnTo>
                <a:lnTo>
                  <a:pt x="41186" y="106184"/>
                </a:lnTo>
                <a:lnTo>
                  <a:pt x="18961" y="147066"/>
                </a:lnTo>
                <a:lnTo>
                  <a:pt x="4914" y="192214"/>
                </a:lnTo>
                <a:lnTo>
                  <a:pt x="0" y="240652"/>
                </a:lnTo>
                <a:lnTo>
                  <a:pt x="4902" y="289064"/>
                </a:lnTo>
                <a:lnTo>
                  <a:pt x="18948" y="334187"/>
                </a:lnTo>
                <a:lnTo>
                  <a:pt x="41160" y="375056"/>
                </a:lnTo>
                <a:lnTo>
                  <a:pt x="70573" y="410679"/>
                </a:lnTo>
                <a:lnTo>
                  <a:pt x="106197" y="440080"/>
                </a:lnTo>
                <a:lnTo>
                  <a:pt x="147078" y="462292"/>
                </a:lnTo>
                <a:lnTo>
                  <a:pt x="192227" y="476338"/>
                </a:lnTo>
                <a:lnTo>
                  <a:pt x="240665" y="481241"/>
                </a:lnTo>
                <a:lnTo>
                  <a:pt x="241312" y="481241"/>
                </a:lnTo>
                <a:lnTo>
                  <a:pt x="289737" y="476338"/>
                </a:lnTo>
                <a:lnTo>
                  <a:pt x="289293" y="476338"/>
                </a:lnTo>
                <a:lnTo>
                  <a:pt x="334327" y="462292"/>
                </a:lnTo>
                <a:lnTo>
                  <a:pt x="375145" y="440080"/>
                </a:lnTo>
                <a:lnTo>
                  <a:pt x="410743" y="410679"/>
                </a:lnTo>
                <a:lnTo>
                  <a:pt x="440118" y="375056"/>
                </a:lnTo>
                <a:lnTo>
                  <a:pt x="462318" y="334187"/>
                </a:lnTo>
                <a:lnTo>
                  <a:pt x="476351" y="289064"/>
                </a:lnTo>
                <a:lnTo>
                  <a:pt x="481253" y="2406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33846" y="1029297"/>
            <a:ext cx="2620010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70">
                <a:latin typeface="Verdana"/>
                <a:cs typeface="Verdana"/>
              </a:rPr>
              <a:t>Personal</a:t>
            </a:r>
            <a:r>
              <a:rPr dirty="0" sz="1400" spc="-190">
                <a:latin typeface="Verdana"/>
                <a:cs typeface="Verdana"/>
              </a:rPr>
              <a:t> </a:t>
            </a:r>
            <a:r>
              <a:rPr dirty="0" sz="1400" spc="-50">
                <a:latin typeface="Verdana"/>
                <a:cs typeface="Verdana"/>
              </a:rPr>
              <a:t>Cloud</a:t>
            </a:r>
            <a:r>
              <a:rPr dirty="0" sz="1400" spc="-190">
                <a:latin typeface="Verdana"/>
                <a:cs typeface="Verdana"/>
              </a:rPr>
              <a:t> </a:t>
            </a:r>
            <a:r>
              <a:rPr dirty="0" sz="1400" spc="-110">
                <a:latin typeface="Verdana"/>
                <a:cs typeface="Verdana"/>
              </a:rPr>
              <a:t>Drive</a:t>
            </a:r>
            <a:r>
              <a:rPr dirty="0" sz="1400" spc="-190">
                <a:latin typeface="Verdana"/>
                <a:cs typeface="Verdana"/>
              </a:rPr>
              <a:t> </a:t>
            </a:r>
            <a:r>
              <a:rPr dirty="0" sz="1400" spc="-80">
                <a:latin typeface="Verdana"/>
                <a:cs typeface="Verdana"/>
              </a:rPr>
              <a:t>Using</a:t>
            </a:r>
            <a:r>
              <a:rPr dirty="0" sz="1400" spc="-185">
                <a:latin typeface="Verdana"/>
                <a:cs typeface="Verdana"/>
              </a:rPr>
              <a:t> </a:t>
            </a:r>
            <a:r>
              <a:rPr dirty="0" sz="1400" spc="-25">
                <a:latin typeface="Verdana"/>
                <a:cs typeface="Verdana"/>
              </a:rPr>
              <a:t>AWS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6000" y="8977104"/>
            <a:ext cx="1425575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85">
                <a:latin typeface="Verdana"/>
                <a:cs typeface="Verdana"/>
              </a:rPr>
              <a:t>aws.amazon.com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99390" rIns="0" bIns="0" rtlCol="0" vert="horz">
            <a:spAutoFit/>
          </a:bodyPr>
          <a:lstStyle/>
          <a:p>
            <a:pPr marL="12700" marR="5080">
              <a:lnSpc>
                <a:spcPts val="7350"/>
              </a:lnSpc>
              <a:spcBef>
                <a:spcPts val="1570"/>
              </a:spcBef>
            </a:pPr>
            <a:r>
              <a:rPr dirty="0" spc="-650"/>
              <a:t>I</a:t>
            </a:r>
            <a:r>
              <a:rPr dirty="0" spc="-405"/>
              <a:t>MP</a:t>
            </a:r>
            <a:r>
              <a:rPr dirty="0" spc="-450"/>
              <a:t>L</a:t>
            </a:r>
            <a:r>
              <a:rPr dirty="0" spc="-445"/>
              <a:t>E</a:t>
            </a:r>
            <a:r>
              <a:rPr dirty="0" spc="-405"/>
              <a:t>M</a:t>
            </a:r>
            <a:r>
              <a:rPr dirty="0" spc="-445"/>
              <a:t>E</a:t>
            </a:r>
            <a:r>
              <a:rPr dirty="0" spc="-434"/>
              <a:t>N</a:t>
            </a:r>
            <a:r>
              <a:rPr dirty="0" spc="-1085"/>
              <a:t>T</a:t>
            </a:r>
            <a:r>
              <a:rPr dirty="0" spc="-1070"/>
              <a:t>A</a:t>
            </a:r>
            <a:r>
              <a:rPr dirty="0" spc="-425"/>
              <a:t>T</a:t>
            </a:r>
            <a:r>
              <a:rPr dirty="0" spc="-650"/>
              <a:t>I</a:t>
            </a:r>
            <a:r>
              <a:rPr dirty="0" spc="-420"/>
              <a:t>O</a:t>
            </a:r>
            <a:r>
              <a:rPr dirty="0" spc="-60"/>
              <a:t>N</a:t>
            </a:r>
            <a:r>
              <a:rPr dirty="0" spc="-525"/>
              <a:t> </a:t>
            </a:r>
            <a:r>
              <a:rPr dirty="0" spc="-465"/>
              <a:t>S</a:t>
            </a:r>
            <a:r>
              <a:rPr dirty="0" spc="-315"/>
              <a:t>T</a:t>
            </a:r>
            <a:r>
              <a:rPr dirty="0" spc="-335"/>
              <a:t>E</a:t>
            </a:r>
            <a:r>
              <a:rPr dirty="0" spc="-295"/>
              <a:t>P</a:t>
            </a:r>
            <a:r>
              <a:rPr dirty="0" spc="50"/>
              <a:t>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28699" y="4569307"/>
            <a:ext cx="3949700" cy="3723004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  <a:endParaRPr sz="2400">
              <a:latin typeface="Times New Roman"/>
              <a:cs typeface="Times New Roman"/>
            </a:endParaRPr>
          </a:p>
          <a:p>
            <a:pPr algn="just" marL="367030">
              <a:lnSpc>
                <a:spcPct val="100000"/>
              </a:lnSpc>
            </a:pPr>
            <a:r>
              <a:rPr dirty="0" sz="2400" spc="-114">
                <a:solidFill>
                  <a:srgbClr val="F99C00"/>
                </a:solidFill>
                <a:latin typeface="Verdana"/>
                <a:cs typeface="Verdana"/>
              </a:rPr>
              <a:t>Step</a:t>
            </a:r>
            <a:r>
              <a:rPr dirty="0" sz="2400" spc="-405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400" spc="-505">
                <a:solidFill>
                  <a:srgbClr val="F99C00"/>
                </a:solidFill>
                <a:latin typeface="Verdana"/>
                <a:cs typeface="Verdana"/>
              </a:rPr>
              <a:t>1</a:t>
            </a:r>
            <a:r>
              <a:rPr dirty="0" sz="2400" spc="-405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400" spc="-25">
                <a:solidFill>
                  <a:srgbClr val="F99C00"/>
                </a:solidFill>
                <a:latin typeface="Verdana"/>
                <a:cs typeface="Verdana"/>
              </a:rPr>
              <a:t>&amp;</a:t>
            </a:r>
            <a:r>
              <a:rPr dirty="0" sz="2400" spc="-400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400" spc="-50">
                <a:solidFill>
                  <a:srgbClr val="F99C00"/>
                </a:solidFill>
                <a:latin typeface="Verdana"/>
                <a:cs typeface="Verdana"/>
              </a:rPr>
              <a:t>2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400">
              <a:latin typeface="Verdana"/>
              <a:cs typeface="Verdana"/>
            </a:endParaRPr>
          </a:p>
          <a:p>
            <a:pPr algn="just" marL="367030" marR="363855">
              <a:lnSpc>
                <a:spcPct val="116100"/>
              </a:lnSpc>
            </a:pP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Set</a:t>
            </a:r>
            <a:r>
              <a:rPr dirty="0" sz="1400" spc="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up</a:t>
            </a:r>
            <a:r>
              <a:rPr dirty="0" sz="1400" spc="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AWS</a:t>
            </a:r>
            <a:r>
              <a:rPr dirty="0" sz="1400" spc="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account</a:t>
            </a:r>
            <a:r>
              <a:rPr dirty="0" sz="1400" spc="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dirty="0" sz="1400" spc="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Verdana"/>
                <a:cs typeface="Verdana"/>
              </a:rPr>
              <a:t>billing</a:t>
            </a:r>
            <a:r>
              <a:rPr dirty="0" sz="1400" spc="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security</a:t>
            </a:r>
            <a:r>
              <a:rPr dirty="0" sz="1400" spc="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preferences.</a:t>
            </a:r>
            <a:r>
              <a:rPr dirty="0" sz="1400" spc="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Configure</a:t>
            </a:r>
            <a:r>
              <a:rPr dirty="0" sz="1400" spc="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IAM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roles and policies to enforce </a:t>
            </a:r>
            <a:r>
              <a:rPr dirty="0" sz="1400" spc="-55">
                <a:solidFill>
                  <a:srgbClr val="FFFFFF"/>
                </a:solidFill>
                <a:latin typeface="Verdana"/>
                <a:cs typeface="Verdana"/>
              </a:rPr>
              <a:t>least-</a:t>
            </a:r>
            <a:r>
              <a:rPr dirty="0" sz="1400" spc="-85">
                <a:solidFill>
                  <a:srgbClr val="FFFFFF"/>
                </a:solidFill>
                <a:latin typeface="Verdana"/>
                <a:cs typeface="Verdana"/>
              </a:rPr>
              <a:t>privilege</a:t>
            </a:r>
            <a:r>
              <a:rPr dirty="0" sz="140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access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FFFFFF"/>
                </a:solidFill>
                <a:latin typeface="Verdana"/>
                <a:cs typeface="Verdana"/>
              </a:rPr>
              <a:t>control</a:t>
            </a:r>
            <a:r>
              <a:rPr dirty="0" sz="140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FFFFFF"/>
                </a:solidFill>
                <a:latin typeface="Verdana"/>
                <a:cs typeface="Verdana"/>
              </a:rPr>
              <a:t>all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 services </a:t>
            </a:r>
            <a:r>
              <a:rPr dirty="0" sz="1400" spc="-8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400" spc="-2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users.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2365" y="4569307"/>
            <a:ext cx="3949700" cy="3723004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  <a:endParaRPr sz="2400">
              <a:latin typeface="Times New Roman"/>
              <a:cs typeface="Times New Roman"/>
            </a:endParaRPr>
          </a:p>
          <a:p>
            <a:pPr algn="just" marL="374015">
              <a:lnSpc>
                <a:spcPct val="100000"/>
              </a:lnSpc>
            </a:pPr>
            <a:r>
              <a:rPr dirty="0" sz="2400" spc="-114">
                <a:solidFill>
                  <a:srgbClr val="FFFFFF"/>
                </a:solidFill>
                <a:latin typeface="Verdana"/>
                <a:cs typeface="Verdana"/>
              </a:rPr>
              <a:t>Step</a:t>
            </a:r>
            <a:r>
              <a:rPr dirty="0" sz="2400" spc="-3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dirty="0" sz="2400" spc="-3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Verdana"/>
                <a:cs typeface="Verdana"/>
              </a:rPr>
              <a:t>&amp;</a:t>
            </a:r>
            <a:r>
              <a:rPr dirty="0" sz="2400" spc="-3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400">
              <a:latin typeface="Verdana"/>
              <a:cs typeface="Verdana"/>
            </a:endParaRPr>
          </a:p>
          <a:p>
            <a:pPr algn="just" marL="374015" marR="357505">
              <a:lnSpc>
                <a:spcPct val="116100"/>
              </a:lnSpc>
            </a:pPr>
            <a:r>
              <a:rPr dirty="0" sz="1400" spc="-30">
                <a:solidFill>
                  <a:srgbClr val="FFFFFF"/>
                </a:solidFill>
                <a:latin typeface="Verdana"/>
                <a:cs typeface="Verdana"/>
              </a:rPr>
              <a:t>Create</a:t>
            </a:r>
            <a:r>
              <a:rPr dirty="0" sz="14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4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FFFFFF"/>
                </a:solidFill>
                <a:latin typeface="Verdana"/>
                <a:cs typeface="Verdana"/>
              </a:rPr>
              <a:t>configure</a:t>
            </a:r>
            <a:r>
              <a:rPr dirty="0" sz="14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S3</a:t>
            </a:r>
            <a:r>
              <a:rPr dirty="0" sz="14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buckets</a:t>
            </a:r>
            <a:r>
              <a:rPr dirty="0" sz="14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Verdana"/>
                <a:cs typeface="Verdana"/>
              </a:rPr>
              <a:t>with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versioning</a:t>
            </a:r>
            <a:r>
              <a:rPr dirty="0" sz="1400" spc="2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400" spc="2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encryption</a:t>
            </a:r>
            <a:r>
              <a:rPr dirty="0" sz="1400" spc="2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FFFFFF"/>
                </a:solidFill>
                <a:latin typeface="Verdana"/>
                <a:cs typeface="Verdana"/>
              </a:rPr>
              <a:t>enabled. </a:t>
            </a:r>
            <a:r>
              <a:rPr dirty="0" sz="1400" spc="-90">
                <a:solidFill>
                  <a:srgbClr val="FFFFFF"/>
                </a:solidFill>
                <a:latin typeface="Verdana"/>
                <a:cs typeface="Verdana"/>
              </a:rPr>
              <a:t>Develop</a:t>
            </a:r>
            <a:r>
              <a:rPr dirty="0" sz="1400" spc="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FFFFFF"/>
                </a:solidFill>
                <a:latin typeface="Verdana"/>
                <a:cs typeface="Verdana"/>
              </a:rPr>
              <a:t>Lambda</a:t>
            </a:r>
            <a:r>
              <a:rPr dirty="0" sz="1400" spc="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FFFFFF"/>
                </a:solidFill>
                <a:latin typeface="Verdana"/>
                <a:cs typeface="Verdana"/>
              </a:rPr>
              <a:t>functions</a:t>
            </a:r>
            <a:r>
              <a:rPr dirty="0" sz="1400" spc="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55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dirty="0" sz="1400" spc="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FFFFFF"/>
                </a:solidFill>
                <a:latin typeface="Verdana"/>
                <a:cs typeface="Verdana"/>
              </a:rPr>
              <a:t>handle</a:t>
            </a:r>
            <a:r>
              <a:rPr dirty="0" sz="1400" spc="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Verdana"/>
                <a:cs typeface="Verdana"/>
              </a:rPr>
              <a:t>file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upload,</a:t>
            </a:r>
            <a:r>
              <a:rPr dirty="0" sz="1400" spc="17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download,</a:t>
            </a:r>
            <a:r>
              <a:rPr dirty="0" sz="1400" spc="17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400" spc="175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400" spc="-65">
                <a:solidFill>
                  <a:srgbClr val="FFFFFF"/>
                </a:solidFill>
                <a:latin typeface="Verdana"/>
                <a:cs typeface="Verdana"/>
              </a:rPr>
              <a:t>metadata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operations.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16031" y="4569307"/>
            <a:ext cx="3949700" cy="3723004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  <a:endParaRPr sz="2400">
              <a:latin typeface="Times New Roman"/>
              <a:cs typeface="Times New Roman"/>
            </a:endParaRPr>
          </a:p>
          <a:p>
            <a:pPr algn="just" marL="380365">
              <a:lnSpc>
                <a:spcPct val="100000"/>
              </a:lnSpc>
            </a:pPr>
            <a:r>
              <a:rPr dirty="0" sz="2400" spc="-114">
                <a:solidFill>
                  <a:srgbClr val="F99C00"/>
                </a:solidFill>
                <a:latin typeface="Verdana"/>
                <a:cs typeface="Verdana"/>
              </a:rPr>
              <a:t>Step</a:t>
            </a:r>
            <a:r>
              <a:rPr dirty="0" sz="2400" spc="-390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400" spc="-50">
                <a:solidFill>
                  <a:srgbClr val="F99C00"/>
                </a:solidFill>
                <a:latin typeface="Verdana"/>
                <a:cs typeface="Verdana"/>
              </a:rPr>
              <a:t>5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400">
              <a:latin typeface="Verdana"/>
              <a:cs typeface="Verdana"/>
            </a:endParaRPr>
          </a:p>
          <a:p>
            <a:pPr algn="just" marL="380365" marR="350520">
              <a:lnSpc>
                <a:spcPct val="116100"/>
              </a:lnSpc>
            </a:pP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Build</a:t>
            </a:r>
            <a:r>
              <a:rPr dirty="0" sz="1400" spc="7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400" spc="75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integrate</a:t>
            </a:r>
            <a:r>
              <a:rPr dirty="0" sz="1400" spc="7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API</a:t>
            </a:r>
            <a:r>
              <a:rPr dirty="0" sz="1400" spc="75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400" spc="-40">
                <a:solidFill>
                  <a:srgbClr val="FFFFFF"/>
                </a:solidFill>
                <a:latin typeface="Verdana"/>
                <a:cs typeface="Verdana"/>
              </a:rPr>
              <a:t>Gateway </a:t>
            </a:r>
            <a:r>
              <a:rPr dirty="0" sz="1400" spc="-35">
                <a:solidFill>
                  <a:srgbClr val="FFFFFF"/>
                </a:solidFill>
                <a:latin typeface="Verdana"/>
                <a:cs typeface="Verdana"/>
              </a:rPr>
              <a:t>endpoints</a:t>
            </a:r>
            <a:r>
              <a:rPr dirty="0" sz="140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dirty="0" sz="140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route</a:t>
            </a:r>
            <a:r>
              <a:rPr dirty="0" sz="140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client</a:t>
            </a:r>
            <a:r>
              <a:rPr dirty="0" sz="140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Verdana"/>
                <a:cs typeface="Verdana"/>
              </a:rPr>
              <a:t>requests</a:t>
            </a:r>
            <a:r>
              <a:rPr dirty="0" sz="140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Lambda</a:t>
            </a:r>
            <a:r>
              <a:rPr dirty="0" sz="1400" spc="114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functions.</a:t>
            </a:r>
            <a:r>
              <a:rPr dirty="0" sz="1400" spc="114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Enable</a:t>
            </a:r>
            <a:r>
              <a:rPr dirty="0" sz="1400" spc="12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CORS, </a:t>
            </a:r>
            <a:r>
              <a:rPr dirty="0" sz="1400" spc="-100">
                <a:solidFill>
                  <a:srgbClr val="FFFFFF"/>
                </a:solidFill>
                <a:latin typeface="Verdana"/>
                <a:cs typeface="Verdana"/>
              </a:rPr>
              <a:t>authentication,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40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FFFFFF"/>
                </a:solidFill>
                <a:latin typeface="Verdana"/>
                <a:cs typeface="Verdana"/>
              </a:rPr>
              <a:t>throttling</a:t>
            </a:r>
            <a:r>
              <a:rPr dirty="0" sz="140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140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secure </a:t>
            </a:r>
            <a:r>
              <a:rPr dirty="0" sz="1400" spc="-8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400" spc="-2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FFFFFF"/>
                </a:solidFill>
                <a:latin typeface="Verdana"/>
                <a:cs typeface="Verdana"/>
              </a:rPr>
              <a:t>reliable</a:t>
            </a:r>
            <a:r>
              <a:rPr dirty="0" sz="1400" spc="-2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access.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309748" y="4569308"/>
            <a:ext cx="3949700" cy="3723004"/>
          </a:xfrm>
          <a:prstGeom prst="rect">
            <a:avLst/>
          </a:prstGeom>
          <a:ln w="38099">
            <a:solidFill>
              <a:srgbClr val="202A20"/>
            </a:solidFill>
          </a:ln>
        </p:spPr>
        <p:txBody>
          <a:bodyPr wrap="square" lIns="0" tIns="5206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  <a:endParaRPr sz="2400">
              <a:latin typeface="Times New Roman"/>
              <a:cs typeface="Times New Roman"/>
            </a:endParaRPr>
          </a:p>
          <a:p>
            <a:pPr algn="just" marL="387350">
              <a:lnSpc>
                <a:spcPct val="100000"/>
              </a:lnSpc>
            </a:pPr>
            <a:r>
              <a:rPr dirty="0" sz="2400" spc="-114">
                <a:solidFill>
                  <a:srgbClr val="202A20"/>
                </a:solidFill>
                <a:latin typeface="Verdana"/>
                <a:cs typeface="Verdana"/>
              </a:rPr>
              <a:t>Step</a:t>
            </a:r>
            <a:r>
              <a:rPr dirty="0" sz="2400" spc="-39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2400" spc="-50">
                <a:solidFill>
                  <a:srgbClr val="202A20"/>
                </a:solidFill>
                <a:latin typeface="Verdana"/>
                <a:cs typeface="Verdana"/>
              </a:rPr>
              <a:t>6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400">
              <a:latin typeface="Verdana"/>
              <a:cs typeface="Verdana"/>
            </a:endParaRPr>
          </a:p>
          <a:p>
            <a:pPr algn="just" marL="387350" marR="343535">
              <a:lnSpc>
                <a:spcPct val="116100"/>
              </a:lnSpc>
            </a:pPr>
            <a:r>
              <a:rPr dirty="0" sz="1400" spc="-20">
                <a:solidFill>
                  <a:srgbClr val="202A20"/>
                </a:solidFill>
                <a:latin typeface="Verdana"/>
                <a:cs typeface="Verdana"/>
              </a:rPr>
              <a:t>Develop</a:t>
            </a:r>
            <a:r>
              <a:rPr dirty="0" sz="1400" spc="8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the</a:t>
            </a:r>
            <a:r>
              <a:rPr dirty="0" sz="1400" spc="8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140">
                <a:solidFill>
                  <a:srgbClr val="202A20"/>
                </a:solidFill>
                <a:latin typeface="Verdana"/>
                <a:cs typeface="Verdana"/>
              </a:rPr>
              <a:t>front-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end</a:t>
            </a:r>
            <a:r>
              <a:rPr dirty="0" sz="1400" spc="8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web</a:t>
            </a:r>
            <a:r>
              <a:rPr dirty="0" sz="1400" spc="8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or</a:t>
            </a:r>
            <a:r>
              <a:rPr dirty="0" sz="1400" spc="8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202A20"/>
                </a:solidFill>
                <a:latin typeface="Verdana"/>
                <a:cs typeface="Verdana"/>
              </a:rPr>
              <a:t>mobile </a:t>
            </a:r>
            <a:r>
              <a:rPr dirty="0" sz="1400" spc="-80">
                <a:solidFill>
                  <a:srgbClr val="202A20"/>
                </a:solidFill>
                <a:latin typeface="Verdana"/>
                <a:cs typeface="Verdana"/>
              </a:rPr>
              <a:t>interface</a:t>
            </a:r>
            <a:r>
              <a:rPr dirty="0" sz="1400" spc="-1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202A20"/>
                </a:solidFill>
                <a:latin typeface="Verdana"/>
                <a:cs typeface="Verdana"/>
              </a:rPr>
              <a:t>for</a:t>
            </a:r>
            <a:r>
              <a:rPr dirty="0" sz="1400" spc="-1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202A20"/>
                </a:solidFill>
                <a:latin typeface="Verdana"/>
                <a:cs typeface="Verdana"/>
              </a:rPr>
              <a:t>file</a:t>
            </a:r>
            <a:r>
              <a:rPr dirty="0" sz="1400" spc="-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02A20"/>
                </a:solidFill>
                <a:latin typeface="Verdana"/>
                <a:cs typeface="Verdana"/>
              </a:rPr>
              <a:t>management.</a:t>
            </a:r>
            <a:r>
              <a:rPr dirty="0" sz="1400" spc="-1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202A20"/>
                </a:solidFill>
                <a:latin typeface="Verdana"/>
                <a:cs typeface="Verdana"/>
              </a:rPr>
              <a:t>Conduct </a:t>
            </a:r>
            <a:r>
              <a:rPr dirty="0" sz="1400" spc="-114">
                <a:solidFill>
                  <a:srgbClr val="202A20"/>
                </a:solidFill>
                <a:latin typeface="Verdana"/>
                <a:cs typeface="Verdana"/>
              </a:rPr>
              <a:t>end-</a:t>
            </a:r>
            <a:r>
              <a:rPr dirty="0" sz="1400" spc="-130">
                <a:solidFill>
                  <a:srgbClr val="202A20"/>
                </a:solidFill>
                <a:latin typeface="Verdana"/>
                <a:cs typeface="Verdana"/>
              </a:rPr>
              <a:t>to-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end</a:t>
            </a:r>
            <a:r>
              <a:rPr dirty="0" sz="1400" spc="-6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02A20"/>
                </a:solidFill>
                <a:latin typeface="Verdana"/>
                <a:cs typeface="Verdana"/>
              </a:rPr>
              <a:t>testing,</a:t>
            </a:r>
            <a:r>
              <a:rPr dirty="0" sz="1400" spc="-3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202A20"/>
                </a:solidFill>
                <a:latin typeface="Verdana"/>
                <a:cs typeface="Verdana"/>
              </a:rPr>
              <a:t>resolve </a:t>
            </a:r>
            <a:r>
              <a:rPr dirty="0" sz="1400" spc="-50">
                <a:solidFill>
                  <a:srgbClr val="202A20"/>
                </a:solidFill>
                <a:latin typeface="Verdana"/>
                <a:cs typeface="Verdana"/>
              </a:rPr>
              <a:t>issues,</a:t>
            </a:r>
            <a:r>
              <a:rPr dirty="0" sz="1400" spc="-4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202A20"/>
                </a:solidFill>
                <a:latin typeface="Verdana"/>
                <a:cs typeface="Verdana"/>
              </a:rPr>
              <a:t>and </a:t>
            </a:r>
            <a:r>
              <a:rPr dirty="0" sz="1400" spc="-65">
                <a:solidFill>
                  <a:srgbClr val="202A20"/>
                </a:solidFill>
                <a:latin typeface="Verdana"/>
                <a:cs typeface="Verdana"/>
              </a:rPr>
              <a:t>deploy</a:t>
            </a:r>
            <a:r>
              <a:rPr dirty="0" sz="1400" spc="-3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02A20"/>
                </a:solidFill>
                <a:latin typeface="Verdana"/>
                <a:cs typeface="Verdana"/>
              </a:rPr>
              <a:t>the</a:t>
            </a:r>
            <a:r>
              <a:rPr dirty="0" sz="1400" spc="-3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02A20"/>
                </a:solidFill>
                <a:latin typeface="Verdana"/>
                <a:cs typeface="Verdana"/>
              </a:rPr>
              <a:t>full</a:t>
            </a:r>
            <a:r>
              <a:rPr dirty="0" sz="1400" spc="-3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02A20"/>
                </a:solidFill>
                <a:latin typeface="Verdana"/>
                <a:cs typeface="Verdana"/>
              </a:rPr>
              <a:t>system</a:t>
            </a:r>
            <a:r>
              <a:rPr dirty="0" sz="1400" spc="-3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202A20"/>
                </a:solidFill>
                <a:latin typeface="Verdana"/>
                <a:cs typeface="Verdana"/>
              </a:rPr>
              <a:t>to</a:t>
            </a:r>
            <a:r>
              <a:rPr dirty="0" sz="1400" spc="-3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02A20"/>
                </a:solidFill>
                <a:latin typeface="Verdana"/>
                <a:cs typeface="Verdana"/>
              </a:rPr>
              <a:t>production</a:t>
            </a:r>
            <a:r>
              <a:rPr dirty="0" sz="1400" spc="-3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202A20"/>
                </a:solidFill>
                <a:latin typeface="Verdana"/>
                <a:cs typeface="Verdana"/>
              </a:rPr>
              <a:t>on </a:t>
            </a:r>
            <a:r>
              <a:rPr dirty="0" sz="1400" spc="-20">
                <a:solidFill>
                  <a:srgbClr val="202A20"/>
                </a:solidFill>
                <a:latin typeface="Verdana"/>
                <a:cs typeface="Verdana"/>
              </a:rPr>
              <a:t>AWS.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285396" y="5143512"/>
            <a:ext cx="481330" cy="481330"/>
          </a:xfrm>
          <a:custGeom>
            <a:avLst/>
            <a:gdLst/>
            <a:ahLst/>
            <a:cxnLst/>
            <a:rect l="l" t="t" r="r" b="b"/>
            <a:pathLst>
              <a:path w="481329" h="481329">
                <a:moveTo>
                  <a:pt x="348818" y="242189"/>
                </a:moveTo>
                <a:lnTo>
                  <a:pt x="348691" y="241884"/>
                </a:lnTo>
                <a:lnTo>
                  <a:pt x="348691" y="240919"/>
                </a:lnTo>
                <a:lnTo>
                  <a:pt x="347992" y="240233"/>
                </a:lnTo>
                <a:lnTo>
                  <a:pt x="347141" y="238163"/>
                </a:lnTo>
                <a:lnTo>
                  <a:pt x="249402" y="140347"/>
                </a:lnTo>
                <a:lnTo>
                  <a:pt x="243014" y="140347"/>
                </a:lnTo>
                <a:lnTo>
                  <a:pt x="235077" y="148221"/>
                </a:lnTo>
                <a:lnTo>
                  <a:pt x="235077" y="154609"/>
                </a:lnTo>
                <a:lnTo>
                  <a:pt x="316877" y="236410"/>
                </a:lnTo>
                <a:lnTo>
                  <a:pt x="138620" y="236410"/>
                </a:lnTo>
                <a:lnTo>
                  <a:pt x="134112" y="240919"/>
                </a:lnTo>
                <a:lnTo>
                  <a:pt x="134112" y="252082"/>
                </a:lnTo>
                <a:lnTo>
                  <a:pt x="138620" y="256578"/>
                </a:lnTo>
                <a:lnTo>
                  <a:pt x="316877" y="256578"/>
                </a:lnTo>
                <a:lnTo>
                  <a:pt x="235077" y="338328"/>
                </a:lnTo>
                <a:lnTo>
                  <a:pt x="235077" y="344703"/>
                </a:lnTo>
                <a:lnTo>
                  <a:pt x="240995" y="350621"/>
                </a:lnTo>
                <a:lnTo>
                  <a:pt x="243611" y="351637"/>
                </a:lnTo>
                <a:lnTo>
                  <a:pt x="246176" y="351637"/>
                </a:lnTo>
                <a:lnTo>
                  <a:pt x="248729" y="351637"/>
                </a:lnTo>
                <a:lnTo>
                  <a:pt x="251345" y="350621"/>
                </a:lnTo>
                <a:lnTo>
                  <a:pt x="347141" y="254901"/>
                </a:lnTo>
                <a:lnTo>
                  <a:pt x="348018" y="252755"/>
                </a:lnTo>
                <a:lnTo>
                  <a:pt x="348691" y="252082"/>
                </a:lnTo>
                <a:lnTo>
                  <a:pt x="348691" y="251117"/>
                </a:lnTo>
                <a:lnTo>
                  <a:pt x="348818" y="250799"/>
                </a:lnTo>
                <a:lnTo>
                  <a:pt x="348818" y="242189"/>
                </a:lnTo>
                <a:close/>
              </a:path>
              <a:path w="481329" h="481329">
                <a:moveTo>
                  <a:pt x="481241" y="240652"/>
                </a:moveTo>
                <a:lnTo>
                  <a:pt x="476351" y="192214"/>
                </a:lnTo>
                <a:lnTo>
                  <a:pt x="462318" y="147066"/>
                </a:lnTo>
                <a:lnTo>
                  <a:pt x="461086" y="144805"/>
                </a:lnTo>
                <a:lnTo>
                  <a:pt x="461086" y="240652"/>
                </a:lnTo>
                <a:lnTo>
                  <a:pt x="456603" y="285038"/>
                </a:lnTo>
                <a:lnTo>
                  <a:pt x="443738" y="326402"/>
                </a:lnTo>
                <a:lnTo>
                  <a:pt x="423405" y="363855"/>
                </a:lnTo>
                <a:lnTo>
                  <a:pt x="396468" y="396494"/>
                </a:lnTo>
                <a:lnTo>
                  <a:pt x="363842" y="423430"/>
                </a:lnTo>
                <a:lnTo>
                  <a:pt x="326402" y="443788"/>
                </a:lnTo>
                <a:lnTo>
                  <a:pt x="285038" y="456653"/>
                </a:lnTo>
                <a:lnTo>
                  <a:pt x="240665" y="461137"/>
                </a:lnTo>
                <a:lnTo>
                  <a:pt x="196265" y="456653"/>
                </a:lnTo>
                <a:lnTo>
                  <a:pt x="154901" y="443788"/>
                </a:lnTo>
                <a:lnTo>
                  <a:pt x="117449" y="423430"/>
                </a:lnTo>
                <a:lnTo>
                  <a:pt x="84810" y="396494"/>
                </a:lnTo>
                <a:lnTo>
                  <a:pt x="57873" y="363855"/>
                </a:lnTo>
                <a:lnTo>
                  <a:pt x="37515" y="326402"/>
                </a:lnTo>
                <a:lnTo>
                  <a:pt x="24663" y="285038"/>
                </a:lnTo>
                <a:lnTo>
                  <a:pt x="20167" y="240652"/>
                </a:lnTo>
                <a:lnTo>
                  <a:pt x="24663" y="196265"/>
                </a:lnTo>
                <a:lnTo>
                  <a:pt x="37515" y="154889"/>
                </a:lnTo>
                <a:lnTo>
                  <a:pt x="57873" y="117449"/>
                </a:lnTo>
                <a:lnTo>
                  <a:pt x="84810" y="84797"/>
                </a:lnTo>
                <a:lnTo>
                  <a:pt x="117449" y="57861"/>
                </a:lnTo>
                <a:lnTo>
                  <a:pt x="154901" y="37515"/>
                </a:lnTo>
                <a:lnTo>
                  <a:pt x="196265" y="24650"/>
                </a:lnTo>
                <a:lnTo>
                  <a:pt x="240665" y="20154"/>
                </a:lnTo>
                <a:lnTo>
                  <a:pt x="285026" y="24650"/>
                </a:lnTo>
                <a:lnTo>
                  <a:pt x="326377" y="37515"/>
                </a:lnTo>
                <a:lnTo>
                  <a:pt x="363816" y="57861"/>
                </a:lnTo>
                <a:lnTo>
                  <a:pt x="396443" y="84797"/>
                </a:lnTo>
                <a:lnTo>
                  <a:pt x="423379" y="117449"/>
                </a:lnTo>
                <a:lnTo>
                  <a:pt x="443725" y="154889"/>
                </a:lnTo>
                <a:lnTo>
                  <a:pt x="456590" y="196265"/>
                </a:lnTo>
                <a:lnTo>
                  <a:pt x="461086" y="240652"/>
                </a:lnTo>
                <a:lnTo>
                  <a:pt x="461086" y="144805"/>
                </a:lnTo>
                <a:lnTo>
                  <a:pt x="440105" y="106184"/>
                </a:lnTo>
                <a:lnTo>
                  <a:pt x="410718" y="70561"/>
                </a:lnTo>
                <a:lnTo>
                  <a:pt x="375094" y="41148"/>
                </a:lnTo>
                <a:lnTo>
                  <a:pt x="336486" y="20154"/>
                </a:lnTo>
                <a:lnTo>
                  <a:pt x="289090" y="4889"/>
                </a:lnTo>
                <a:lnTo>
                  <a:pt x="240665" y="0"/>
                </a:lnTo>
                <a:lnTo>
                  <a:pt x="192252" y="4889"/>
                </a:lnTo>
                <a:lnTo>
                  <a:pt x="147104" y="18935"/>
                </a:lnTo>
                <a:lnTo>
                  <a:pt x="106235" y="41148"/>
                </a:lnTo>
                <a:lnTo>
                  <a:pt x="70599" y="70561"/>
                </a:lnTo>
                <a:lnTo>
                  <a:pt x="41186" y="106184"/>
                </a:lnTo>
                <a:lnTo>
                  <a:pt x="18961" y="147066"/>
                </a:lnTo>
                <a:lnTo>
                  <a:pt x="4902" y="192214"/>
                </a:lnTo>
                <a:lnTo>
                  <a:pt x="0" y="240652"/>
                </a:lnTo>
                <a:lnTo>
                  <a:pt x="4902" y="289064"/>
                </a:lnTo>
                <a:lnTo>
                  <a:pt x="18948" y="334187"/>
                </a:lnTo>
                <a:lnTo>
                  <a:pt x="41160" y="375056"/>
                </a:lnTo>
                <a:lnTo>
                  <a:pt x="70573" y="410679"/>
                </a:lnTo>
                <a:lnTo>
                  <a:pt x="106197" y="440080"/>
                </a:lnTo>
                <a:lnTo>
                  <a:pt x="147078" y="462292"/>
                </a:lnTo>
                <a:lnTo>
                  <a:pt x="192214" y="476338"/>
                </a:lnTo>
                <a:lnTo>
                  <a:pt x="240665" y="481241"/>
                </a:lnTo>
                <a:lnTo>
                  <a:pt x="241312" y="481241"/>
                </a:lnTo>
                <a:lnTo>
                  <a:pt x="289737" y="476338"/>
                </a:lnTo>
                <a:lnTo>
                  <a:pt x="289293" y="476338"/>
                </a:lnTo>
                <a:lnTo>
                  <a:pt x="334327" y="462292"/>
                </a:lnTo>
                <a:lnTo>
                  <a:pt x="375145" y="440080"/>
                </a:lnTo>
                <a:lnTo>
                  <a:pt x="410743" y="410679"/>
                </a:lnTo>
                <a:lnTo>
                  <a:pt x="440118" y="375056"/>
                </a:lnTo>
                <a:lnTo>
                  <a:pt x="462318" y="334187"/>
                </a:lnTo>
                <a:lnTo>
                  <a:pt x="476351" y="289064"/>
                </a:lnTo>
                <a:lnTo>
                  <a:pt x="481241" y="2406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6369538" y="5143512"/>
            <a:ext cx="481330" cy="481330"/>
          </a:xfrm>
          <a:custGeom>
            <a:avLst/>
            <a:gdLst/>
            <a:ahLst/>
            <a:cxnLst/>
            <a:rect l="l" t="t" r="r" b="b"/>
            <a:pathLst>
              <a:path w="481330" h="481329">
                <a:moveTo>
                  <a:pt x="348818" y="242189"/>
                </a:moveTo>
                <a:lnTo>
                  <a:pt x="348678" y="241858"/>
                </a:lnTo>
                <a:lnTo>
                  <a:pt x="348678" y="240919"/>
                </a:lnTo>
                <a:lnTo>
                  <a:pt x="348005" y="240258"/>
                </a:lnTo>
                <a:lnTo>
                  <a:pt x="347141" y="238163"/>
                </a:lnTo>
                <a:lnTo>
                  <a:pt x="249389" y="140347"/>
                </a:lnTo>
                <a:lnTo>
                  <a:pt x="243014" y="140347"/>
                </a:lnTo>
                <a:lnTo>
                  <a:pt x="235077" y="148221"/>
                </a:lnTo>
                <a:lnTo>
                  <a:pt x="235077" y="154609"/>
                </a:lnTo>
                <a:lnTo>
                  <a:pt x="316877" y="236410"/>
                </a:lnTo>
                <a:lnTo>
                  <a:pt x="138620" y="236410"/>
                </a:lnTo>
                <a:lnTo>
                  <a:pt x="134112" y="240919"/>
                </a:lnTo>
                <a:lnTo>
                  <a:pt x="134112" y="252082"/>
                </a:lnTo>
                <a:lnTo>
                  <a:pt x="138620" y="256578"/>
                </a:lnTo>
                <a:lnTo>
                  <a:pt x="316877" y="256578"/>
                </a:lnTo>
                <a:lnTo>
                  <a:pt x="235077" y="338328"/>
                </a:lnTo>
                <a:lnTo>
                  <a:pt x="235077" y="344703"/>
                </a:lnTo>
                <a:lnTo>
                  <a:pt x="240995" y="350621"/>
                </a:lnTo>
                <a:lnTo>
                  <a:pt x="243611" y="351637"/>
                </a:lnTo>
                <a:lnTo>
                  <a:pt x="246164" y="351637"/>
                </a:lnTo>
                <a:lnTo>
                  <a:pt x="248729" y="351637"/>
                </a:lnTo>
                <a:lnTo>
                  <a:pt x="251345" y="350621"/>
                </a:lnTo>
                <a:lnTo>
                  <a:pt x="347141" y="254901"/>
                </a:lnTo>
                <a:lnTo>
                  <a:pt x="348018" y="252742"/>
                </a:lnTo>
                <a:lnTo>
                  <a:pt x="348678" y="252082"/>
                </a:lnTo>
                <a:lnTo>
                  <a:pt x="348678" y="251142"/>
                </a:lnTo>
                <a:lnTo>
                  <a:pt x="348818" y="250799"/>
                </a:lnTo>
                <a:lnTo>
                  <a:pt x="348818" y="242189"/>
                </a:lnTo>
                <a:close/>
              </a:path>
              <a:path w="481330" h="481329">
                <a:moveTo>
                  <a:pt x="481241" y="240652"/>
                </a:moveTo>
                <a:lnTo>
                  <a:pt x="476351" y="192214"/>
                </a:lnTo>
                <a:lnTo>
                  <a:pt x="462318" y="147066"/>
                </a:lnTo>
                <a:lnTo>
                  <a:pt x="461073" y="144780"/>
                </a:lnTo>
                <a:lnTo>
                  <a:pt x="461073" y="240652"/>
                </a:lnTo>
                <a:lnTo>
                  <a:pt x="456590" y="285038"/>
                </a:lnTo>
                <a:lnTo>
                  <a:pt x="443738" y="326402"/>
                </a:lnTo>
                <a:lnTo>
                  <a:pt x="423405" y="363855"/>
                </a:lnTo>
                <a:lnTo>
                  <a:pt x="396468" y="396494"/>
                </a:lnTo>
                <a:lnTo>
                  <a:pt x="363842" y="423430"/>
                </a:lnTo>
                <a:lnTo>
                  <a:pt x="326402" y="443788"/>
                </a:lnTo>
                <a:lnTo>
                  <a:pt x="285038" y="456653"/>
                </a:lnTo>
                <a:lnTo>
                  <a:pt x="240652" y="461137"/>
                </a:lnTo>
                <a:lnTo>
                  <a:pt x="196265" y="456653"/>
                </a:lnTo>
                <a:lnTo>
                  <a:pt x="154901" y="443788"/>
                </a:lnTo>
                <a:lnTo>
                  <a:pt x="117449" y="423430"/>
                </a:lnTo>
                <a:lnTo>
                  <a:pt x="84810" y="396494"/>
                </a:lnTo>
                <a:lnTo>
                  <a:pt x="57873" y="363855"/>
                </a:lnTo>
                <a:lnTo>
                  <a:pt x="37515" y="326402"/>
                </a:lnTo>
                <a:lnTo>
                  <a:pt x="24650" y="285038"/>
                </a:lnTo>
                <a:lnTo>
                  <a:pt x="20167" y="240652"/>
                </a:lnTo>
                <a:lnTo>
                  <a:pt x="24650" y="196265"/>
                </a:lnTo>
                <a:lnTo>
                  <a:pt x="37515" y="154889"/>
                </a:lnTo>
                <a:lnTo>
                  <a:pt x="57873" y="117449"/>
                </a:lnTo>
                <a:lnTo>
                  <a:pt x="84810" y="84797"/>
                </a:lnTo>
                <a:lnTo>
                  <a:pt x="117449" y="57861"/>
                </a:lnTo>
                <a:lnTo>
                  <a:pt x="154901" y="37515"/>
                </a:lnTo>
                <a:lnTo>
                  <a:pt x="196265" y="24650"/>
                </a:lnTo>
                <a:lnTo>
                  <a:pt x="240652" y="20154"/>
                </a:lnTo>
                <a:lnTo>
                  <a:pt x="285026" y="24650"/>
                </a:lnTo>
                <a:lnTo>
                  <a:pt x="326377" y="37515"/>
                </a:lnTo>
                <a:lnTo>
                  <a:pt x="363804" y="57861"/>
                </a:lnTo>
                <a:lnTo>
                  <a:pt x="396443" y="84797"/>
                </a:lnTo>
                <a:lnTo>
                  <a:pt x="423379" y="117449"/>
                </a:lnTo>
                <a:lnTo>
                  <a:pt x="443725" y="154889"/>
                </a:lnTo>
                <a:lnTo>
                  <a:pt x="456590" y="196265"/>
                </a:lnTo>
                <a:lnTo>
                  <a:pt x="461073" y="240652"/>
                </a:lnTo>
                <a:lnTo>
                  <a:pt x="461073" y="144780"/>
                </a:lnTo>
                <a:lnTo>
                  <a:pt x="440105" y="106184"/>
                </a:lnTo>
                <a:lnTo>
                  <a:pt x="410718" y="70561"/>
                </a:lnTo>
                <a:lnTo>
                  <a:pt x="375094" y="41148"/>
                </a:lnTo>
                <a:lnTo>
                  <a:pt x="336486" y="20154"/>
                </a:lnTo>
                <a:lnTo>
                  <a:pt x="289090" y="4889"/>
                </a:lnTo>
                <a:lnTo>
                  <a:pt x="240652" y="0"/>
                </a:lnTo>
                <a:lnTo>
                  <a:pt x="192239" y="4889"/>
                </a:lnTo>
                <a:lnTo>
                  <a:pt x="147104" y="18935"/>
                </a:lnTo>
                <a:lnTo>
                  <a:pt x="106235" y="41148"/>
                </a:lnTo>
                <a:lnTo>
                  <a:pt x="70599" y="70561"/>
                </a:lnTo>
                <a:lnTo>
                  <a:pt x="41186" y="106184"/>
                </a:lnTo>
                <a:lnTo>
                  <a:pt x="18961" y="147066"/>
                </a:lnTo>
                <a:lnTo>
                  <a:pt x="4902" y="192214"/>
                </a:lnTo>
                <a:lnTo>
                  <a:pt x="0" y="240652"/>
                </a:lnTo>
                <a:lnTo>
                  <a:pt x="4902" y="289064"/>
                </a:lnTo>
                <a:lnTo>
                  <a:pt x="18948" y="334187"/>
                </a:lnTo>
                <a:lnTo>
                  <a:pt x="41160" y="375056"/>
                </a:lnTo>
                <a:lnTo>
                  <a:pt x="70573" y="410679"/>
                </a:lnTo>
                <a:lnTo>
                  <a:pt x="106197" y="440080"/>
                </a:lnTo>
                <a:lnTo>
                  <a:pt x="147078" y="462292"/>
                </a:lnTo>
                <a:lnTo>
                  <a:pt x="192214" y="476338"/>
                </a:lnTo>
                <a:lnTo>
                  <a:pt x="240665" y="481241"/>
                </a:lnTo>
                <a:lnTo>
                  <a:pt x="241312" y="481241"/>
                </a:lnTo>
                <a:lnTo>
                  <a:pt x="289737" y="476338"/>
                </a:lnTo>
                <a:lnTo>
                  <a:pt x="289293" y="476338"/>
                </a:lnTo>
                <a:lnTo>
                  <a:pt x="334327" y="462292"/>
                </a:lnTo>
                <a:lnTo>
                  <a:pt x="375145" y="440080"/>
                </a:lnTo>
                <a:lnTo>
                  <a:pt x="410730" y="410679"/>
                </a:lnTo>
                <a:lnTo>
                  <a:pt x="440118" y="375056"/>
                </a:lnTo>
                <a:lnTo>
                  <a:pt x="462318" y="334187"/>
                </a:lnTo>
                <a:lnTo>
                  <a:pt x="476351" y="289064"/>
                </a:lnTo>
                <a:lnTo>
                  <a:pt x="481241" y="240652"/>
                </a:lnTo>
                <a:close/>
              </a:path>
            </a:pathLst>
          </a:custGeom>
          <a:solidFill>
            <a:srgbClr val="F99C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57679" y="1191822"/>
            <a:ext cx="3872229" cy="0"/>
          </a:xfrm>
          <a:custGeom>
            <a:avLst/>
            <a:gdLst/>
            <a:ahLst/>
            <a:cxnLst/>
            <a:rect l="l" t="t" r="r" b="b"/>
            <a:pathLst>
              <a:path w="3872229" h="0">
                <a:moveTo>
                  <a:pt x="0" y="0"/>
                </a:moveTo>
                <a:lnTo>
                  <a:pt x="3872037" y="0"/>
                </a:lnTo>
              </a:path>
            </a:pathLst>
          </a:custGeom>
          <a:ln w="19049">
            <a:solidFill>
              <a:srgbClr val="F99C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2078238" y="0"/>
            <a:ext cx="5669280" cy="10287000"/>
            <a:chOff x="12078238" y="0"/>
            <a:chExt cx="5669280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76389" y="0"/>
              <a:ext cx="4471121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078238" y="4853387"/>
              <a:ext cx="5177155" cy="3723004"/>
            </a:xfrm>
            <a:custGeom>
              <a:avLst/>
              <a:gdLst/>
              <a:ahLst/>
              <a:cxnLst/>
              <a:rect l="l" t="t" r="r" b="b"/>
              <a:pathLst>
                <a:path w="5177155" h="3723004">
                  <a:moveTo>
                    <a:pt x="5177141" y="3722888"/>
                  </a:moveTo>
                  <a:lnTo>
                    <a:pt x="0" y="3722888"/>
                  </a:lnTo>
                  <a:lnTo>
                    <a:pt x="0" y="0"/>
                  </a:lnTo>
                  <a:lnTo>
                    <a:pt x="5177141" y="0"/>
                  </a:lnTo>
                  <a:lnTo>
                    <a:pt x="5177141" y="3722888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6317252" y="5393308"/>
              <a:ext cx="481330" cy="481330"/>
            </a:xfrm>
            <a:custGeom>
              <a:avLst/>
              <a:gdLst/>
              <a:ahLst/>
              <a:cxnLst/>
              <a:rect l="l" t="t" r="r" b="b"/>
              <a:pathLst>
                <a:path w="481330" h="481329">
                  <a:moveTo>
                    <a:pt x="348818" y="242201"/>
                  </a:moveTo>
                  <a:lnTo>
                    <a:pt x="348691" y="241896"/>
                  </a:lnTo>
                  <a:lnTo>
                    <a:pt x="348691" y="240931"/>
                  </a:lnTo>
                  <a:lnTo>
                    <a:pt x="347992" y="240245"/>
                  </a:lnTo>
                  <a:lnTo>
                    <a:pt x="347141" y="238175"/>
                  </a:lnTo>
                  <a:lnTo>
                    <a:pt x="249402" y="140360"/>
                  </a:lnTo>
                  <a:lnTo>
                    <a:pt x="243014" y="140360"/>
                  </a:lnTo>
                  <a:lnTo>
                    <a:pt x="235077" y="148234"/>
                  </a:lnTo>
                  <a:lnTo>
                    <a:pt x="235077" y="154609"/>
                  </a:lnTo>
                  <a:lnTo>
                    <a:pt x="316890" y="236423"/>
                  </a:lnTo>
                  <a:lnTo>
                    <a:pt x="138620" y="236423"/>
                  </a:lnTo>
                  <a:lnTo>
                    <a:pt x="134112" y="240931"/>
                  </a:lnTo>
                  <a:lnTo>
                    <a:pt x="134112" y="252082"/>
                  </a:lnTo>
                  <a:lnTo>
                    <a:pt x="138620" y="256590"/>
                  </a:lnTo>
                  <a:lnTo>
                    <a:pt x="316877" y="256590"/>
                  </a:lnTo>
                  <a:lnTo>
                    <a:pt x="235077" y="338328"/>
                  </a:lnTo>
                  <a:lnTo>
                    <a:pt x="235077" y="344716"/>
                  </a:lnTo>
                  <a:lnTo>
                    <a:pt x="240995" y="350634"/>
                  </a:lnTo>
                  <a:lnTo>
                    <a:pt x="243624" y="351637"/>
                  </a:lnTo>
                  <a:lnTo>
                    <a:pt x="246176" y="351637"/>
                  </a:lnTo>
                  <a:lnTo>
                    <a:pt x="248729" y="351637"/>
                  </a:lnTo>
                  <a:lnTo>
                    <a:pt x="251345" y="350634"/>
                  </a:lnTo>
                  <a:lnTo>
                    <a:pt x="347141" y="254914"/>
                  </a:lnTo>
                  <a:lnTo>
                    <a:pt x="348018" y="252755"/>
                  </a:lnTo>
                  <a:lnTo>
                    <a:pt x="348691" y="252082"/>
                  </a:lnTo>
                  <a:lnTo>
                    <a:pt x="348691" y="251129"/>
                  </a:lnTo>
                  <a:lnTo>
                    <a:pt x="348818" y="250812"/>
                  </a:lnTo>
                  <a:lnTo>
                    <a:pt x="348818" y="242201"/>
                  </a:lnTo>
                  <a:close/>
                </a:path>
                <a:path w="481330" h="481329">
                  <a:moveTo>
                    <a:pt x="481253" y="240665"/>
                  </a:moveTo>
                  <a:lnTo>
                    <a:pt x="476351" y="192214"/>
                  </a:lnTo>
                  <a:lnTo>
                    <a:pt x="462318" y="147078"/>
                  </a:lnTo>
                  <a:lnTo>
                    <a:pt x="461086" y="144818"/>
                  </a:lnTo>
                  <a:lnTo>
                    <a:pt x="461086" y="240665"/>
                  </a:lnTo>
                  <a:lnTo>
                    <a:pt x="456603" y="285051"/>
                  </a:lnTo>
                  <a:lnTo>
                    <a:pt x="443738" y="326415"/>
                  </a:lnTo>
                  <a:lnTo>
                    <a:pt x="423405" y="363867"/>
                  </a:lnTo>
                  <a:lnTo>
                    <a:pt x="396468" y="396506"/>
                  </a:lnTo>
                  <a:lnTo>
                    <a:pt x="363842" y="423443"/>
                  </a:lnTo>
                  <a:lnTo>
                    <a:pt x="326402" y="443801"/>
                  </a:lnTo>
                  <a:lnTo>
                    <a:pt x="285038" y="456666"/>
                  </a:lnTo>
                  <a:lnTo>
                    <a:pt x="240665" y="461149"/>
                  </a:lnTo>
                  <a:lnTo>
                    <a:pt x="196265" y="456666"/>
                  </a:lnTo>
                  <a:lnTo>
                    <a:pt x="154901" y="443801"/>
                  </a:lnTo>
                  <a:lnTo>
                    <a:pt x="117462" y="423443"/>
                  </a:lnTo>
                  <a:lnTo>
                    <a:pt x="84810" y="396506"/>
                  </a:lnTo>
                  <a:lnTo>
                    <a:pt x="57873" y="363867"/>
                  </a:lnTo>
                  <a:lnTo>
                    <a:pt x="37528" y="326415"/>
                  </a:lnTo>
                  <a:lnTo>
                    <a:pt x="24663" y="285051"/>
                  </a:lnTo>
                  <a:lnTo>
                    <a:pt x="20167" y="240665"/>
                  </a:lnTo>
                  <a:lnTo>
                    <a:pt x="24663" y="196265"/>
                  </a:lnTo>
                  <a:lnTo>
                    <a:pt x="37528" y="154901"/>
                  </a:lnTo>
                  <a:lnTo>
                    <a:pt x="57873" y="117449"/>
                  </a:lnTo>
                  <a:lnTo>
                    <a:pt x="84810" y="84810"/>
                  </a:lnTo>
                  <a:lnTo>
                    <a:pt x="117462" y="57873"/>
                  </a:lnTo>
                  <a:lnTo>
                    <a:pt x="154901" y="37515"/>
                  </a:lnTo>
                  <a:lnTo>
                    <a:pt x="196265" y="24663"/>
                  </a:lnTo>
                  <a:lnTo>
                    <a:pt x="240665" y="20167"/>
                  </a:lnTo>
                  <a:lnTo>
                    <a:pt x="285026" y="24663"/>
                  </a:lnTo>
                  <a:lnTo>
                    <a:pt x="326377" y="37515"/>
                  </a:lnTo>
                  <a:lnTo>
                    <a:pt x="363816" y="57873"/>
                  </a:lnTo>
                  <a:lnTo>
                    <a:pt x="396443" y="84810"/>
                  </a:lnTo>
                  <a:lnTo>
                    <a:pt x="423379" y="117449"/>
                  </a:lnTo>
                  <a:lnTo>
                    <a:pt x="443725" y="154901"/>
                  </a:lnTo>
                  <a:lnTo>
                    <a:pt x="456590" y="196265"/>
                  </a:lnTo>
                  <a:lnTo>
                    <a:pt x="461086" y="240665"/>
                  </a:lnTo>
                  <a:lnTo>
                    <a:pt x="461086" y="144818"/>
                  </a:lnTo>
                  <a:lnTo>
                    <a:pt x="440118" y="106197"/>
                  </a:lnTo>
                  <a:lnTo>
                    <a:pt x="410718" y="70573"/>
                  </a:lnTo>
                  <a:lnTo>
                    <a:pt x="375094" y="41160"/>
                  </a:lnTo>
                  <a:lnTo>
                    <a:pt x="336486" y="20167"/>
                  </a:lnTo>
                  <a:lnTo>
                    <a:pt x="289090" y="4902"/>
                  </a:lnTo>
                  <a:lnTo>
                    <a:pt x="240665" y="0"/>
                  </a:lnTo>
                  <a:lnTo>
                    <a:pt x="192252" y="4902"/>
                  </a:lnTo>
                  <a:lnTo>
                    <a:pt x="147104" y="18948"/>
                  </a:lnTo>
                  <a:lnTo>
                    <a:pt x="106235" y="41160"/>
                  </a:lnTo>
                  <a:lnTo>
                    <a:pt x="70599" y="70573"/>
                  </a:lnTo>
                  <a:lnTo>
                    <a:pt x="41186" y="106197"/>
                  </a:lnTo>
                  <a:lnTo>
                    <a:pt x="18961" y="147078"/>
                  </a:lnTo>
                  <a:lnTo>
                    <a:pt x="4914" y="192214"/>
                  </a:lnTo>
                  <a:lnTo>
                    <a:pt x="0" y="240665"/>
                  </a:lnTo>
                  <a:lnTo>
                    <a:pt x="4902" y="289077"/>
                  </a:lnTo>
                  <a:lnTo>
                    <a:pt x="18948" y="334200"/>
                  </a:lnTo>
                  <a:lnTo>
                    <a:pt x="41160" y="375069"/>
                  </a:lnTo>
                  <a:lnTo>
                    <a:pt x="70573" y="410692"/>
                  </a:lnTo>
                  <a:lnTo>
                    <a:pt x="106197" y="440093"/>
                  </a:lnTo>
                  <a:lnTo>
                    <a:pt x="147078" y="462305"/>
                  </a:lnTo>
                  <a:lnTo>
                    <a:pt x="192227" y="476351"/>
                  </a:lnTo>
                  <a:lnTo>
                    <a:pt x="240665" y="481253"/>
                  </a:lnTo>
                  <a:lnTo>
                    <a:pt x="241312" y="481253"/>
                  </a:lnTo>
                  <a:lnTo>
                    <a:pt x="289737" y="476351"/>
                  </a:lnTo>
                  <a:lnTo>
                    <a:pt x="289293" y="476351"/>
                  </a:lnTo>
                  <a:lnTo>
                    <a:pt x="334327" y="462305"/>
                  </a:lnTo>
                  <a:lnTo>
                    <a:pt x="375145" y="440093"/>
                  </a:lnTo>
                  <a:lnTo>
                    <a:pt x="410743" y="410692"/>
                  </a:lnTo>
                  <a:lnTo>
                    <a:pt x="440118" y="375069"/>
                  </a:lnTo>
                  <a:lnTo>
                    <a:pt x="462318" y="334200"/>
                  </a:lnTo>
                  <a:lnTo>
                    <a:pt x="476351" y="289077"/>
                  </a:lnTo>
                  <a:lnTo>
                    <a:pt x="481253" y="240665"/>
                  </a:lnTo>
                  <a:close/>
                </a:path>
              </a:pathLst>
            </a:custGeom>
            <a:solidFill>
              <a:srgbClr val="F99C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533846" y="1029297"/>
            <a:ext cx="2620010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70">
                <a:latin typeface="Verdana"/>
                <a:cs typeface="Verdana"/>
              </a:rPr>
              <a:t>Personal</a:t>
            </a:r>
            <a:r>
              <a:rPr dirty="0" sz="1400" spc="-190">
                <a:latin typeface="Verdana"/>
                <a:cs typeface="Verdana"/>
              </a:rPr>
              <a:t> </a:t>
            </a:r>
            <a:r>
              <a:rPr dirty="0" sz="1400" spc="-50">
                <a:latin typeface="Verdana"/>
                <a:cs typeface="Verdana"/>
              </a:rPr>
              <a:t>Cloud</a:t>
            </a:r>
            <a:r>
              <a:rPr dirty="0" sz="1400" spc="-190">
                <a:latin typeface="Verdana"/>
                <a:cs typeface="Verdana"/>
              </a:rPr>
              <a:t> </a:t>
            </a:r>
            <a:r>
              <a:rPr dirty="0" sz="1400" spc="-110">
                <a:latin typeface="Verdana"/>
                <a:cs typeface="Verdana"/>
              </a:rPr>
              <a:t>Drive</a:t>
            </a:r>
            <a:r>
              <a:rPr dirty="0" sz="1400" spc="-190">
                <a:latin typeface="Verdana"/>
                <a:cs typeface="Verdana"/>
              </a:rPr>
              <a:t> </a:t>
            </a:r>
            <a:r>
              <a:rPr dirty="0" sz="1400" spc="-80">
                <a:latin typeface="Verdana"/>
                <a:cs typeface="Verdana"/>
              </a:rPr>
              <a:t>Using</a:t>
            </a:r>
            <a:r>
              <a:rPr dirty="0" sz="1400" spc="-185">
                <a:latin typeface="Verdana"/>
                <a:cs typeface="Verdana"/>
              </a:rPr>
              <a:t> </a:t>
            </a:r>
            <a:r>
              <a:rPr dirty="0" sz="1400" spc="-25">
                <a:latin typeface="Verdana"/>
                <a:cs typeface="Verdana"/>
              </a:rPr>
              <a:t>AWS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87316" y="1029297"/>
            <a:ext cx="1033780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75">
                <a:latin typeface="Verdana"/>
                <a:cs typeface="Verdana"/>
              </a:rPr>
              <a:t>Presentation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6000" y="8977104"/>
            <a:ext cx="2011045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85">
                <a:latin typeface="Verdana"/>
                <a:cs typeface="Verdana"/>
                <a:hlinkClick r:id="rId3"/>
              </a:rPr>
              <a:t>www.reallygreatsite.com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6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20"/>
              <a:t>USE</a:t>
            </a:r>
            <a:r>
              <a:rPr dirty="0" spc="-1410"/>
              <a:t> </a:t>
            </a:r>
            <a:r>
              <a:rPr dirty="0" spc="-275"/>
              <a:t>CASES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1028700" y="4853387"/>
            <a:ext cx="5177155" cy="3723004"/>
            <a:chOff x="1028700" y="4853387"/>
            <a:chExt cx="5177155" cy="3723004"/>
          </a:xfrm>
        </p:grpSpPr>
        <p:sp>
          <p:nvSpPr>
            <p:cNvPr id="12" name="object 12"/>
            <p:cNvSpPr/>
            <p:nvPr/>
          </p:nvSpPr>
          <p:spPr>
            <a:xfrm>
              <a:off x="1028700" y="4853387"/>
              <a:ext cx="5177155" cy="3723004"/>
            </a:xfrm>
            <a:custGeom>
              <a:avLst/>
              <a:gdLst/>
              <a:ahLst/>
              <a:cxnLst/>
              <a:rect l="l" t="t" r="r" b="b"/>
              <a:pathLst>
                <a:path w="5177155" h="3723004">
                  <a:moveTo>
                    <a:pt x="5177141" y="3722888"/>
                  </a:moveTo>
                  <a:lnTo>
                    <a:pt x="0" y="3722888"/>
                  </a:lnTo>
                  <a:lnTo>
                    <a:pt x="0" y="0"/>
                  </a:lnTo>
                  <a:lnTo>
                    <a:pt x="5177141" y="0"/>
                  </a:lnTo>
                  <a:lnTo>
                    <a:pt x="5177141" y="3722888"/>
                  </a:lnTo>
                  <a:close/>
                </a:path>
              </a:pathLst>
            </a:custGeom>
            <a:solidFill>
              <a:srgbClr val="202A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267719" y="5393308"/>
              <a:ext cx="481330" cy="481330"/>
            </a:xfrm>
            <a:custGeom>
              <a:avLst/>
              <a:gdLst/>
              <a:ahLst/>
              <a:cxnLst/>
              <a:rect l="l" t="t" r="r" b="b"/>
              <a:pathLst>
                <a:path w="481329" h="481329">
                  <a:moveTo>
                    <a:pt x="348818" y="242201"/>
                  </a:moveTo>
                  <a:lnTo>
                    <a:pt x="348678" y="241871"/>
                  </a:lnTo>
                  <a:lnTo>
                    <a:pt x="348678" y="240931"/>
                  </a:lnTo>
                  <a:lnTo>
                    <a:pt x="347992" y="240258"/>
                  </a:lnTo>
                  <a:lnTo>
                    <a:pt x="347129" y="238175"/>
                  </a:lnTo>
                  <a:lnTo>
                    <a:pt x="249389" y="140360"/>
                  </a:lnTo>
                  <a:lnTo>
                    <a:pt x="243001" y="140360"/>
                  </a:lnTo>
                  <a:lnTo>
                    <a:pt x="235077" y="148234"/>
                  </a:lnTo>
                  <a:lnTo>
                    <a:pt x="235077" y="154609"/>
                  </a:lnTo>
                  <a:lnTo>
                    <a:pt x="316877" y="236423"/>
                  </a:lnTo>
                  <a:lnTo>
                    <a:pt x="138607" y="236423"/>
                  </a:lnTo>
                  <a:lnTo>
                    <a:pt x="134112" y="240931"/>
                  </a:lnTo>
                  <a:lnTo>
                    <a:pt x="134112" y="252082"/>
                  </a:lnTo>
                  <a:lnTo>
                    <a:pt x="138607" y="256590"/>
                  </a:lnTo>
                  <a:lnTo>
                    <a:pt x="316865" y="256590"/>
                  </a:lnTo>
                  <a:lnTo>
                    <a:pt x="235077" y="338328"/>
                  </a:lnTo>
                  <a:lnTo>
                    <a:pt x="235077" y="344716"/>
                  </a:lnTo>
                  <a:lnTo>
                    <a:pt x="240995" y="350634"/>
                  </a:lnTo>
                  <a:lnTo>
                    <a:pt x="243611" y="351637"/>
                  </a:lnTo>
                  <a:lnTo>
                    <a:pt x="246164" y="351637"/>
                  </a:lnTo>
                  <a:lnTo>
                    <a:pt x="248716" y="351637"/>
                  </a:lnTo>
                  <a:lnTo>
                    <a:pt x="251345" y="350634"/>
                  </a:lnTo>
                  <a:lnTo>
                    <a:pt x="347129" y="254914"/>
                  </a:lnTo>
                  <a:lnTo>
                    <a:pt x="348018" y="252742"/>
                  </a:lnTo>
                  <a:lnTo>
                    <a:pt x="348678" y="252082"/>
                  </a:lnTo>
                  <a:lnTo>
                    <a:pt x="348678" y="251155"/>
                  </a:lnTo>
                  <a:lnTo>
                    <a:pt x="348818" y="250812"/>
                  </a:lnTo>
                  <a:lnTo>
                    <a:pt x="348818" y="242201"/>
                  </a:lnTo>
                  <a:close/>
                </a:path>
                <a:path w="481329" h="481329">
                  <a:moveTo>
                    <a:pt x="481241" y="240665"/>
                  </a:moveTo>
                  <a:lnTo>
                    <a:pt x="476351" y="192214"/>
                  </a:lnTo>
                  <a:lnTo>
                    <a:pt x="462305" y="147078"/>
                  </a:lnTo>
                  <a:lnTo>
                    <a:pt x="461073" y="144818"/>
                  </a:lnTo>
                  <a:lnTo>
                    <a:pt x="461073" y="240665"/>
                  </a:lnTo>
                  <a:lnTo>
                    <a:pt x="456590" y="285051"/>
                  </a:lnTo>
                  <a:lnTo>
                    <a:pt x="443738" y="326415"/>
                  </a:lnTo>
                  <a:lnTo>
                    <a:pt x="423392" y="363867"/>
                  </a:lnTo>
                  <a:lnTo>
                    <a:pt x="396468" y="396506"/>
                  </a:lnTo>
                  <a:lnTo>
                    <a:pt x="363842" y="423443"/>
                  </a:lnTo>
                  <a:lnTo>
                    <a:pt x="326402" y="443801"/>
                  </a:lnTo>
                  <a:lnTo>
                    <a:pt x="285038" y="456666"/>
                  </a:lnTo>
                  <a:lnTo>
                    <a:pt x="240652" y="461149"/>
                  </a:lnTo>
                  <a:lnTo>
                    <a:pt x="196265" y="456666"/>
                  </a:lnTo>
                  <a:lnTo>
                    <a:pt x="154901" y="443801"/>
                  </a:lnTo>
                  <a:lnTo>
                    <a:pt x="117449" y="423443"/>
                  </a:lnTo>
                  <a:lnTo>
                    <a:pt x="84810" y="396506"/>
                  </a:lnTo>
                  <a:lnTo>
                    <a:pt x="57861" y="363867"/>
                  </a:lnTo>
                  <a:lnTo>
                    <a:pt x="37515" y="326415"/>
                  </a:lnTo>
                  <a:lnTo>
                    <a:pt x="24650" y="285051"/>
                  </a:lnTo>
                  <a:lnTo>
                    <a:pt x="20167" y="240665"/>
                  </a:lnTo>
                  <a:lnTo>
                    <a:pt x="24650" y="196265"/>
                  </a:lnTo>
                  <a:lnTo>
                    <a:pt x="37515" y="154901"/>
                  </a:lnTo>
                  <a:lnTo>
                    <a:pt x="57861" y="117449"/>
                  </a:lnTo>
                  <a:lnTo>
                    <a:pt x="84810" y="84810"/>
                  </a:lnTo>
                  <a:lnTo>
                    <a:pt x="117449" y="57873"/>
                  </a:lnTo>
                  <a:lnTo>
                    <a:pt x="154901" y="37515"/>
                  </a:lnTo>
                  <a:lnTo>
                    <a:pt x="196265" y="24663"/>
                  </a:lnTo>
                  <a:lnTo>
                    <a:pt x="240652" y="20167"/>
                  </a:lnTo>
                  <a:lnTo>
                    <a:pt x="285026" y="24663"/>
                  </a:lnTo>
                  <a:lnTo>
                    <a:pt x="326364" y="37515"/>
                  </a:lnTo>
                  <a:lnTo>
                    <a:pt x="363804" y="57873"/>
                  </a:lnTo>
                  <a:lnTo>
                    <a:pt x="396443" y="84810"/>
                  </a:lnTo>
                  <a:lnTo>
                    <a:pt x="423379" y="117449"/>
                  </a:lnTo>
                  <a:lnTo>
                    <a:pt x="443725" y="154901"/>
                  </a:lnTo>
                  <a:lnTo>
                    <a:pt x="456590" y="196265"/>
                  </a:lnTo>
                  <a:lnTo>
                    <a:pt x="461073" y="240665"/>
                  </a:lnTo>
                  <a:lnTo>
                    <a:pt x="461073" y="144818"/>
                  </a:lnTo>
                  <a:lnTo>
                    <a:pt x="440105" y="106197"/>
                  </a:lnTo>
                  <a:lnTo>
                    <a:pt x="410705" y="70573"/>
                  </a:lnTo>
                  <a:lnTo>
                    <a:pt x="375094" y="41160"/>
                  </a:lnTo>
                  <a:lnTo>
                    <a:pt x="336473" y="20167"/>
                  </a:lnTo>
                  <a:lnTo>
                    <a:pt x="289090" y="4902"/>
                  </a:lnTo>
                  <a:lnTo>
                    <a:pt x="240652" y="0"/>
                  </a:lnTo>
                  <a:lnTo>
                    <a:pt x="192239" y="4902"/>
                  </a:lnTo>
                  <a:lnTo>
                    <a:pt x="147104" y="18948"/>
                  </a:lnTo>
                  <a:lnTo>
                    <a:pt x="106222" y="41160"/>
                  </a:lnTo>
                  <a:lnTo>
                    <a:pt x="70599" y="70573"/>
                  </a:lnTo>
                  <a:lnTo>
                    <a:pt x="41186" y="106197"/>
                  </a:lnTo>
                  <a:lnTo>
                    <a:pt x="18961" y="147078"/>
                  </a:lnTo>
                  <a:lnTo>
                    <a:pt x="4902" y="192214"/>
                  </a:lnTo>
                  <a:lnTo>
                    <a:pt x="0" y="240665"/>
                  </a:lnTo>
                  <a:lnTo>
                    <a:pt x="4902" y="289077"/>
                  </a:lnTo>
                  <a:lnTo>
                    <a:pt x="18935" y="334200"/>
                  </a:lnTo>
                  <a:lnTo>
                    <a:pt x="41160" y="375069"/>
                  </a:lnTo>
                  <a:lnTo>
                    <a:pt x="70561" y="410692"/>
                  </a:lnTo>
                  <a:lnTo>
                    <a:pt x="106197" y="440093"/>
                  </a:lnTo>
                  <a:lnTo>
                    <a:pt x="147066" y="462305"/>
                  </a:lnTo>
                  <a:lnTo>
                    <a:pt x="192214" y="476351"/>
                  </a:lnTo>
                  <a:lnTo>
                    <a:pt x="240665" y="481253"/>
                  </a:lnTo>
                  <a:lnTo>
                    <a:pt x="241312" y="481253"/>
                  </a:lnTo>
                  <a:lnTo>
                    <a:pt x="289737" y="476351"/>
                  </a:lnTo>
                  <a:lnTo>
                    <a:pt x="289280" y="476351"/>
                  </a:lnTo>
                  <a:lnTo>
                    <a:pt x="334314" y="462305"/>
                  </a:lnTo>
                  <a:lnTo>
                    <a:pt x="375145" y="440093"/>
                  </a:lnTo>
                  <a:lnTo>
                    <a:pt x="410730" y="410692"/>
                  </a:lnTo>
                  <a:lnTo>
                    <a:pt x="440118" y="375069"/>
                  </a:lnTo>
                  <a:lnTo>
                    <a:pt x="462318" y="334200"/>
                  </a:lnTo>
                  <a:lnTo>
                    <a:pt x="476351" y="289077"/>
                  </a:lnTo>
                  <a:lnTo>
                    <a:pt x="481241" y="2406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6553468" y="4853387"/>
            <a:ext cx="5177155" cy="3723004"/>
            <a:chOff x="6553468" y="4853387"/>
            <a:chExt cx="5177155" cy="3723004"/>
          </a:xfrm>
        </p:grpSpPr>
        <p:sp>
          <p:nvSpPr>
            <p:cNvPr id="15" name="object 15"/>
            <p:cNvSpPr/>
            <p:nvPr/>
          </p:nvSpPr>
          <p:spPr>
            <a:xfrm>
              <a:off x="6553468" y="4853387"/>
              <a:ext cx="5177155" cy="3723004"/>
            </a:xfrm>
            <a:custGeom>
              <a:avLst/>
              <a:gdLst/>
              <a:ahLst/>
              <a:cxnLst/>
              <a:rect l="l" t="t" r="r" b="b"/>
              <a:pathLst>
                <a:path w="5177155" h="3723004">
                  <a:moveTo>
                    <a:pt x="5177141" y="3722888"/>
                  </a:moveTo>
                  <a:lnTo>
                    <a:pt x="0" y="3722888"/>
                  </a:lnTo>
                  <a:lnTo>
                    <a:pt x="0" y="0"/>
                  </a:lnTo>
                  <a:lnTo>
                    <a:pt x="5177141" y="0"/>
                  </a:lnTo>
                  <a:lnTo>
                    <a:pt x="5177141" y="3722888"/>
                  </a:lnTo>
                  <a:close/>
                </a:path>
              </a:pathLst>
            </a:custGeom>
            <a:solidFill>
              <a:srgbClr val="F99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792485" y="5393308"/>
              <a:ext cx="481330" cy="481330"/>
            </a:xfrm>
            <a:custGeom>
              <a:avLst/>
              <a:gdLst/>
              <a:ahLst/>
              <a:cxnLst/>
              <a:rect l="l" t="t" r="r" b="b"/>
              <a:pathLst>
                <a:path w="481329" h="481329">
                  <a:moveTo>
                    <a:pt x="348818" y="242201"/>
                  </a:moveTo>
                  <a:lnTo>
                    <a:pt x="348678" y="241871"/>
                  </a:lnTo>
                  <a:lnTo>
                    <a:pt x="348678" y="240931"/>
                  </a:lnTo>
                  <a:lnTo>
                    <a:pt x="348005" y="240271"/>
                  </a:lnTo>
                  <a:lnTo>
                    <a:pt x="347141" y="238175"/>
                  </a:lnTo>
                  <a:lnTo>
                    <a:pt x="249389" y="140360"/>
                  </a:lnTo>
                  <a:lnTo>
                    <a:pt x="243014" y="140360"/>
                  </a:lnTo>
                  <a:lnTo>
                    <a:pt x="235077" y="148234"/>
                  </a:lnTo>
                  <a:lnTo>
                    <a:pt x="235077" y="154609"/>
                  </a:lnTo>
                  <a:lnTo>
                    <a:pt x="316890" y="236423"/>
                  </a:lnTo>
                  <a:lnTo>
                    <a:pt x="138607" y="236423"/>
                  </a:lnTo>
                  <a:lnTo>
                    <a:pt x="134112" y="240931"/>
                  </a:lnTo>
                  <a:lnTo>
                    <a:pt x="134112" y="252082"/>
                  </a:lnTo>
                  <a:lnTo>
                    <a:pt x="138607" y="256590"/>
                  </a:lnTo>
                  <a:lnTo>
                    <a:pt x="316877" y="256590"/>
                  </a:lnTo>
                  <a:lnTo>
                    <a:pt x="235077" y="338328"/>
                  </a:lnTo>
                  <a:lnTo>
                    <a:pt x="235077" y="344716"/>
                  </a:lnTo>
                  <a:lnTo>
                    <a:pt x="240995" y="350634"/>
                  </a:lnTo>
                  <a:lnTo>
                    <a:pt x="243611" y="351637"/>
                  </a:lnTo>
                  <a:lnTo>
                    <a:pt x="246164" y="351637"/>
                  </a:lnTo>
                  <a:lnTo>
                    <a:pt x="248716" y="351637"/>
                  </a:lnTo>
                  <a:lnTo>
                    <a:pt x="251345" y="350634"/>
                  </a:lnTo>
                  <a:lnTo>
                    <a:pt x="347141" y="254914"/>
                  </a:lnTo>
                  <a:lnTo>
                    <a:pt x="348030" y="252730"/>
                  </a:lnTo>
                  <a:lnTo>
                    <a:pt x="348678" y="252082"/>
                  </a:lnTo>
                  <a:lnTo>
                    <a:pt x="348678" y="251155"/>
                  </a:lnTo>
                  <a:lnTo>
                    <a:pt x="348818" y="250812"/>
                  </a:lnTo>
                  <a:lnTo>
                    <a:pt x="348818" y="242201"/>
                  </a:lnTo>
                  <a:close/>
                </a:path>
                <a:path w="481329" h="481329">
                  <a:moveTo>
                    <a:pt x="481241" y="240665"/>
                  </a:moveTo>
                  <a:lnTo>
                    <a:pt x="476351" y="192214"/>
                  </a:lnTo>
                  <a:lnTo>
                    <a:pt x="462318" y="147078"/>
                  </a:lnTo>
                  <a:lnTo>
                    <a:pt x="461073" y="144792"/>
                  </a:lnTo>
                  <a:lnTo>
                    <a:pt x="461073" y="240665"/>
                  </a:lnTo>
                  <a:lnTo>
                    <a:pt x="456590" y="285051"/>
                  </a:lnTo>
                  <a:lnTo>
                    <a:pt x="443738" y="326415"/>
                  </a:lnTo>
                  <a:lnTo>
                    <a:pt x="423392" y="363867"/>
                  </a:lnTo>
                  <a:lnTo>
                    <a:pt x="396468" y="396506"/>
                  </a:lnTo>
                  <a:lnTo>
                    <a:pt x="363842" y="423443"/>
                  </a:lnTo>
                  <a:lnTo>
                    <a:pt x="326402" y="443801"/>
                  </a:lnTo>
                  <a:lnTo>
                    <a:pt x="285038" y="456666"/>
                  </a:lnTo>
                  <a:lnTo>
                    <a:pt x="240652" y="461149"/>
                  </a:lnTo>
                  <a:lnTo>
                    <a:pt x="196265" y="456666"/>
                  </a:lnTo>
                  <a:lnTo>
                    <a:pt x="154901" y="443801"/>
                  </a:lnTo>
                  <a:lnTo>
                    <a:pt x="117449" y="423443"/>
                  </a:lnTo>
                  <a:lnTo>
                    <a:pt x="84810" y="396506"/>
                  </a:lnTo>
                  <a:lnTo>
                    <a:pt x="57873" y="363867"/>
                  </a:lnTo>
                  <a:lnTo>
                    <a:pt x="37515" y="326415"/>
                  </a:lnTo>
                  <a:lnTo>
                    <a:pt x="24650" y="285051"/>
                  </a:lnTo>
                  <a:lnTo>
                    <a:pt x="20167" y="240665"/>
                  </a:lnTo>
                  <a:lnTo>
                    <a:pt x="24650" y="196265"/>
                  </a:lnTo>
                  <a:lnTo>
                    <a:pt x="37515" y="154901"/>
                  </a:lnTo>
                  <a:lnTo>
                    <a:pt x="57873" y="117449"/>
                  </a:lnTo>
                  <a:lnTo>
                    <a:pt x="84810" y="84810"/>
                  </a:lnTo>
                  <a:lnTo>
                    <a:pt x="117449" y="57873"/>
                  </a:lnTo>
                  <a:lnTo>
                    <a:pt x="154901" y="37515"/>
                  </a:lnTo>
                  <a:lnTo>
                    <a:pt x="196265" y="24663"/>
                  </a:lnTo>
                  <a:lnTo>
                    <a:pt x="240652" y="20167"/>
                  </a:lnTo>
                  <a:lnTo>
                    <a:pt x="285026" y="24663"/>
                  </a:lnTo>
                  <a:lnTo>
                    <a:pt x="326364" y="37515"/>
                  </a:lnTo>
                  <a:lnTo>
                    <a:pt x="363804" y="57873"/>
                  </a:lnTo>
                  <a:lnTo>
                    <a:pt x="396443" y="84810"/>
                  </a:lnTo>
                  <a:lnTo>
                    <a:pt x="423379" y="117449"/>
                  </a:lnTo>
                  <a:lnTo>
                    <a:pt x="443725" y="154901"/>
                  </a:lnTo>
                  <a:lnTo>
                    <a:pt x="456590" y="196265"/>
                  </a:lnTo>
                  <a:lnTo>
                    <a:pt x="461073" y="240665"/>
                  </a:lnTo>
                  <a:lnTo>
                    <a:pt x="461073" y="144792"/>
                  </a:lnTo>
                  <a:lnTo>
                    <a:pt x="440105" y="106197"/>
                  </a:lnTo>
                  <a:lnTo>
                    <a:pt x="410705" y="70573"/>
                  </a:lnTo>
                  <a:lnTo>
                    <a:pt x="375094" y="41160"/>
                  </a:lnTo>
                  <a:lnTo>
                    <a:pt x="336486" y="20167"/>
                  </a:lnTo>
                  <a:lnTo>
                    <a:pt x="289090" y="4902"/>
                  </a:lnTo>
                  <a:lnTo>
                    <a:pt x="240652" y="0"/>
                  </a:lnTo>
                  <a:lnTo>
                    <a:pt x="192239" y="4902"/>
                  </a:lnTo>
                  <a:lnTo>
                    <a:pt x="147104" y="18948"/>
                  </a:lnTo>
                  <a:lnTo>
                    <a:pt x="106235" y="41160"/>
                  </a:lnTo>
                  <a:lnTo>
                    <a:pt x="70599" y="70573"/>
                  </a:lnTo>
                  <a:lnTo>
                    <a:pt x="41186" y="106197"/>
                  </a:lnTo>
                  <a:lnTo>
                    <a:pt x="18961" y="147078"/>
                  </a:lnTo>
                  <a:lnTo>
                    <a:pt x="4902" y="192214"/>
                  </a:lnTo>
                  <a:lnTo>
                    <a:pt x="0" y="240665"/>
                  </a:lnTo>
                  <a:lnTo>
                    <a:pt x="4902" y="289077"/>
                  </a:lnTo>
                  <a:lnTo>
                    <a:pt x="18948" y="334200"/>
                  </a:lnTo>
                  <a:lnTo>
                    <a:pt x="41160" y="375069"/>
                  </a:lnTo>
                  <a:lnTo>
                    <a:pt x="70561" y="410692"/>
                  </a:lnTo>
                  <a:lnTo>
                    <a:pt x="106197" y="440093"/>
                  </a:lnTo>
                  <a:lnTo>
                    <a:pt x="147066" y="462305"/>
                  </a:lnTo>
                  <a:lnTo>
                    <a:pt x="192214" y="476351"/>
                  </a:lnTo>
                  <a:lnTo>
                    <a:pt x="240665" y="481253"/>
                  </a:lnTo>
                  <a:lnTo>
                    <a:pt x="241312" y="481253"/>
                  </a:lnTo>
                  <a:lnTo>
                    <a:pt x="289737" y="476351"/>
                  </a:lnTo>
                  <a:lnTo>
                    <a:pt x="289293" y="476351"/>
                  </a:lnTo>
                  <a:lnTo>
                    <a:pt x="334327" y="462305"/>
                  </a:lnTo>
                  <a:lnTo>
                    <a:pt x="336448" y="461149"/>
                  </a:lnTo>
                  <a:lnTo>
                    <a:pt x="375145" y="440093"/>
                  </a:lnTo>
                  <a:lnTo>
                    <a:pt x="410730" y="410692"/>
                  </a:lnTo>
                  <a:lnTo>
                    <a:pt x="440118" y="375069"/>
                  </a:lnTo>
                  <a:lnTo>
                    <a:pt x="462318" y="334200"/>
                  </a:lnTo>
                  <a:lnTo>
                    <a:pt x="476351" y="289077"/>
                  </a:lnTo>
                  <a:lnTo>
                    <a:pt x="481241" y="2406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028700" y="4853387"/>
            <a:ext cx="5177155" cy="3723004"/>
          </a:xfrm>
          <a:prstGeom prst="rect">
            <a:avLst/>
          </a:prstGeom>
        </p:spPr>
        <p:txBody>
          <a:bodyPr wrap="square" lIns="0" tIns="2286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endParaRPr sz="2000">
              <a:latin typeface="Times New Roman"/>
              <a:cs typeface="Times New Roman"/>
            </a:endParaRPr>
          </a:p>
          <a:p>
            <a:pPr algn="just" marL="460375">
              <a:lnSpc>
                <a:spcPct val="100000"/>
              </a:lnSpc>
            </a:pPr>
            <a:r>
              <a:rPr dirty="0" sz="2000" spc="-95">
                <a:solidFill>
                  <a:srgbClr val="F99C00"/>
                </a:solidFill>
                <a:latin typeface="Verdana"/>
                <a:cs typeface="Verdana"/>
              </a:rPr>
              <a:t>File</a:t>
            </a:r>
            <a:r>
              <a:rPr dirty="0" sz="2000" spc="-315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000" spc="-110">
                <a:solidFill>
                  <a:srgbClr val="F99C00"/>
                </a:solidFill>
                <a:latin typeface="Verdana"/>
                <a:cs typeface="Verdana"/>
              </a:rPr>
              <a:t>Backup</a:t>
            </a:r>
            <a:r>
              <a:rPr dirty="0" sz="2000" spc="-315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99C00"/>
                </a:solidFill>
                <a:latin typeface="Verdana"/>
                <a:cs typeface="Verdana"/>
              </a:rPr>
              <a:t>&amp;</a:t>
            </a:r>
            <a:r>
              <a:rPr dirty="0" sz="2000" spc="-315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99C00"/>
                </a:solidFill>
                <a:latin typeface="Verdana"/>
                <a:cs typeface="Verdana"/>
              </a:rPr>
              <a:t>Sharing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775"/>
              </a:spcBef>
            </a:pPr>
            <a:endParaRPr sz="2000">
              <a:latin typeface="Verdana"/>
              <a:cs typeface="Verdana"/>
            </a:endParaRPr>
          </a:p>
          <a:p>
            <a:pPr algn="just" marL="460375" marR="440055">
              <a:lnSpc>
                <a:spcPct val="116100"/>
              </a:lnSpc>
            </a:pPr>
            <a:r>
              <a:rPr dirty="0" sz="1400" spc="-85">
                <a:solidFill>
                  <a:srgbClr val="FFFFFF"/>
                </a:solidFill>
                <a:latin typeface="Verdana"/>
                <a:cs typeface="Verdana"/>
              </a:rPr>
              <a:t>Automatically</a:t>
            </a:r>
            <a:r>
              <a:rPr dirty="0" sz="14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back</a:t>
            </a:r>
            <a:r>
              <a:rPr dirty="0" sz="14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up</a:t>
            </a:r>
            <a:r>
              <a:rPr dirty="0" sz="14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Verdana"/>
                <a:cs typeface="Verdana"/>
              </a:rPr>
              <a:t>personal</a:t>
            </a:r>
            <a:r>
              <a:rPr dirty="0" sz="14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FFFFFF"/>
                </a:solidFill>
                <a:latin typeface="Verdana"/>
                <a:cs typeface="Verdana"/>
              </a:rPr>
              <a:t>files</a:t>
            </a:r>
            <a:r>
              <a:rPr dirty="0" sz="14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dirty="0" sz="14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FFFFFF"/>
                </a:solidFill>
                <a:latin typeface="Verdana"/>
                <a:cs typeface="Verdana"/>
              </a:rPr>
              <a:t>Amazon</a:t>
            </a:r>
            <a:r>
              <a:rPr dirty="0" sz="14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S3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dirty="0" sz="14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FFFFFF"/>
                </a:solidFill>
                <a:latin typeface="Verdana"/>
                <a:cs typeface="Verdana"/>
              </a:rPr>
              <a:t>versioning</a:t>
            </a:r>
            <a:r>
              <a:rPr dirty="0" sz="14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FFFFFF"/>
                </a:solidFill>
                <a:latin typeface="Verdana"/>
                <a:cs typeface="Verdana"/>
              </a:rPr>
              <a:t>enabled.</a:t>
            </a:r>
            <a:r>
              <a:rPr dirty="0" sz="14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Share</a:t>
            </a:r>
            <a:r>
              <a:rPr dirty="0" sz="14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files</a:t>
            </a:r>
            <a:r>
              <a:rPr dirty="0" sz="14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securely</a:t>
            </a:r>
            <a:r>
              <a:rPr dirty="0" sz="14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Verdana"/>
                <a:cs typeface="Verdana"/>
              </a:rPr>
              <a:t>with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others</a:t>
            </a:r>
            <a:r>
              <a:rPr dirty="0" sz="1400" spc="1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via</a:t>
            </a:r>
            <a:r>
              <a:rPr dirty="0" sz="1400" spc="1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25">
                <a:solidFill>
                  <a:srgbClr val="FFFFFF"/>
                </a:solidFill>
                <a:latin typeface="Verdana"/>
                <a:cs typeface="Verdana"/>
              </a:rPr>
              <a:t>pre-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signed</a:t>
            </a:r>
            <a:r>
              <a:rPr dirty="0" sz="1400" spc="1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URLs,</a:t>
            </a:r>
            <a:r>
              <a:rPr dirty="0" sz="1400" spc="1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ensuring</a:t>
            </a:r>
            <a:r>
              <a:rPr dirty="0" sz="1400" spc="1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Verdana"/>
                <a:cs typeface="Verdana"/>
              </a:rPr>
              <a:t>controlled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access</a:t>
            </a:r>
            <a:r>
              <a:rPr dirty="0" sz="1400" spc="16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without</a:t>
            </a:r>
            <a:r>
              <a:rPr dirty="0" sz="1400" spc="165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exposing</a:t>
            </a:r>
            <a:r>
              <a:rPr dirty="0" sz="1400" spc="16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sensitive</a:t>
            </a:r>
            <a:r>
              <a:rPr dirty="0" sz="1400" spc="165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dirty="0" sz="1400" spc="16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or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credentials.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53468" y="4853387"/>
            <a:ext cx="5177155" cy="3723004"/>
          </a:xfrm>
          <a:prstGeom prst="rect">
            <a:avLst/>
          </a:prstGeom>
        </p:spPr>
        <p:txBody>
          <a:bodyPr wrap="square" lIns="0" tIns="2286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endParaRPr sz="2000">
              <a:latin typeface="Times New Roman"/>
              <a:cs typeface="Times New Roman"/>
            </a:endParaRPr>
          </a:p>
          <a:p>
            <a:pPr algn="just" marL="460375">
              <a:lnSpc>
                <a:spcPct val="100000"/>
              </a:lnSpc>
            </a:pPr>
            <a:r>
              <a:rPr dirty="0" sz="2000" spc="-100">
                <a:solidFill>
                  <a:srgbClr val="FFFFFF"/>
                </a:solidFill>
                <a:latin typeface="Verdana"/>
                <a:cs typeface="Verdana"/>
              </a:rPr>
              <a:t>Photo</a:t>
            </a:r>
            <a:r>
              <a:rPr dirty="0" sz="2000" spc="-3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FFFF"/>
                </a:solidFill>
                <a:latin typeface="Verdana"/>
                <a:cs typeface="Verdana"/>
              </a:rPr>
              <a:t>&amp;</a:t>
            </a:r>
            <a:r>
              <a:rPr dirty="0" sz="2000" spc="-3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85">
                <a:solidFill>
                  <a:srgbClr val="FFFFFF"/>
                </a:solidFill>
                <a:latin typeface="Verdana"/>
                <a:cs typeface="Verdana"/>
              </a:rPr>
              <a:t>Video</a:t>
            </a:r>
            <a:r>
              <a:rPr dirty="0" sz="2000" spc="-3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Verdana"/>
                <a:cs typeface="Verdana"/>
              </a:rPr>
              <a:t>Storage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775"/>
              </a:spcBef>
            </a:pPr>
            <a:endParaRPr sz="2000">
              <a:latin typeface="Verdana"/>
              <a:cs typeface="Verdana"/>
            </a:endParaRPr>
          </a:p>
          <a:p>
            <a:pPr algn="just" marL="460375" marR="440055">
              <a:lnSpc>
                <a:spcPct val="116100"/>
              </a:lnSpc>
            </a:pPr>
            <a:r>
              <a:rPr dirty="0" sz="1400" spc="-65">
                <a:solidFill>
                  <a:srgbClr val="FFFFFF"/>
                </a:solidFill>
                <a:latin typeface="Verdana"/>
                <a:cs typeface="Verdana"/>
              </a:rPr>
              <a:t>Store</a:t>
            </a:r>
            <a:r>
              <a:rPr dirty="0" sz="14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4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FFFFFF"/>
                </a:solidFill>
                <a:latin typeface="Verdana"/>
                <a:cs typeface="Verdana"/>
              </a:rPr>
              <a:t>stream</a:t>
            </a:r>
            <a:r>
              <a:rPr dirty="0" sz="14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45">
                <a:solidFill>
                  <a:srgbClr val="FFFFFF"/>
                </a:solidFill>
                <a:latin typeface="Verdana"/>
                <a:cs typeface="Verdana"/>
              </a:rPr>
              <a:t>high-</a:t>
            </a:r>
            <a:r>
              <a:rPr dirty="0" sz="1400" spc="-75">
                <a:solidFill>
                  <a:srgbClr val="FFFFFF"/>
                </a:solidFill>
                <a:latin typeface="Verdana"/>
                <a:cs typeface="Verdana"/>
              </a:rPr>
              <a:t>resolution</a:t>
            </a:r>
            <a:r>
              <a:rPr dirty="0" sz="1400" spc="-40">
                <a:solidFill>
                  <a:srgbClr val="FFFFFF"/>
                </a:solidFill>
                <a:latin typeface="Verdana"/>
                <a:cs typeface="Verdana"/>
              </a:rPr>
              <a:t> photos </a:t>
            </a:r>
            <a:r>
              <a:rPr dirty="0" sz="1400" spc="-5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4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videos </a:t>
            </a:r>
            <a:r>
              <a:rPr dirty="0" sz="1400" spc="-120">
                <a:solidFill>
                  <a:srgbClr val="FFFFFF"/>
                </a:solidFill>
                <a:latin typeface="Verdana"/>
                <a:cs typeface="Verdana"/>
              </a:rPr>
              <a:t>using</a:t>
            </a:r>
            <a:r>
              <a:rPr dirty="0" sz="1400" spc="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FFFFFF"/>
                </a:solidFill>
                <a:latin typeface="Verdana"/>
                <a:cs typeface="Verdana"/>
              </a:rPr>
              <a:t>S3</a:t>
            </a:r>
            <a:r>
              <a:rPr dirty="0" sz="1400" spc="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35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400" spc="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FFFFFF"/>
                </a:solidFill>
                <a:latin typeface="Verdana"/>
                <a:cs typeface="Verdana"/>
              </a:rPr>
              <a:t>CloudFront</a:t>
            </a:r>
            <a:r>
              <a:rPr dirty="0" sz="1400" spc="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45">
                <a:solidFill>
                  <a:srgbClr val="FFFFFF"/>
                </a:solidFill>
                <a:latin typeface="Verdana"/>
                <a:cs typeface="Verdana"/>
              </a:rPr>
              <a:t>CDN.</a:t>
            </a:r>
            <a:r>
              <a:rPr dirty="0" sz="1400" spc="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55">
                <a:solidFill>
                  <a:srgbClr val="FFFFFF"/>
                </a:solidFill>
                <a:latin typeface="Verdana"/>
                <a:cs typeface="Verdana"/>
              </a:rPr>
              <a:t>Enjoy</a:t>
            </a:r>
            <a:r>
              <a:rPr dirty="0" sz="1400" spc="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25">
                <a:solidFill>
                  <a:srgbClr val="FFFFFF"/>
                </a:solidFill>
                <a:latin typeface="Verdana"/>
                <a:cs typeface="Verdana"/>
              </a:rPr>
              <a:t>fast,</a:t>
            </a:r>
            <a:r>
              <a:rPr dirty="0" sz="1400" spc="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FFFFFF"/>
                </a:solidFill>
                <a:latin typeface="Verdana"/>
                <a:cs typeface="Verdana"/>
              </a:rPr>
              <a:t>low-</a:t>
            </a:r>
            <a:r>
              <a:rPr dirty="0" sz="1400" spc="-20">
                <a:solidFill>
                  <a:srgbClr val="FFFFFF"/>
                </a:solidFill>
                <a:latin typeface="Verdana"/>
                <a:cs typeface="Verdana"/>
              </a:rPr>
              <a:t>latency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access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FFFFFF"/>
                </a:solidFill>
                <a:latin typeface="Verdana"/>
                <a:cs typeface="Verdana"/>
              </a:rPr>
              <a:t>media</a:t>
            </a:r>
            <a:r>
              <a:rPr dirty="0" sz="140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FFFFFF"/>
                </a:solidFill>
                <a:latin typeface="Verdana"/>
                <a:cs typeface="Verdana"/>
              </a:rPr>
              <a:t>from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Verdana"/>
                <a:cs typeface="Verdana"/>
              </a:rPr>
              <a:t>any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FFFFFF"/>
                </a:solidFill>
                <a:latin typeface="Verdana"/>
                <a:cs typeface="Verdana"/>
              </a:rPr>
              <a:t>device,</a:t>
            </a:r>
            <a:r>
              <a:rPr dirty="0" sz="140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FFFFFF"/>
                </a:solidFill>
                <a:latin typeface="Verdana"/>
                <a:cs typeface="Verdana"/>
              </a:rPr>
              <a:t>anywhere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dirty="0" sz="140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dirty="0" sz="1400" spc="-90">
                <a:solidFill>
                  <a:srgbClr val="FFFFFF"/>
                </a:solidFill>
                <a:latin typeface="Verdana"/>
                <a:cs typeface="Verdana"/>
              </a:rPr>
              <a:t>world,</a:t>
            </a:r>
            <a:r>
              <a:rPr dirty="0" sz="1400" spc="-1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dirty="0" sz="1400" spc="-1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FFFFFF"/>
                </a:solidFill>
                <a:latin typeface="Verdana"/>
                <a:cs typeface="Verdana"/>
              </a:rPr>
              <a:t>scalable</a:t>
            </a:r>
            <a:r>
              <a:rPr dirty="0" sz="1400" spc="-1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FFFFFF"/>
                </a:solidFill>
                <a:latin typeface="Verdana"/>
                <a:cs typeface="Verdana"/>
              </a:rPr>
              <a:t>capacity</a:t>
            </a:r>
            <a:r>
              <a:rPr dirty="0" sz="1400" spc="-1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dirty="0" sz="1400" spc="-1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Verdana"/>
                <a:cs typeface="Verdana"/>
              </a:rPr>
              <a:t>demand.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078282" y="4853387"/>
            <a:ext cx="5180965" cy="3723004"/>
          </a:xfrm>
          <a:prstGeom prst="rect">
            <a:avLst/>
          </a:prstGeom>
          <a:ln w="38099">
            <a:solidFill>
              <a:srgbClr val="202A20"/>
            </a:solidFill>
          </a:ln>
        </p:spPr>
        <p:txBody>
          <a:bodyPr wrap="square" lIns="0" tIns="1466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5"/>
              </a:spcBef>
            </a:pPr>
            <a:endParaRPr sz="2000">
              <a:latin typeface="Times New Roman"/>
              <a:cs typeface="Times New Roman"/>
            </a:endParaRPr>
          </a:p>
          <a:p>
            <a:pPr marL="460375" marR="2676525">
              <a:lnSpc>
                <a:spcPts val="1950"/>
              </a:lnSpc>
            </a:pPr>
            <a:r>
              <a:rPr dirty="0" sz="2000" spc="-130">
                <a:solidFill>
                  <a:srgbClr val="202A20"/>
                </a:solidFill>
                <a:latin typeface="Verdana"/>
                <a:cs typeface="Verdana"/>
              </a:rPr>
              <a:t>Document</a:t>
            </a:r>
            <a:r>
              <a:rPr dirty="0" sz="2000" spc="-31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2000" spc="-100">
                <a:solidFill>
                  <a:srgbClr val="202A20"/>
                </a:solidFill>
                <a:latin typeface="Verdana"/>
                <a:cs typeface="Verdana"/>
              </a:rPr>
              <a:t>Sync</a:t>
            </a:r>
            <a:r>
              <a:rPr dirty="0" sz="2000" spc="-31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202A20"/>
                </a:solidFill>
                <a:latin typeface="Verdana"/>
                <a:cs typeface="Verdana"/>
              </a:rPr>
              <a:t>&amp; Archiving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000">
              <a:latin typeface="Verdana"/>
              <a:cs typeface="Verdana"/>
            </a:endParaRPr>
          </a:p>
          <a:p>
            <a:pPr algn="just" marL="460375" marR="443865">
              <a:lnSpc>
                <a:spcPct val="116100"/>
              </a:lnSpc>
            </a:pPr>
            <a:r>
              <a:rPr dirty="0" sz="1400" spc="-80">
                <a:solidFill>
                  <a:srgbClr val="202A20"/>
                </a:solidFill>
                <a:latin typeface="Verdana"/>
                <a:cs typeface="Verdana"/>
              </a:rPr>
              <a:t>Sync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02A20"/>
                </a:solidFill>
                <a:latin typeface="Verdana"/>
                <a:cs typeface="Verdana"/>
              </a:rPr>
              <a:t>documents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202A20"/>
                </a:solidFill>
                <a:latin typeface="Verdana"/>
                <a:cs typeface="Verdana"/>
              </a:rPr>
              <a:t>seamlessly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202A20"/>
                </a:solidFill>
                <a:latin typeface="Verdana"/>
                <a:cs typeface="Verdana"/>
              </a:rPr>
              <a:t>across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02A20"/>
                </a:solidFill>
                <a:latin typeface="Verdana"/>
                <a:cs typeface="Verdana"/>
              </a:rPr>
              <a:t>multiple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02A20"/>
                </a:solidFill>
                <a:latin typeface="Verdana"/>
                <a:cs typeface="Verdana"/>
              </a:rPr>
              <a:t>devices </a:t>
            </a:r>
            <a:r>
              <a:rPr dirty="0" sz="1400" spc="-175">
                <a:solidFill>
                  <a:srgbClr val="202A20"/>
                </a:solidFill>
                <a:latin typeface="Verdana"/>
                <a:cs typeface="Verdana"/>
              </a:rPr>
              <a:t>in</a:t>
            </a:r>
            <a:r>
              <a:rPr dirty="0" sz="1400" spc="5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02A20"/>
                </a:solidFill>
                <a:latin typeface="Verdana"/>
                <a:cs typeface="Verdana"/>
              </a:rPr>
              <a:t>real</a:t>
            </a:r>
            <a:r>
              <a:rPr dirty="0" sz="1400" spc="-3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140">
                <a:solidFill>
                  <a:srgbClr val="202A20"/>
                </a:solidFill>
                <a:latin typeface="Verdana"/>
                <a:cs typeface="Verdana"/>
              </a:rPr>
              <a:t>time.</a:t>
            </a:r>
            <a:r>
              <a:rPr dirty="0" sz="1400" spc="1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02A20"/>
                </a:solidFill>
                <a:latin typeface="Verdana"/>
                <a:cs typeface="Verdana"/>
              </a:rPr>
              <a:t>Professionals</a:t>
            </a:r>
            <a:r>
              <a:rPr dirty="0" sz="1400" spc="-5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202A20"/>
                </a:solidFill>
                <a:latin typeface="Verdana"/>
                <a:cs typeface="Verdana"/>
              </a:rPr>
              <a:t>can</a:t>
            </a:r>
            <a:r>
              <a:rPr dirty="0" sz="1400" spc="-3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02A20"/>
                </a:solidFill>
                <a:latin typeface="Verdana"/>
                <a:cs typeface="Verdana"/>
              </a:rPr>
              <a:t>leverage</a:t>
            </a:r>
            <a:r>
              <a:rPr dirty="0" sz="1400" spc="-1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202A20"/>
                </a:solidFill>
                <a:latin typeface="Verdana"/>
                <a:cs typeface="Verdana"/>
              </a:rPr>
              <a:t>AWS</a:t>
            </a:r>
            <a:r>
              <a:rPr dirty="0" sz="1400" spc="-10">
                <a:solidFill>
                  <a:srgbClr val="202A20"/>
                </a:solidFill>
                <a:latin typeface="Verdana"/>
                <a:cs typeface="Verdana"/>
              </a:rPr>
              <a:t> Glacier 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for</a:t>
            </a:r>
            <a:r>
              <a:rPr dirty="0" sz="1400" spc="-3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secure,</a:t>
            </a:r>
            <a:r>
              <a:rPr dirty="0" sz="1400" spc="-3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02A20"/>
                </a:solidFill>
                <a:latin typeface="Verdana"/>
                <a:cs typeface="Verdana"/>
              </a:rPr>
              <a:t>cost-</a:t>
            </a:r>
            <a:r>
              <a:rPr dirty="0" sz="1400" spc="-10">
                <a:solidFill>
                  <a:srgbClr val="202A20"/>
                </a:solidFill>
                <a:latin typeface="Verdana"/>
                <a:cs typeface="Verdana"/>
              </a:rPr>
              <a:t>effective</a:t>
            </a:r>
            <a:r>
              <a:rPr dirty="0" sz="1400" spc="-3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02A20"/>
                </a:solidFill>
                <a:latin typeface="Verdana"/>
                <a:cs typeface="Verdana"/>
              </a:rPr>
              <a:t>long-</a:t>
            </a:r>
            <a:r>
              <a:rPr dirty="0" sz="1400">
                <a:solidFill>
                  <a:srgbClr val="202A20"/>
                </a:solidFill>
                <a:latin typeface="Verdana"/>
                <a:cs typeface="Verdana"/>
              </a:rPr>
              <a:t>term</a:t>
            </a:r>
            <a:r>
              <a:rPr dirty="0" sz="1400" spc="-3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202A20"/>
                </a:solidFill>
                <a:latin typeface="Verdana"/>
                <a:cs typeface="Verdana"/>
              </a:rPr>
              <a:t>archiving</a:t>
            </a:r>
            <a:r>
              <a:rPr dirty="0" sz="1400" spc="-3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202A20"/>
                </a:solidFill>
                <a:latin typeface="Verdana"/>
                <a:cs typeface="Verdana"/>
              </a:rPr>
              <a:t>with </a:t>
            </a:r>
            <a:r>
              <a:rPr dirty="0" sz="1400" spc="-80">
                <a:solidFill>
                  <a:srgbClr val="202A20"/>
                </a:solidFill>
                <a:latin typeface="Verdana"/>
                <a:cs typeface="Verdana"/>
              </a:rPr>
              <a:t>compliance-</a:t>
            </a:r>
            <a:r>
              <a:rPr dirty="0" sz="1400" spc="-85">
                <a:solidFill>
                  <a:srgbClr val="202A20"/>
                </a:solidFill>
                <a:latin typeface="Verdana"/>
                <a:cs typeface="Verdana"/>
              </a:rPr>
              <a:t>ready</a:t>
            </a:r>
            <a:r>
              <a:rPr dirty="0" sz="1400" spc="-16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02A20"/>
                </a:solidFill>
                <a:latin typeface="Verdana"/>
                <a:cs typeface="Verdana"/>
              </a:rPr>
              <a:t>encryption</a:t>
            </a:r>
            <a:r>
              <a:rPr dirty="0" sz="1400" spc="-16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02A20"/>
                </a:solidFill>
                <a:latin typeface="Verdana"/>
                <a:cs typeface="Verdana"/>
              </a:rPr>
              <a:t>and</a:t>
            </a:r>
            <a:r>
              <a:rPr dirty="0" sz="1400" spc="-160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02A20"/>
                </a:solidFill>
                <a:latin typeface="Verdana"/>
                <a:cs typeface="Verdana"/>
              </a:rPr>
              <a:t>audit</a:t>
            </a:r>
            <a:r>
              <a:rPr dirty="0" sz="1400" spc="-165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02A20"/>
                </a:solidFill>
                <a:latin typeface="Verdana"/>
                <a:cs typeface="Verdana"/>
              </a:rPr>
              <a:t>logging.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7747510" y="0"/>
            <a:ext cx="541020" cy="10287000"/>
          </a:xfrm>
          <a:custGeom>
            <a:avLst/>
            <a:gdLst/>
            <a:ahLst/>
            <a:cxnLst/>
            <a:rect l="l" t="t" r="r" b="b"/>
            <a:pathLst>
              <a:path w="541019" h="10287000">
                <a:moveTo>
                  <a:pt x="54048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540488" y="0"/>
                </a:lnTo>
                <a:lnTo>
                  <a:pt x="540488" y="10286999"/>
                </a:lnTo>
                <a:close/>
              </a:path>
            </a:pathLst>
          </a:custGeom>
          <a:solidFill>
            <a:srgbClr val="202A2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57679" y="1191822"/>
            <a:ext cx="3872229" cy="0"/>
          </a:xfrm>
          <a:custGeom>
            <a:avLst/>
            <a:gdLst/>
            <a:ahLst/>
            <a:cxnLst/>
            <a:rect l="l" t="t" r="r" b="b"/>
            <a:pathLst>
              <a:path w="3872229" h="0">
                <a:moveTo>
                  <a:pt x="0" y="0"/>
                </a:moveTo>
                <a:lnTo>
                  <a:pt x="3872037" y="0"/>
                </a:lnTo>
              </a:path>
            </a:pathLst>
          </a:custGeom>
          <a:ln w="19049">
            <a:solidFill>
              <a:srgbClr val="F99C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0749441" y="0"/>
            <a:ext cx="7538720" cy="10287000"/>
            <a:chOff x="10749441" y="0"/>
            <a:chExt cx="7538720" cy="10287000"/>
          </a:xfrm>
        </p:grpSpPr>
        <p:sp>
          <p:nvSpPr>
            <p:cNvPr id="4" name="object 4"/>
            <p:cNvSpPr/>
            <p:nvPr/>
          </p:nvSpPr>
          <p:spPr>
            <a:xfrm>
              <a:off x="10749441" y="0"/>
              <a:ext cx="7538720" cy="10287000"/>
            </a:xfrm>
            <a:custGeom>
              <a:avLst/>
              <a:gdLst/>
              <a:ahLst/>
              <a:cxnLst/>
              <a:rect l="l" t="t" r="r" b="b"/>
              <a:pathLst>
                <a:path w="7538719" h="10287000">
                  <a:moveTo>
                    <a:pt x="7538557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7538557" y="0"/>
                  </a:lnTo>
                  <a:lnTo>
                    <a:pt x="7538557" y="10286999"/>
                  </a:lnTo>
                  <a:close/>
                </a:path>
              </a:pathLst>
            </a:custGeom>
            <a:solidFill>
              <a:srgbClr val="202A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511964" y="5143499"/>
              <a:ext cx="5747385" cy="0"/>
            </a:xfrm>
            <a:custGeom>
              <a:avLst/>
              <a:gdLst/>
              <a:ahLst/>
              <a:cxnLst/>
              <a:rect l="l" t="t" r="r" b="b"/>
              <a:pathLst>
                <a:path w="5747384" h="0">
                  <a:moveTo>
                    <a:pt x="0" y="0"/>
                  </a:moveTo>
                  <a:lnTo>
                    <a:pt x="5747334" y="0"/>
                  </a:lnTo>
                </a:path>
              </a:pathLst>
            </a:custGeom>
            <a:ln w="19049">
              <a:solidFill>
                <a:srgbClr val="F99C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6613489" y="8859495"/>
              <a:ext cx="645795" cy="358775"/>
            </a:xfrm>
            <a:custGeom>
              <a:avLst/>
              <a:gdLst/>
              <a:ahLst/>
              <a:cxnLst/>
              <a:rect l="l" t="t" r="r" b="b"/>
              <a:pathLst>
                <a:path w="645794" h="358775">
                  <a:moveTo>
                    <a:pt x="645382" y="358732"/>
                  </a:moveTo>
                  <a:lnTo>
                    <a:pt x="0" y="358732"/>
                  </a:lnTo>
                  <a:lnTo>
                    <a:pt x="0" y="240917"/>
                  </a:lnTo>
                  <a:lnTo>
                    <a:pt x="235708" y="286649"/>
                  </a:lnTo>
                  <a:lnTo>
                    <a:pt x="36692" y="152363"/>
                  </a:lnTo>
                  <a:lnTo>
                    <a:pt x="152363" y="36692"/>
                  </a:lnTo>
                  <a:lnTo>
                    <a:pt x="286649" y="235708"/>
                  </a:lnTo>
                  <a:lnTo>
                    <a:pt x="240917" y="0"/>
                  </a:lnTo>
                  <a:lnTo>
                    <a:pt x="404465" y="0"/>
                  </a:lnTo>
                  <a:lnTo>
                    <a:pt x="358732" y="235708"/>
                  </a:lnTo>
                  <a:lnTo>
                    <a:pt x="493095" y="36692"/>
                  </a:lnTo>
                  <a:lnTo>
                    <a:pt x="608689" y="152363"/>
                  </a:lnTo>
                  <a:lnTo>
                    <a:pt x="409750" y="286649"/>
                  </a:lnTo>
                  <a:lnTo>
                    <a:pt x="645382" y="240917"/>
                  </a:lnTo>
                  <a:lnTo>
                    <a:pt x="645382" y="358732"/>
                  </a:lnTo>
                  <a:close/>
                </a:path>
              </a:pathLst>
            </a:custGeom>
            <a:solidFill>
              <a:srgbClr val="F99C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533846" y="1014843"/>
            <a:ext cx="203835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80">
                <a:latin typeface="Verdana"/>
                <a:cs typeface="Verdana"/>
              </a:rPr>
              <a:t>Personal</a:t>
            </a:r>
            <a:r>
              <a:rPr dirty="0" sz="1700" spc="-250">
                <a:latin typeface="Verdana"/>
                <a:cs typeface="Verdana"/>
              </a:rPr>
              <a:t> </a:t>
            </a:r>
            <a:r>
              <a:rPr dirty="0" sz="1700" spc="-60">
                <a:latin typeface="Verdana"/>
                <a:cs typeface="Verdana"/>
              </a:rPr>
              <a:t>Cloud</a:t>
            </a:r>
            <a:r>
              <a:rPr dirty="0" sz="1700" spc="-250">
                <a:latin typeface="Verdana"/>
                <a:cs typeface="Verdana"/>
              </a:rPr>
              <a:t> </a:t>
            </a:r>
            <a:r>
              <a:rPr dirty="0" sz="1700" spc="-95">
                <a:latin typeface="Verdana"/>
                <a:cs typeface="Verdana"/>
              </a:rPr>
              <a:t>Drive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87316" y="1014843"/>
            <a:ext cx="178244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40">
                <a:latin typeface="Verdana"/>
                <a:cs typeface="Verdana"/>
              </a:rPr>
              <a:t>AWS</a:t>
            </a:r>
            <a:r>
              <a:rPr dirty="0" sz="1700" spc="-275">
                <a:latin typeface="Verdana"/>
                <a:cs typeface="Verdana"/>
              </a:rPr>
              <a:t> </a:t>
            </a:r>
            <a:r>
              <a:rPr dirty="0" sz="1700" spc="-90">
                <a:latin typeface="Verdana"/>
                <a:cs typeface="Verdana"/>
              </a:rPr>
              <a:t>Presentation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521058" y="1014843"/>
            <a:ext cx="75120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50">
                <a:solidFill>
                  <a:srgbClr val="F99C00"/>
                </a:solidFill>
                <a:latin typeface="Verdana"/>
                <a:cs typeface="Verdana"/>
              </a:rPr>
              <a:t>Page</a:t>
            </a:r>
            <a:r>
              <a:rPr dirty="0" sz="1700" spc="-254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1700" spc="-405">
                <a:solidFill>
                  <a:srgbClr val="F99C00"/>
                </a:solidFill>
                <a:latin typeface="Verdana"/>
                <a:cs typeface="Verdana"/>
              </a:rPr>
              <a:t>11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6000" y="2032570"/>
            <a:ext cx="5076190" cy="2200910"/>
          </a:xfrm>
          <a:prstGeom prst="rect">
            <a:avLst/>
          </a:prstGeom>
        </p:spPr>
        <p:txBody>
          <a:bodyPr wrap="square" lIns="0" tIns="268605" rIns="0" bIns="0" rtlCol="0" vert="horz">
            <a:spAutoFit/>
          </a:bodyPr>
          <a:lstStyle/>
          <a:p>
            <a:pPr marL="12700" marR="5080">
              <a:lnSpc>
                <a:spcPct val="79200"/>
              </a:lnSpc>
              <a:spcBef>
                <a:spcPts val="2115"/>
              </a:spcBef>
            </a:pPr>
            <a:r>
              <a:rPr dirty="0" sz="7950" spc="-515">
                <a:solidFill>
                  <a:srgbClr val="202A20"/>
                </a:solidFill>
                <a:latin typeface="Verdana"/>
                <a:cs typeface="Verdana"/>
              </a:rPr>
              <a:t>B</a:t>
            </a:r>
            <a:r>
              <a:rPr dirty="0" sz="7950" spc="-525">
                <a:solidFill>
                  <a:srgbClr val="202A20"/>
                </a:solidFill>
                <a:latin typeface="Verdana"/>
                <a:cs typeface="Verdana"/>
              </a:rPr>
              <a:t>E</a:t>
            </a:r>
            <a:r>
              <a:rPr dirty="0" sz="7950" spc="-520">
                <a:solidFill>
                  <a:srgbClr val="202A20"/>
                </a:solidFill>
                <a:latin typeface="Verdana"/>
                <a:cs typeface="Verdana"/>
              </a:rPr>
              <a:t>N</a:t>
            </a:r>
            <a:r>
              <a:rPr dirty="0" sz="7950" spc="-525">
                <a:solidFill>
                  <a:srgbClr val="202A20"/>
                </a:solidFill>
                <a:latin typeface="Verdana"/>
                <a:cs typeface="Verdana"/>
              </a:rPr>
              <a:t>E</a:t>
            </a:r>
            <a:r>
              <a:rPr dirty="0" sz="7950" spc="-500">
                <a:solidFill>
                  <a:srgbClr val="202A20"/>
                </a:solidFill>
                <a:latin typeface="Verdana"/>
                <a:cs typeface="Verdana"/>
              </a:rPr>
              <a:t>F</a:t>
            </a:r>
            <a:r>
              <a:rPr dirty="0" sz="7950" spc="-750">
                <a:solidFill>
                  <a:srgbClr val="202A20"/>
                </a:solidFill>
                <a:latin typeface="Verdana"/>
                <a:cs typeface="Verdana"/>
              </a:rPr>
              <a:t>I</a:t>
            </a:r>
            <a:r>
              <a:rPr dirty="0" sz="7950" spc="-610">
                <a:solidFill>
                  <a:srgbClr val="202A20"/>
                </a:solidFill>
                <a:latin typeface="Verdana"/>
                <a:cs typeface="Verdana"/>
              </a:rPr>
              <a:t>T</a:t>
            </a:r>
            <a:r>
              <a:rPr dirty="0" sz="7950" spc="-114">
                <a:solidFill>
                  <a:srgbClr val="202A20"/>
                </a:solidFill>
                <a:latin typeface="Verdana"/>
                <a:cs typeface="Verdana"/>
              </a:rPr>
              <a:t>S</a:t>
            </a:r>
            <a:r>
              <a:rPr dirty="0" sz="7950" spc="-509">
                <a:solidFill>
                  <a:srgbClr val="202A20"/>
                </a:solidFill>
                <a:latin typeface="Verdana"/>
                <a:cs typeface="Verdana"/>
              </a:rPr>
              <a:t> </a:t>
            </a:r>
            <a:r>
              <a:rPr dirty="0" sz="7950" spc="-160">
                <a:solidFill>
                  <a:srgbClr val="202A20"/>
                </a:solidFill>
                <a:latin typeface="Verdana"/>
                <a:cs typeface="Verdana"/>
              </a:rPr>
              <a:t>S</a:t>
            </a:r>
            <a:r>
              <a:rPr dirty="0" sz="7950" spc="-165">
                <a:solidFill>
                  <a:srgbClr val="202A20"/>
                </a:solidFill>
                <a:latin typeface="Verdana"/>
                <a:cs typeface="Verdana"/>
              </a:rPr>
              <a:t>U</a:t>
            </a:r>
            <a:r>
              <a:rPr dirty="0" sz="7950" spc="-135">
                <a:solidFill>
                  <a:srgbClr val="202A20"/>
                </a:solidFill>
                <a:latin typeface="Verdana"/>
                <a:cs typeface="Verdana"/>
              </a:rPr>
              <a:t>MM</a:t>
            </a:r>
            <a:r>
              <a:rPr dirty="0" sz="7950" spc="-150">
                <a:solidFill>
                  <a:srgbClr val="202A20"/>
                </a:solidFill>
                <a:latin typeface="Verdana"/>
                <a:cs typeface="Verdana"/>
              </a:rPr>
              <a:t>A</a:t>
            </a:r>
            <a:r>
              <a:rPr dirty="0" sz="7950" spc="-320">
                <a:solidFill>
                  <a:srgbClr val="202A20"/>
                </a:solidFill>
                <a:latin typeface="Verdana"/>
                <a:cs typeface="Verdana"/>
              </a:rPr>
              <a:t>R</a:t>
            </a:r>
            <a:r>
              <a:rPr dirty="0" sz="7950" spc="240">
                <a:solidFill>
                  <a:srgbClr val="202A20"/>
                </a:solidFill>
                <a:latin typeface="Verdana"/>
                <a:cs typeface="Verdana"/>
              </a:rPr>
              <a:t>Y</a:t>
            </a:r>
            <a:endParaRPr sz="79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99264" y="2849480"/>
            <a:ext cx="5784215" cy="1549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7600"/>
              </a:lnSpc>
              <a:spcBef>
                <a:spcPts val="95"/>
              </a:spcBef>
            </a:pPr>
            <a:r>
              <a:rPr dirty="0" sz="1700" spc="-125">
                <a:solidFill>
                  <a:srgbClr val="FFFFFF"/>
                </a:solidFill>
                <a:latin typeface="Verdana"/>
                <a:cs typeface="Verdana"/>
              </a:rPr>
              <a:t>AWS-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powered</a:t>
            </a:r>
            <a:r>
              <a:rPr dirty="0" sz="1700" spc="-2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cloud</a:t>
            </a:r>
            <a:r>
              <a:rPr dirty="0" sz="1700" spc="-15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drive</a:t>
            </a:r>
            <a:r>
              <a:rPr dirty="0" sz="1700" spc="-2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delivers</a:t>
            </a:r>
            <a:r>
              <a:rPr dirty="0" sz="1700" spc="-15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scalability,</a:t>
            </a:r>
            <a:r>
              <a:rPr dirty="0" sz="1700" spc="-15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1700" spc="-60">
                <a:solidFill>
                  <a:srgbClr val="FFFFFF"/>
                </a:solidFill>
                <a:latin typeface="Verdana"/>
                <a:cs typeface="Verdana"/>
              </a:rPr>
              <a:t>high </a:t>
            </a:r>
            <a:r>
              <a:rPr dirty="0" sz="1700" spc="-150">
                <a:solidFill>
                  <a:srgbClr val="FFFFFF"/>
                </a:solidFill>
                <a:latin typeface="Verdana"/>
                <a:cs typeface="Verdana"/>
              </a:rPr>
              <a:t>availability,</a:t>
            </a:r>
            <a:r>
              <a:rPr dirty="0" sz="1700" spc="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55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700" spc="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30">
                <a:solidFill>
                  <a:srgbClr val="FFFFFF"/>
                </a:solidFill>
                <a:latin typeface="Verdana"/>
                <a:cs typeface="Verdana"/>
              </a:rPr>
              <a:t>automated</a:t>
            </a:r>
            <a:r>
              <a:rPr dirty="0" sz="1700" spc="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14">
                <a:solidFill>
                  <a:srgbClr val="FFFFFF"/>
                </a:solidFill>
                <a:latin typeface="Verdana"/>
                <a:cs typeface="Verdana"/>
              </a:rPr>
              <a:t>workflows.</a:t>
            </a:r>
            <a:r>
              <a:rPr dirty="0" sz="1700" spc="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80">
                <a:solidFill>
                  <a:srgbClr val="FFFFFF"/>
                </a:solidFill>
                <a:latin typeface="Verdana"/>
                <a:cs typeface="Verdana"/>
              </a:rPr>
              <a:t>Users</a:t>
            </a:r>
            <a:r>
              <a:rPr dirty="0" sz="1700" spc="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60">
                <a:solidFill>
                  <a:srgbClr val="FFFFFF"/>
                </a:solidFill>
                <a:latin typeface="Verdana"/>
                <a:cs typeface="Verdana"/>
              </a:rPr>
              <a:t>gain</a:t>
            </a:r>
            <a:r>
              <a:rPr dirty="0" sz="1700" spc="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Verdana"/>
                <a:cs typeface="Verdana"/>
              </a:rPr>
              <a:t>seamless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access,</a:t>
            </a:r>
            <a:r>
              <a:rPr dirty="0" sz="170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35">
                <a:solidFill>
                  <a:srgbClr val="FFFFFF"/>
                </a:solidFill>
                <a:latin typeface="Verdana"/>
                <a:cs typeface="Verdana"/>
              </a:rPr>
              <a:t>robust</a:t>
            </a:r>
            <a:r>
              <a:rPr dirty="0" sz="17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90">
                <a:solidFill>
                  <a:srgbClr val="FFFFFF"/>
                </a:solidFill>
                <a:latin typeface="Verdana"/>
                <a:cs typeface="Verdana"/>
              </a:rPr>
              <a:t>encryption,</a:t>
            </a:r>
            <a:r>
              <a:rPr dirty="0" sz="17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7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0">
                <a:solidFill>
                  <a:srgbClr val="FFFFFF"/>
                </a:solidFill>
                <a:latin typeface="Verdana"/>
                <a:cs typeface="Verdana"/>
              </a:rPr>
              <a:t>cost-</a:t>
            </a:r>
            <a:r>
              <a:rPr dirty="0" sz="1700" spc="-45">
                <a:solidFill>
                  <a:srgbClr val="FFFFFF"/>
                </a:solidFill>
                <a:latin typeface="Verdana"/>
                <a:cs typeface="Verdana"/>
              </a:rPr>
              <a:t>efficient</a:t>
            </a:r>
            <a:r>
              <a:rPr dirty="0" sz="17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FFFFFF"/>
                </a:solidFill>
                <a:latin typeface="Verdana"/>
                <a:cs typeface="Verdana"/>
              </a:rPr>
              <a:t>storage</a:t>
            </a:r>
            <a:r>
              <a:rPr dirty="0" sz="17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150">
                <a:solidFill>
                  <a:srgbClr val="FFFFFF"/>
                </a:solidFill>
                <a:latin typeface="Verdana"/>
                <a:cs typeface="Verdana"/>
              </a:rPr>
              <a:t>—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while</a:t>
            </a:r>
            <a:r>
              <a:rPr dirty="0" sz="17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businesses</a:t>
            </a:r>
            <a:r>
              <a:rPr dirty="0" sz="1700" spc="-45">
                <a:solidFill>
                  <a:srgbClr val="FFFFFF"/>
                </a:solidFill>
                <a:latin typeface="Verdana"/>
                <a:cs typeface="Verdana"/>
              </a:rPr>
              <a:t> eliminate</a:t>
            </a:r>
            <a:r>
              <a:rPr dirty="0" sz="17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85">
                <a:solidFill>
                  <a:srgbClr val="FFFFFF"/>
                </a:solidFill>
                <a:latin typeface="Verdana"/>
                <a:cs typeface="Verdana"/>
              </a:rPr>
              <a:t>infrastructure</a:t>
            </a:r>
            <a:r>
              <a:rPr dirty="0" sz="17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Verdana"/>
                <a:cs typeface="Verdana"/>
              </a:rPr>
              <a:t>overhead</a:t>
            </a:r>
            <a:r>
              <a:rPr dirty="0" sz="17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dirty="0" sz="1700" spc="-35">
                <a:solidFill>
                  <a:srgbClr val="FFFFFF"/>
                </a:solidFill>
                <a:latin typeface="Verdana"/>
                <a:cs typeface="Verdana"/>
              </a:rPr>
              <a:t>scale</a:t>
            </a:r>
            <a:r>
              <a:rPr dirty="0" sz="17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0">
                <a:solidFill>
                  <a:srgbClr val="FFFFFF"/>
                </a:solidFill>
                <a:latin typeface="Verdana"/>
                <a:cs typeface="Verdana"/>
              </a:rPr>
              <a:t>flexibly</a:t>
            </a:r>
            <a:r>
              <a:rPr dirty="0" sz="1700" spc="-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65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dirty="0" sz="1700" spc="-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demand.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99264" y="2202228"/>
            <a:ext cx="1828164" cy="3835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50" spc="-85">
                <a:solidFill>
                  <a:srgbClr val="F99C00"/>
                </a:solidFill>
                <a:latin typeface="Verdana"/>
                <a:cs typeface="Verdana"/>
              </a:rPr>
              <a:t>Core</a:t>
            </a:r>
            <a:r>
              <a:rPr dirty="0" sz="2350" spc="-370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350" spc="-114">
                <a:solidFill>
                  <a:srgbClr val="F99C00"/>
                </a:solidFill>
                <a:latin typeface="Verdana"/>
                <a:cs typeface="Verdana"/>
              </a:rPr>
              <a:t>Benefits</a:t>
            </a:r>
            <a:endParaRPr sz="23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99264" y="5754203"/>
            <a:ext cx="5784215" cy="1892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50" spc="-105">
                <a:solidFill>
                  <a:srgbClr val="F99C00"/>
                </a:solidFill>
                <a:latin typeface="Verdana"/>
                <a:cs typeface="Verdana"/>
              </a:rPr>
              <a:t>Why</a:t>
            </a:r>
            <a:r>
              <a:rPr dirty="0" sz="2350" spc="-400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350" spc="-305">
                <a:solidFill>
                  <a:srgbClr val="F99C00"/>
                </a:solidFill>
                <a:latin typeface="Verdana"/>
                <a:cs typeface="Verdana"/>
              </a:rPr>
              <a:t>It</a:t>
            </a:r>
            <a:r>
              <a:rPr dirty="0" sz="2350" spc="-395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350" spc="-10">
                <a:solidFill>
                  <a:srgbClr val="F99C00"/>
                </a:solidFill>
                <a:latin typeface="Verdana"/>
                <a:cs typeface="Verdana"/>
              </a:rPr>
              <a:t>Matters</a:t>
            </a:r>
            <a:endParaRPr sz="2350">
              <a:latin typeface="Verdana"/>
              <a:cs typeface="Verdana"/>
            </a:endParaRPr>
          </a:p>
          <a:p>
            <a:pPr algn="just" marL="12700" marR="5080">
              <a:lnSpc>
                <a:spcPct val="117600"/>
              </a:lnSpc>
              <a:spcBef>
                <a:spcPts val="2275"/>
              </a:spcBef>
            </a:pP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dirty="0" sz="17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10">
                <a:solidFill>
                  <a:srgbClr val="FFFFFF"/>
                </a:solidFill>
                <a:latin typeface="Verdana"/>
                <a:cs typeface="Verdana"/>
              </a:rPr>
              <a:t>leveraging</a:t>
            </a:r>
            <a:r>
              <a:rPr dirty="0" sz="17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AWS</a:t>
            </a:r>
            <a:r>
              <a:rPr dirty="0" sz="17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70">
                <a:solidFill>
                  <a:srgbClr val="FFFFFF"/>
                </a:solidFill>
                <a:latin typeface="Verdana"/>
                <a:cs typeface="Verdana"/>
              </a:rPr>
              <a:t>services,</a:t>
            </a:r>
            <a:r>
              <a:rPr dirty="0" sz="17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10">
                <a:solidFill>
                  <a:srgbClr val="FFFFFF"/>
                </a:solidFill>
                <a:latin typeface="Verdana"/>
                <a:cs typeface="Verdana"/>
              </a:rPr>
              <a:t>organizations</a:t>
            </a:r>
            <a:r>
              <a:rPr dirty="0" sz="170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5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7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95">
                <a:solidFill>
                  <a:srgbClr val="FFFFFF"/>
                </a:solidFill>
                <a:latin typeface="Verdana"/>
                <a:cs typeface="Verdana"/>
              </a:rPr>
              <a:t>individuals </a:t>
            </a:r>
            <a:r>
              <a:rPr dirty="0" sz="1700" spc="-45">
                <a:solidFill>
                  <a:srgbClr val="FFFFFF"/>
                </a:solidFill>
                <a:latin typeface="Verdana"/>
                <a:cs typeface="Verdana"/>
              </a:rPr>
              <a:t>achieve</a:t>
            </a:r>
            <a:r>
              <a:rPr dirty="0" sz="17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30">
                <a:solidFill>
                  <a:srgbClr val="FFFFFF"/>
                </a:solidFill>
                <a:latin typeface="Verdana"/>
                <a:cs typeface="Verdana"/>
              </a:rPr>
              <a:t>enterprise-</a:t>
            </a:r>
            <a:r>
              <a:rPr dirty="0" sz="1700" spc="-30">
                <a:solidFill>
                  <a:srgbClr val="FFFFFF"/>
                </a:solidFill>
                <a:latin typeface="Verdana"/>
                <a:cs typeface="Verdana"/>
              </a:rPr>
              <a:t>grade</a:t>
            </a:r>
            <a:r>
              <a:rPr dirty="0" sz="17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0">
                <a:solidFill>
                  <a:srgbClr val="FFFFFF"/>
                </a:solidFill>
                <a:latin typeface="Verdana"/>
                <a:cs typeface="Verdana"/>
              </a:rPr>
              <a:t>reliability</a:t>
            </a:r>
            <a:r>
              <a:rPr dirty="0" sz="17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85">
                <a:solidFill>
                  <a:srgbClr val="FFFFFF"/>
                </a:solidFill>
                <a:latin typeface="Verdana"/>
                <a:cs typeface="Verdana"/>
              </a:rPr>
              <a:t>without</a:t>
            </a:r>
            <a:r>
              <a:rPr dirty="0" sz="17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95">
                <a:solidFill>
                  <a:srgbClr val="FFFFFF"/>
                </a:solidFill>
                <a:latin typeface="Verdana"/>
                <a:cs typeface="Verdana"/>
              </a:rPr>
              <a:t>upfront</a:t>
            </a:r>
            <a:r>
              <a:rPr dirty="0" sz="17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FFFFFF"/>
                </a:solidFill>
                <a:latin typeface="Verdana"/>
                <a:cs typeface="Verdana"/>
              </a:rPr>
              <a:t>capital </a:t>
            </a:r>
            <a:r>
              <a:rPr dirty="0" sz="1700" spc="-125">
                <a:solidFill>
                  <a:srgbClr val="FFFFFF"/>
                </a:solidFill>
                <a:latin typeface="Verdana"/>
                <a:cs typeface="Verdana"/>
              </a:rPr>
              <a:t>investment.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1700" spc="-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55">
                <a:solidFill>
                  <a:srgbClr val="FFFFFF"/>
                </a:solidFill>
                <a:latin typeface="Verdana"/>
                <a:cs typeface="Verdana"/>
              </a:rPr>
              <a:t>solution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FFFFFF"/>
                </a:solidFill>
                <a:latin typeface="Verdana"/>
                <a:cs typeface="Verdana"/>
              </a:rPr>
              <a:t>adapts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dirty="0" sz="1700" spc="-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65">
                <a:solidFill>
                  <a:srgbClr val="FFFFFF"/>
                </a:solidFill>
                <a:latin typeface="Verdana"/>
                <a:cs typeface="Verdana"/>
              </a:rPr>
              <a:t>growing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FFFFFF"/>
                </a:solidFill>
                <a:latin typeface="Verdana"/>
                <a:cs typeface="Verdana"/>
              </a:rPr>
              <a:t>needs</a:t>
            </a:r>
            <a:r>
              <a:rPr dirty="0" sz="1700" spc="-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FFFFFF"/>
                </a:solidFill>
                <a:latin typeface="Verdana"/>
                <a:cs typeface="Verdana"/>
              </a:rPr>
              <a:t>while </a:t>
            </a:r>
            <a:r>
              <a:rPr dirty="0" sz="1700" spc="-150">
                <a:solidFill>
                  <a:srgbClr val="FFFFFF"/>
                </a:solidFill>
                <a:latin typeface="Verdana"/>
                <a:cs typeface="Verdana"/>
              </a:rPr>
              <a:t>maintaining</a:t>
            </a:r>
            <a:r>
              <a:rPr dirty="0" sz="1700" spc="-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95">
                <a:solidFill>
                  <a:srgbClr val="FFFFFF"/>
                </a:solidFill>
                <a:latin typeface="Verdana"/>
                <a:cs typeface="Verdana"/>
              </a:rPr>
              <a:t>security</a:t>
            </a:r>
            <a:r>
              <a:rPr dirty="0" sz="17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95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7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70">
                <a:solidFill>
                  <a:srgbClr val="FFFFFF"/>
                </a:solidFill>
                <a:latin typeface="Verdana"/>
                <a:cs typeface="Verdana"/>
              </a:rPr>
              <a:t>compliance</a:t>
            </a:r>
            <a:r>
              <a:rPr dirty="0" sz="17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95">
                <a:solidFill>
                  <a:srgbClr val="FFFFFF"/>
                </a:solidFill>
                <a:latin typeface="Verdana"/>
                <a:cs typeface="Verdana"/>
              </a:rPr>
              <a:t>at</a:t>
            </a:r>
            <a:r>
              <a:rPr dirty="0" sz="17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10">
                <a:solidFill>
                  <a:srgbClr val="FFFFFF"/>
                </a:solidFill>
                <a:latin typeface="Verdana"/>
                <a:cs typeface="Verdana"/>
              </a:rPr>
              <a:t>every</a:t>
            </a:r>
            <a:r>
              <a:rPr dirty="0" sz="17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Verdana"/>
                <a:cs typeface="Verdana"/>
              </a:rPr>
              <a:t>layer.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6000" y="8973085"/>
            <a:ext cx="267652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100">
                <a:latin typeface="Verdana"/>
                <a:cs typeface="Verdana"/>
              </a:rPr>
              <a:t>aws.amazon.com/solutions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028700" y="4948437"/>
          <a:ext cx="9137650" cy="34817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07000"/>
                <a:gridCol w="3853815"/>
              </a:tblGrid>
              <a:tr h="725170"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dirty="0" sz="2050" spc="-10">
                          <a:solidFill>
                            <a:srgbClr val="F99C00"/>
                          </a:solidFill>
                          <a:latin typeface="Verdana"/>
                          <a:cs typeface="Verdana"/>
                        </a:rPr>
                        <a:t>Category</a:t>
                      </a:r>
                      <a:endParaRPr sz="2050">
                        <a:latin typeface="Verdana"/>
                        <a:cs typeface="Verdana"/>
                      </a:endParaRPr>
                    </a:p>
                  </a:txBody>
                  <a:tcPr marL="0" marR="0" marB="0" marT="190500">
                    <a:lnR w="19050">
                      <a:solidFill>
                        <a:srgbClr val="F99C00"/>
                      </a:solidFill>
                      <a:prstDash val="solid"/>
                    </a:lnR>
                    <a:solidFill>
                      <a:srgbClr val="202A20"/>
                    </a:solidFill>
                  </a:tcPr>
                </a:tc>
                <a:tc>
                  <a:txBody>
                    <a:bodyPr/>
                    <a:lstStyle/>
                    <a:p>
                      <a:pPr marL="56959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dirty="0" sz="2050" spc="-150">
                          <a:solidFill>
                            <a:srgbClr val="F99C00"/>
                          </a:solidFill>
                          <a:latin typeface="Verdana"/>
                          <a:cs typeface="Verdana"/>
                        </a:rPr>
                        <a:t>Key</a:t>
                      </a:r>
                      <a:r>
                        <a:rPr dirty="0" sz="2050" spc="-335">
                          <a:solidFill>
                            <a:srgbClr val="F99C0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2050" spc="-10">
                          <a:solidFill>
                            <a:srgbClr val="F99C00"/>
                          </a:solidFill>
                          <a:latin typeface="Verdana"/>
                          <a:cs typeface="Verdana"/>
                        </a:rPr>
                        <a:t>Benefits</a:t>
                      </a:r>
                      <a:endParaRPr sz="2050">
                        <a:latin typeface="Verdana"/>
                        <a:cs typeface="Verdana"/>
                      </a:endParaRPr>
                    </a:p>
                  </a:txBody>
                  <a:tcPr marL="0" marR="0" marB="0" marT="190500">
                    <a:lnL w="19050">
                      <a:solidFill>
                        <a:srgbClr val="F99C00"/>
                      </a:solidFill>
                      <a:prstDash val="solid"/>
                    </a:lnL>
                    <a:solidFill>
                      <a:srgbClr val="202A20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700" spc="-1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Technical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B="0" marT="166370">
                    <a:lnR w="19050">
                      <a:solidFill>
                        <a:srgbClr val="F99C00"/>
                      </a:solidFill>
                      <a:prstDash val="solid"/>
                    </a:lnR>
                    <a:lnB w="19050">
                      <a:solidFill>
                        <a:srgbClr val="F99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959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700" spc="-10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Scalability</a:t>
                      </a:r>
                      <a:r>
                        <a:rPr dirty="0" sz="1700" spc="-235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70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&amp;</a:t>
                      </a:r>
                      <a:r>
                        <a:rPr dirty="0" sz="1700" spc="-229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700" spc="-2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Automation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B="0" marT="166370">
                    <a:lnL w="19050">
                      <a:solidFill>
                        <a:srgbClr val="F99C00"/>
                      </a:solidFill>
                      <a:prstDash val="solid"/>
                    </a:lnL>
                    <a:lnB w="19050">
                      <a:solidFill>
                        <a:srgbClr val="F99C00"/>
                      </a:solidFill>
                      <a:prstDash val="solid"/>
                    </a:lnB>
                  </a:tcPr>
                </a:tc>
              </a:tr>
              <a:tr h="690880"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1700" spc="-2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User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B="0" marT="173355">
                    <a:lnR w="19050">
                      <a:solidFill>
                        <a:srgbClr val="F99C00"/>
                      </a:solidFill>
                      <a:prstDash val="solid"/>
                    </a:lnR>
                    <a:lnT w="19050">
                      <a:solidFill>
                        <a:srgbClr val="F99C00"/>
                      </a:solidFill>
                      <a:prstDash val="solid"/>
                    </a:lnT>
                    <a:lnB w="19050">
                      <a:solidFill>
                        <a:srgbClr val="F99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959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1700" spc="-8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Easy</a:t>
                      </a:r>
                      <a:r>
                        <a:rPr dirty="0" sz="1700" spc="-25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70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Access</a:t>
                      </a:r>
                      <a:r>
                        <a:rPr dirty="0" sz="1700" spc="-25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70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&amp;</a:t>
                      </a:r>
                      <a:r>
                        <a:rPr dirty="0" sz="1700" spc="-25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700" spc="-1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Security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B="0" marT="173355">
                    <a:lnL w="19050">
                      <a:solidFill>
                        <a:srgbClr val="F99C00"/>
                      </a:solidFill>
                      <a:prstDash val="solid"/>
                    </a:lnL>
                    <a:lnT w="19050">
                      <a:solidFill>
                        <a:srgbClr val="F99C00"/>
                      </a:solidFill>
                      <a:prstDash val="solid"/>
                    </a:lnT>
                    <a:lnB w="19050">
                      <a:solidFill>
                        <a:srgbClr val="F99C00"/>
                      </a:solidFill>
                      <a:prstDash val="solid"/>
                    </a:lnB>
                  </a:tcPr>
                </a:tc>
              </a:tr>
              <a:tr h="690880"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1700" spc="-1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Business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B="0" marT="173355">
                    <a:lnR w="19050">
                      <a:solidFill>
                        <a:srgbClr val="F99C00"/>
                      </a:solidFill>
                      <a:prstDash val="solid"/>
                    </a:lnR>
                    <a:lnT w="19050">
                      <a:solidFill>
                        <a:srgbClr val="F99C00"/>
                      </a:solidFill>
                      <a:prstDash val="solid"/>
                    </a:lnT>
                    <a:lnB w="19050">
                      <a:solidFill>
                        <a:srgbClr val="F99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959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1700" spc="-55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Reduced</a:t>
                      </a:r>
                      <a:r>
                        <a:rPr dirty="0" sz="1700" spc="-25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700" spc="-1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Overhead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B="0" marT="173355">
                    <a:lnL w="19050">
                      <a:solidFill>
                        <a:srgbClr val="F99C00"/>
                      </a:solidFill>
                      <a:prstDash val="solid"/>
                    </a:lnL>
                    <a:lnT w="19050">
                      <a:solidFill>
                        <a:srgbClr val="F99C00"/>
                      </a:solidFill>
                      <a:prstDash val="solid"/>
                    </a:lnT>
                    <a:lnB w="19050">
                      <a:solidFill>
                        <a:srgbClr val="F99C00"/>
                      </a:solidFill>
                      <a:prstDash val="solid"/>
                    </a:lnB>
                  </a:tcPr>
                </a:tc>
              </a:tr>
              <a:tr h="690880"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1700" spc="-1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Operational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B="0" marT="173355">
                    <a:lnR w="19050">
                      <a:solidFill>
                        <a:srgbClr val="F99C00"/>
                      </a:solidFill>
                      <a:prstDash val="solid"/>
                    </a:lnR>
                    <a:lnT w="19050">
                      <a:solidFill>
                        <a:srgbClr val="F99C00"/>
                      </a:solidFill>
                      <a:prstDash val="solid"/>
                    </a:lnT>
                    <a:lnB w="19050">
                      <a:solidFill>
                        <a:srgbClr val="F99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959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1700" spc="-85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Flexible</a:t>
                      </a:r>
                      <a:r>
                        <a:rPr dirty="0" sz="1700" spc="-225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700" spc="-10">
                          <a:solidFill>
                            <a:srgbClr val="202A20"/>
                          </a:solidFill>
                          <a:latin typeface="Verdana"/>
                          <a:cs typeface="Verdana"/>
                        </a:rPr>
                        <a:t>Scaling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B="0" marT="173355">
                    <a:lnL w="19050">
                      <a:solidFill>
                        <a:srgbClr val="F99C00"/>
                      </a:solidFill>
                      <a:prstDash val="solid"/>
                    </a:lnL>
                    <a:lnT w="19050">
                      <a:solidFill>
                        <a:srgbClr val="F99C00"/>
                      </a:solidFill>
                      <a:prstDash val="solid"/>
                    </a:lnT>
                    <a:lnB w="19050">
                      <a:solidFill>
                        <a:srgbClr val="F99C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57679" y="1191822"/>
            <a:ext cx="3872229" cy="0"/>
          </a:xfrm>
          <a:custGeom>
            <a:avLst/>
            <a:gdLst/>
            <a:ahLst/>
            <a:cxnLst/>
            <a:rect l="l" t="t" r="r" b="b"/>
            <a:pathLst>
              <a:path w="3872229" h="0">
                <a:moveTo>
                  <a:pt x="0" y="0"/>
                </a:moveTo>
                <a:lnTo>
                  <a:pt x="3872037" y="0"/>
                </a:lnTo>
              </a:path>
            </a:pathLst>
          </a:custGeom>
          <a:ln w="19049">
            <a:solidFill>
              <a:srgbClr val="F99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33846" y="1029297"/>
            <a:ext cx="2620010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70">
                <a:latin typeface="Verdana"/>
                <a:cs typeface="Verdana"/>
              </a:rPr>
              <a:t>Personal</a:t>
            </a:r>
            <a:r>
              <a:rPr dirty="0" sz="1400" spc="-190">
                <a:latin typeface="Verdana"/>
                <a:cs typeface="Verdana"/>
              </a:rPr>
              <a:t> </a:t>
            </a:r>
            <a:r>
              <a:rPr dirty="0" sz="1400" spc="-50">
                <a:latin typeface="Verdana"/>
                <a:cs typeface="Verdana"/>
              </a:rPr>
              <a:t>Cloud</a:t>
            </a:r>
            <a:r>
              <a:rPr dirty="0" sz="1400" spc="-190">
                <a:latin typeface="Verdana"/>
                <a:cs typeface="Verdana"/>
              </a:rPr>
              <a:t> </a:t>
            </a:r>
            <a:r>
              <a:rPr dirty="0" sz="1400" spc="-110">
                <a:latin typeface="Verdana"/>
                <a:cs typeface="Verdana"/>
              </a:rPr>
              <a:t>Drive</a:t>
            </a:r>
            <a:r>
              <a:rPr dirty="0" sz="1400" spc="-190">
                <a:latin typeface="Verdana"/>
                <a:cs typeface="Verdana"/>
              </a:rPr>
              <a:t> </a:t>
            </a:r>
            <a:r>
              <a:rPr dirty="0" sz="1400" spc="-80">
                <a:latin typeface="Verdana"/>
                <a:cs typeface="Verdana"/>
              </a:rPr>
              <a:t>Using</a:t>
            </a:r>
            <a:r>
              <a:rPr dirty="0" sz="1400" spc="-185">
                <a:latin typeface="Verdana"/>
                <a:cs typeface="Verdana"/>
              </a:rPr>
              <a:t> </a:t>
            </a:r>
            <a:r>
              <a:rPr dirty="0" sz="1400" spc="-25">
                <a:latin typeface="Verdana"/>
                <a:cs typeface="Verdana"/>
              </a:rPr>
              <a:t>AWS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87316" y="1029297"/>
            <a:ext cx="1033780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75">
                <a:latin typeface="Verdana"/>
                <a:cs typeface="Verdana"/>
              </a:rPr>
              <a:t>Presentation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01900" y="0"/>
            <a:ext cx="3086100" cy="10287000"/>
          </a:xfrm>
          <a:custGeom>
            <a:avLst/>
            <a:gdLst/>
            <a:ahLst/>
            <a:cxnLst/>
            <a:rect l="l" t="t" r="r" b="b"/>
            <a:pathLst>
              <a:path w="3086100" h="10287000">
                <a:moveTo>
                  <a:pt x="30861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3086100" y="0"/>
                </a:lnTo>
                <a:lnTo>
                  <a:pt x="3086100" y="10287000"/>
                </a:lnTo>
                <a:close/>
              </a:path>
            </a:pathLst>
          </a:custGeom>
          <a:solidFill>
            <a:srgbClr val="202A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7059645" y="1029297"/>
            <a:ext cx="212725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125">
                <a:solidFill>
                  <a:srgbClr val="F99C00"/>
                </a:solidFill>
                <a:latin typeface="Verdana"/>
                <a:cs typeface="Verdana"/>
              </a:rPr>
              <a:t>12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000" y="2154897"/>
            <a:ext cx="6474460" cy="23406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950" spc="-400">
                <a:solidFill>
                  <a:srgbClr val="202A20"/>
                </a:solidFill>
                <a:latin typeface="Verdana"/>
                <a:cs typeface="Verdana"/>
              </a:rPr>
              <a:t>C</a:t>
            </a:r>
            <a:r>
              <a:rPr dirty="0" sz="7950" spc="-415">
                <a:solidFill>
                  <a:srgbClr val="202A20"/>
                </a:solidFill>
                <a:latin typeface="Verdana"/>
                <a:cs typeface="Verdana"/>
              </a:rPr>
              <a:t>O</a:t>
            </a:r>
            <a:r>
              <a:rPr dirty="0" sz="7950" spc="-430">
                <a:solidFill>
                  <a:srgbClr val="202A20"/>
                </a:solidFill>
                <a:latin typeface="Verdana"/>
                <a:cs typeface="Verdana"/>
              </a:rPr>
              <a:t>N</a:t>
            </a:r>
            <a:r>
              <a:rPr dirty="0" sz="7950" spc="-400">
                <a:solidFill>
                  <a:srgbClr val="202A20"/>
                </a:solidFill>
                <a:latin typeface="Verdana"/>
                <a:cs typeface="Verdana"/>
              </a:rPr>
              <a:t>C</a:t>
            </a:r>
            <a:r>
              <a:rPr dirty="0" sz="7950" spc="-650">
                <a:solidFill>
                  <a:srgbClr val="202A20"/>
                </a:solidFill>
                <a:latin typeface="Verdana"/>
                <a:cs typeface="Verdana"/>
              </a:rPr>
              <a:t>L</a:t>
            </a:r>
            <a:r>
              <a:rPr dirty="0" sz="7950" spc="-430">
                <a:solidFill>
                  <a:srgbClr val="202A20"/>
                </a:solidFill>
                <a:latin typeface="Verdana"/>
                <a:cs typeface="Verdana"/>
              </a:rPr>
              <a:t>U</a:t>
            </a:r>
            <a:r>
              <a:rPr dirty="0" sz="7950" spc="-425">
                <a:solidFill>
                  <a:srgbClr val="202A20"/>
                </a:solidFill>
                <a:latin typeface="Verdana"/>
                <a:cs typeface="Verdana"/>
              </a:rPr>
              <a:t>S</a:t>
            </a:r>
            <a:r>
              <a:rPr dirty="0" sz="7950" spc="-660">
                <a:solidFill>
                  <a:srgbClr val="202A20"/>
                </a:solidFill>
                <a:latin typeface="Verdana"/>
                <a:cs typeface="Verdana"/>
              </a:rPr>
              <a:t>I</a:t>
            </a:r>
            <a:r>
              <a:rPr dirty="0" sz="7950" spc="-415">
                <a:solidFill>
                  <a:srgbClr val="202A20"/>
                </a:solidFill>
                <a:latin typeface="Verdana"/>
                <a:cs typeface="Verdana"/>
              </a:rPr>
              <a:t>O</a:t>
            </a:r>
            <a:r>
              <a:rPr dirty="0" sz="7950" spc="-25">
                <a:solidFill>
                  <a:srgbClr val="202A20"/>
                </a:solidFill>
                <a:latin typeface="Verdana"/>
                <a:cs typeface="Verdana"/>
              </a:rPr>
              <a:t>N</a:t>
            </a:r>
            <a:endParaRPr sz="7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015"/>
              </a:spcBef>
            </a:pPr>
            <a:r>
              <a:rPr dirty="0" sz="2200" spc="-100">
                <a:solidFill>
                  <a:srgbClr val="F99C00"/>
                </a:solidFill>
                <a:latin typeface="Verdana"/>
                <a:cs typeface="Verdana"/>
              </a:rPr>
              <a:t>Conclusion</a:t>
            </a:r>
            <a:r>
              <a:rPr dirty="0" sz="2200" spc="-330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200">
                <a:solidFill>
                  <a:srgbClr val="F99C00"/>
                </a:solidFill>
                <a:latin typeface="Verdana"/>
                <a:cs typeface="Verdana"/>
              </a:rPr>
              <a:t>&amp;</a:t>
            </a:r>
            <a:r>
              <a:rPr dirty="0" sz="2200" spc="-330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200" spc="-130">
                <a:solidFill>
                  <a:srgbClr val="F99C00"/>
                </a:solidFill>
                <a:latin typeface="Verdana"/>
                <a:cs typeface="Verdana"/>
              </a:rPr>
              <a:t>Next</a:t>
            </a:r>
            <a:r>
              <a:rPr dirty="0" sz="2200" spc="-330">
                <a:solidFill>
                  <a:srgbClr val="F99C00"/>
                </a:solidFill>
                <a:latin typeface="Verdana"/>
                <a:cs typeface="Verdana"/>
              </a:rPr>
              <a:t> </a:t>
            </a:r>
            <a:r>
              <a:rPr dirty="0" sz="2200" spc="-20">
                <a:solidFill>
                  <a:srgbClr val="F99C00"/>
                </a:solidFill>
                <a:latin typeface="Verdana"/>
                <a:cs typeface="Verdana"/>
              </a:rPr>
              <a:t>Steps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1931" y="2415851"/>
            <a:ext cx="9756067" cy="787114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16000" y="8977104"/>
            <a:ext cx="2215515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80">
                <a:latin typeface="Verdana"/>
                <a:cs typeface="Verdana"/>
              </a:rPr>
              <a:t>aws.amazon.com/solutions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6000" y="4843858"/>
            <a:ext cx="6514465" cy="1016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1400">
                <a:latin typeface="Verdana"/>
                <a:cs typeface="Verdana"/>
              </a:rPr>
              <a:t>The</a:t>
            </a:r>
            <a:r>
              <a:rPr dirty="0" sz="1400" spc="-20">
                <a:latin typeface="Verdana"/>
                <a:cs typeface="Verdana"/>
              </a:rPr>
              <a:t> </a:t>
            </a:r>
            <a:r>
              <a:rPr dirty="0" sz="1400" spc="-105">
                <a:latin typeface="Verdana"/>
                <a:cs typeface="Verdana"/>
              </a:rPr>
              <a:t>AWS-</a:t>
            </a:r>
            <a:r>
              <a:rPr dirty="0" sz="1400">
                <a:latin typeface="Verdana"/>
                <a:cs typeface="Verdana"/>
              </a:rPr>
              <a:t>based</a:t>
            </a:r>
            <a:r>
              <a:rPr dirty="0" sz="1400" spc="-20">
                <a:latin typeface="Verdana"/>
                <a:cs typeface="Verdana"/>
              </a:rPr>
              <a:t> </a:t>
            </a:r>
            <a:r>
              <a:rPr dirty="0" sz="1400" spc="-30">
                <a:latin typeface="Verdana"/>
                <a:cs typeface="Verdana"/>
              </a:rPr>
              <a:t>Personal </a:t>
            </a:r>
            <a:r>
              <a:rPr dirty="0" sz="1400">
                <a:latin typeface="Verdana"/>
                <a:cs typeface="Verdana"/>
              </a:rPr>
              <a:t>Cloud</a:t>
            </a:r>
            <a:r>
              <a:rPr dirty="0" sz="1400" spc="-20">
                <a:latin typeface="Verdana"/>
                <a:cs typeface="Verdana"/>
              </a:rPr>
              <a:t> </a:t>
            </a:r>
            <a:r>
              <a:rPr dirty="0" sz="1400" spc="-65">
                <a:latin typeface="Verdana"/>
                <a:cs typeface="Verdana"/>
              </a:rPr>
              <a:t>Drive</a:t>
            </a:r>
            <a:r>
              <a:rPr dirty="0" sz="1400" spc="-45">
                <a:latin typeface="Verdana"/>
                <a:cs typeface="Verdana"/>
              </a:rPr>
              <a:t> delivers </a:t>
            </a:r>
            <a:r>
              <a:rPr dirty="0" sz="1400">
                <a:latin typeface="Verdana"/>
                <a:cs typeface="Verdana"/>
              </a:rPr>
              <a:t>a</a:t>
            </a:r>
            <a:r>
              <a:rPr dirty="0" sz="1400" spc="-20">
                <a:latin typeface="Verdana"/>
                <a:cs typeface="Verdana"/>
              </a:rPr>
              <a:t> </a:t>
            </a:r>
            <a:r>
              <a:rPr dirty="0" sz="1400" spc="-30">
                <a:latin typeface="Verdana"/>
                <a:cs typeface="Verdana"/>
              </a:rPr>
              <a:t>secure, scalable, </a:t>
            </a:r>
            <a:r>
              <a:rPr dirty="0" sz="1400">
                <a:latin typeface="Verdana"/>
                <a:cs typeface="Verdana"/>
              </a:rPr>
              <a:t>and</a:t>
            </a:r>
            <a:r>
              <a:rPr dirty="0" sz="1400" spc="-20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cost-</a:t>
            </a:r>
            <a:r>
              <a:rPr dirty="0" sz="1400" spc="-95">
                <a:latin typeface="Verdana"/>
                <a:cs typeface="Verdana"/>
              </a:rPr>
              <a:t>efficient</a:t>
            </a:r>
            <a:r>
              <a:rPr dirty="0" sz="1400" spc="-30">
                <a:latin typeface="Verdana"/>
                <a:cs typeface="Verdana"/>
              </a:rPr>
              <a:t> </a:t>
            </a:r>
            <a:r>
              <a:rPr dirty="0" sz="1400" spc="-95">
                <a:latin typeface="Verdana"/>
                <a:cs typeface="Verdana"/>
              </a:rPr>
              <a:t>storage</a:t>
            </a:r>
            <a:r>
              <a:rPr dirty="0" sz="1400" spc="20">
                <a:latin typeface="Verdana"/>
                <a:cs typeface="Verdana"/>
              </a:rPr>
              <a:t> </a:t>
            </a:r>
            <a:r>
              <a:rPr dirty="0" sz="1400" spc="-120">
                <a:latin typeface="Verdana"/>
                <a:cs typeface="Verdana"/>
              </a:rPr>
              <a:t>solution.</a:t>
            </a:r>
            <a:r>
              <a:rPr dirty="0" sz="1400" spc="55">
                <a:latin typeface="Verdana"/>
                <a:cs typeface="Verdana"/>
              </a:rPr>
              <a:t> </a:t>
            </a:r>
            <a:r>
              <a:rPr dirty="0" sz="1400" spc="-120">
                <a:latin typeface="Verdana"/>
                <a:cs typeface="Verdana"/>
              </a:rPr>
              <a:t>Leveraging</a:t>
            </a:r>
            <a:r>
              <a:rPr dirty="0" sz="1400" spc="60">
                <a:latin typeface="Verdana"/>
                <a:cs typeface="Verdana"/>
              </a:rPr>
              <a:t> </a:t>
            </a:r>
            <a:r>
              <a:rPr dirty="0" sz="1400" spc="-175">
                <a:latin typeface="Verdana"/>
                <a:cs typeface="Verdana"/>
              </a:rPr>
              <a:t>S3,</a:t>
            </a:r>
            <a:r>
              <a:rPr dirty="0" sz="1400" spc="55">
                <a:latin typeface="Verdana"/>
                <a:cs typeface="Verdana"/>
              </a:rPr>
              <a:t> </a:t>
            </a:r>
            <a:r>
              <a:rPr dirty="0" sz="1400" spc="-135">
                <a:latin typeface="Verdana"/>
                <a:cs typeface="Verdana"/>
              </a:rPr>
              <a:t>Lambda,</a:t>
            </a:r>
            <a:r>
              <a:rPr dirty="0" sz="1400" spc="60">
                <a:latin typeface="Verdana"/>
                <a:cs typeface="Verdana"/>
              </a:rPr>
              <a:t> </a:t>
            </a:r>
            <a:r>
              <a:rPr dirty="0" sz="1400" spc="-190">
                <a:latin typeface="Verdana"/>
                <a:cs typeface="Verdana"/>
              </a:rPr>
              <a:t>IAM,</a:t>
            </a:r>
            <a:r>
              <a:rPr dirty="0" sz="1400" spc="65">
                <a:latin typeface="Verdana"/>
                <a:cs typeface="Verdana"/>
              </a:rPr>
              <a:t> </a:t>
            </a:r>
            <a:r>
              <a:rPr dirty="0" sz="1400" spc="-160">
                <a:latin typeface="Verdana"/>
                <a:cs typeface="Verdana"/>
              </a:rPr>
              <a:t>and</a:t>
            </a:r>
            <a:r>
              <a:rPr dirty="0" sz="1400" spc="60">
                <a:latin typeface="Verdana"/>
                <a:cs typeface="Verdana"/>
              </a:rPr>
              <a:t> </a:t>
            </a:r>
            <a:r>
              <a:rPr dirty="0" sz="1400" spc="-114">
                <a:latin typeface="Verdana"/>
                <a:cs typeface="Verdana"/>
              </a:rPr>
              <a:t>CloudFront,</a:t>
            </a:r>
            <a:r>
              <a:rPr dirty="0" sz="1400" spc="60">
                <a:latin typeface="Verdana"/>
                <a:cs typeface="Verdana"/>
              </a:rPr>
              <a:t> </a:t>
            </a:r>
            <a:r>
              <a:rPr dirty="0" sz="1400" spc="-295">
                <a:latin typeface="Verdana"/>
                <a:cs typeface="Verdana"/>
              </a:rPr>
              <a:t>it</a:t>
            </a:r>
            <a:r>
              <a:rPr dirty="0" sz="1400" spc="170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provides </a:t>
            </a:r>
            <a:r>
              <a:rPr dirty="0" sz="1400" spc="-65">
                <a:latin typeface="Verdana"/>
                <a:cs typeface="Verdana"/>
              </a:rPr>
              <a:t>seamless</a:t>
            </a:r>
            <a:r>
              <a:rPr dirty="0" sz="1400" spc="-15">
                <a:latin typeface="Verdana"/>
                <a:cs typeface="Verdana"/>
              </a:rPr>
              <a:t> </a:t>
            </a:r>
            <a:r>
              <a:rPr dirty="0" sz="1400" spc="-125">
                <a:latin typeface="Verdana"/>
                <a:cs typeface="Verdana"/>
              </a:rPr>
              <a:t>file</a:t>
            </a:r>
            <a:r>
              <a:rPr dirty="0" sz="1400" spc="10">
                <a:latin typeface="Verdana"/>
                <a:cs typeface="Verdana"/>
              </a:rPr>
              <a:t> </a:t>
            </a:r>
            <a:r>
              <a:rPr dirty="0" sz="1400" spc="-45">
                <a:latin typeface="Verdana"/>
                <a:cs typeface="Verdana"/>
              </a:rPr>
              <a:t>access,</a:t>
            </a:r>
            <a:r>
              <a:rPr dirty="0" sz="1400" spc="10">
                <a:latin typeface="Verdana"/>
                <a:cs typeface="Verdana"/>
              </a:rPr>
              <a:t> </a:t>
            </a:r>
            <a:r>
              <a:rPr dirty="0" sz="1400" spc="-114">
                <a:latin typeface="Verdana"/>
                <a:cs typeface="Verdana"/>
              </a:rPr>
              <a:t>automatic</a:t>
            </a:r>
            <a:r>
              <a:rPr dirty="0" sz="1400" spc="15">
                <a:latin typeface="Verdana"/>
                <a:cs typeface="Verdana"/>
              </a:rPr>
              <a:t> </a:t>
            </a:r>
            <a:r>
              <a:rPr dirty="0" sz="1400" spc="-130">
                <a:latin typeface="Verdana"/>
                <a:cs typeface="Verdana"/>
              </a:rPr>
              <a:t>versioning,</a:t>
            </a:r>
            <a:r>
              <a:rPr dirty="0" sz="1400" spc="10">
                <a:latin typeface="Verdana"/>
                <a:cs typeface="Verdana"/>
              </a:rPr>
              <a:t> </a:t>
            </a:r>
            <a:r>
              <a:rPr dirty="0" sz="1400" spc="-160">
                <a:latin typeface="Verdana"/>
                <a:cs typeface="Verdana"/>
              </a:rPr>
              <a:t>and</a:t>
            </a:r>
            <a:r>
              <a:rPr dirty="0" sz="1400" spc="40">
                <a:latin typeface="Verdana"/>
                <a:cs typeface="Verdana"/>
              </a:rPr>
              <a:t> </a:t>
            </a:r>
            <a:r>
              <a:rPr dirty="0" sz="1400" spc="-105">
                <a:latin typeface="Verdana"/>
                <a:cs typeface="Verdana"/>
              </a:rPr>
              <a:t>enterprise-</a:t>
            </a:r>
            <a:r>
              <a:rPr dirty="0" sz="1400" spc="-114">
                <a:latin typeface="Verdana"/>
                <a:cs typeface="Verdana"/>
              </a:rPr>
              <a:t>grade</a:t>
            </a:r>
            <a:r>
              <a:rPr dirty="0" sz="1400" spc="10">
                <a:latin typeface="Verdana"/>
                <a:cs typeface="Verdana"/>
              </a:rPr>
              <a:t> </a:t>
            </a:r>
            <a:r>
              <a:rPr dirty="0" sz="1400" spc="-110">
                <a:latin typeface="Verdana"/>
                <a:cs typeface="Verdana"/>
              </a:rPr>
              <a:t>encryption</a:t>
            </a:r>
            <a:r>
              <a:rPr dirty="0" sz="1400" spc="10">
                <a:latin typeface="Verdana"/>
                <a:cs typeface="Verdana"/>
              </a:rPr>
              <a:t> </a:t>
            </a:r>
            <a:r>
              <a:rPr dirty="0" sz="1400" spc="65">
                <a:latin typeface="Verdana"/>
                <a:cs typeface="Verdana"/>
              </a:rPr>
              <a:t>—</a:t>
            </a:r>
            <a:r>
              <a:rPr dirty="0" sz="1400" spc="15">
                <a:latin typeface="Verdana"/>
                <a:cs typeface="Verdana"/>
              </a:rPr>
              <a:t> </a:t>
            </a:r>
            <a:r>
              <a:rPr dirty="0" sz="1400" spc="-25">
                <a:latin typeface="Verdana"/>
                <a:cs typeface="Verdana"/>
              </a:rPr>
              <a:t>all </a:t>
            </a:r>
            <a:r>
              <a:rPr dirty="0" sz="1400" spc="-50">
                <a:latin typeface="Verdana"/>
                <a:cs typeface="Verdana"/>
              </a:rPr>
              <a:t>on</a:t>
            </a:r>
            <a:r>
              <a:rPr dirty="0" sz="1400" spc="-200">
                <a:latin typeface="Verdana"/>
                <a:cs typeface="Verdana"/>
              </a:rPr>
              <a:t> </a:t>
            </a:r>
            <a:r>
              <a:rPr dirty="0" sz="1400" spc="-25">
                <a:latin typeface="Verdana"/>
                <a:cs typeface="Verdana"/>
              </a:rPr>
              <a:t>a</a:t>
            </a:r>
            <a:r>
              <a:rPr dirty="0" sz="1400" spc="-200">
                <a:latin typeface="Verdana"/>
                <a:cs typeface="Verdana"/>
              </a:rPr>
              <a:t> </a:t>
            </a:r>
            <a:r>
              <a:rPr dirty="0" sz="1400" spc="-75">
                <a:latin typeface="Verdana"/>
                <a:cs typeface="Verdana"/>
              </a:rPr>
              <a:t>flexible</a:t>
            </a:r>
            <a:r>
              <a:rPr dirty="0" sz="1400" spc="-195">
                <a:latin typeface="Verdana"/>
                <a:cs typeface="Verdana"/>
              </a:rPr>
              <a:t> </a:t>
            </a:r>
            <a:r>
              <a:rPr dirty="0" sz="1400" spc="-125">
                <a:latin typeface="Verdana"/>
                <a:cs typeface="Verdana"/>
              </a:rPr>
              <a:t>pay-</a:t>
            </a:r>
            <a:r>
              <a:rPr dirty="0" sz="1400" spc="-114">
                <a:latin typeface="Verdana"/>
                <a:cs typeface="Verdana"/>
              </a:rPr>
              <a:t>as-</a:t>
            </a:r>
            <a:r>
              <a:rPr dirty="0" sz="1400" spc="-130">
                <a:latin typeface="Verdana"/>
                <a:cs typeface="Verdana"/>
              </a:rPr>
              <a:t>you-</a:t>
            </a:r>
            <a:r>
              <a:rPr dirty="0" sz="1400">
                <a:latin typeface="Verdana"/>
                <a:cs typeface="Verdana"/>
              </a:rPr>
              <a:t>go</a:t>
            </a:r>
            <a:r>
              <a:rPr dirty="0" sz="1400" spc="-200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model.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6000" y="6645987"/>
            <a:ext cx="3839845" cy="126365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400" spc="-80">
                <a:latin typeface="Verdana"/>
                <a:cs typeface="Verdana"/>
              </a:rPr>
              <a:t>Next</a:t>
            </a:r>
            <a:r>
              <a:rPr dirty="0" sz="1400" spc="-204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Steps:</a:t>
            </a:r>
            <a:endParaRPr sz="1400">
              <a:latin typeface="Verdana"/>
              <a:cs typeface="Verdana"/>
            </a:endParaRPr>
          </a:p>
          <a:p>
            <a:pPr marL="120014" indent="-109855">
              <a:lnSpc>
                <a:spcPct val="100000"/>
              </a:lnSpc>
              <a:spcBef>
                <a:spcPts val="270"/>
              </a:spcBef>
              <a:buChar char="•"/>
              <a:tabLst>
                <a:tab pos="120014" algn="l"/>
              </a:tabLst>
            </a:pPr>
            <a:r>
              <a:rPr dirty="0" sz="1400" spc="-75">
                <a:latin typeface="Verdana"/>
                <a:cs typeface="Verdana"/>
              </a:rPr>
              <a:t>Prototype</a:t>
            </a:r>
            <a:r>
              <a:rPr dirty="0" sz="1400" spc="-175">
                <a:latin typeface="Verdana"/>
                <a:cs typeface="Verdana"/>
              </a:rPr>
              <a:t> </a:t>
            </a:r>
            <a:r>
              <a:rPr dirty="0" sz="1400" spc="-85">
                <a:latin typeface="Verdana"/>
                <a:cs typeface="Verdana"/>
              </a:rPr>
              <a:t>development</a:t>
            </a:r>
            <a:r>
              <a:rPr dirty="0" sz="1400" spc="-170">
                <a:latin typeface="Verdana"/>
                <a:cs typeface="Verdana"/>
              </a:rPr>
              <a:t> </a:t>
            </a:r>
            <a:r>
              <a:rPr dirty="0" sz="1400" spc="-80">
                <a:latin typeface="Verdana"/>
                <a:cs typeface="Verdana"/>
              </a:rPr>
              <a:t>and</a:t>
            </a:r>
            <a:r>
              <a:rPr dirty="0" sz="1400" spc="-170">
                <a:latin typeface="Verdana"/>
                <a:cs typeface="Verdana"/>
              </a:rPr>
              <a:t> </a:t>
            </a:r>
            <a:r>
              <a:rPr dirty="0" sz="1400" spc="-90">
                <a:latin typeface="Verdana"/>
                <a:cs typeface="Verdana"/>
              </a:rPr>
              <a:t>architecture</a:t>
            </a:r>
            <a:r>
              <a:rPr dirty="0" sz="1400" spc="-170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setup</a:t>
            </a:r>
            <a:endParaRPr sz="1400">
              <a:latin typeface="Verdana"/>
              <a:cs typeface="Verdana"/>
            </a:endParaRPr>
          </a:p>
          <a:p>
            <a:pPr marL="120014" indent="-109855">
              <a:lnSpc>
                <a:spcPct val="100000"/>
              </a:lnSpc>
              <a:spcBef>
                <a:spcPts val="270"/>
              </a:spcBef>
              <a:buChar char="•"/>
              <a:tabLst>
                <a:tab pos="120014" algn="l"/>
              </a:tabLst>
            </a:pPr>
            <a:r>
              <a:rPr dirty="0" sz="1400" spc="-55">
                <a:latin typeface="Verdana"/>
                <a:cs typeface="Verdana"/>
              </a:rPr>
              <a:t>User</a:t>
            </a:r>
            <a:r>
              <a:rPr dirty="0" sz="1400" spc="-204">
                <a:latin typeface="Verdana"/>
                <a:cs typeface="Verdana"/>
              </a:rPr>
              <a:t> </a:t>
            </a:r>
            <a:r>
              <a:rPr dirty="0" sz="1400" spc="-85">
                <a:latin typeface="Verdana"/>
                <a:cs typeface="Verdana"/>
              </a:rPr>
              <a:t>testing</a:t>
            </a:r>
            <a:r>
              <a:rPr dirty="0" sz="1400" spc="-195">
                <a:latin typeface="Verdana"/>
                <a:cs typeface="Verdana"/>
              </a:rPr>
              <a:t> </a:t>
            </a:r>
            <a:r>
              <a:rPr dirty="0" sz="1400" spc="-80">
                <a:latin typeface="Verdana"/>
                <a:cs typeface="Verdana"/>
              </a:rPr>
              <a:t>and</a:t>
            </a:r>
            <a:r>
              <a:rPr dirty="0" sz="1400" spc="-195">
                <a:latin typeface="Verdana"/>
                <a:cs typeface="Verdana"/>
              </a:rPr>
              <a:t> </a:t>
            </a:r>
            <a:r>
              <a:rPr dirty="0" sz="1400" spc="-75">
                <a:latin typeface="Verdana"/>
                <a:cs typeface="Verdana"/>
              </a:rPr>
              <a:t>performance</a:t>
            </a:r>
            <a:r>
              <a:rPr dirty="0" sz="1400" spc="-195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benchmarking</a:t>
            </a:r>
            <a:endParaRPr sz="1400">
              <a:latin typeface="Verdana"/>
              <a:cs typeface="Verdana"/>
            </a:endParaRPr>
          </a:p>
          <a:p>
            <a:pPr marL="120014" indent="-109855">
              <a:lnSpc>
                <a:spcPct val="100000"/>
              </a:lnSpc>
              <a:spcBef>
                <a:spcPts val="270"/>
              </a:spcBef>
              <a:buChar char="•"/>
              <a:tabLst>
                <a:tab pos="120014" algn="l"/>
              </a:tabLst>
            </a:pPr>
            <a:r>
              <a:rPr dirty="0" sz="1400" spc="-70">
                <a:latin typeface="Verdana"/>
                <a:cs typeface="Verdana"/>
              </a:rPr>
              <a:t>Full</a:t>
            </a:r>
            <a:r>
              <a:rPr dirty="0" sz="1400" spc="-190">
                <a:latin typeface="Verdana"/>
                <a:cs typeface="Verdana"/>
              </a:rPr>
              <a:t> </a:t>
            </a:r>
            <a:r>
              <a:rPr dirty="0" sz="1400" spc="-85">
                <a:latin typeface="Verdana"/>
                <a:cs typeface="Verdana"/>
              </a:rPr>
              <a:t>deployment</a:t>
            </a:r>
            <a:r>
              <a:rPr dirty="0" sz="1400" spc="-190">
                <a:latin typeface="Verdana"/>
                <a:cs typeface="Verdana"/>
              </a:rPr>
              <a:t> </a:t>
            </a:r>
            <a:r>
              <a:rPr dirty="0" sz="1400" spc="-80">
                <a:latin typeface="Verdana"/>
                <a:cs typeface="Verdana"/>
              </a:rPr>
              <a:t>and</a:t>
            </a:r>
            <a:r>
              <a:rPr dirty="0" sz="1400" spc="-190">
                <a:latin typeface="Verdana"/>
                <a:cs typeface="Verdana"/>
              </a:rPr>
              <a:t> </a:t>
            </a:r>
            <a:r>
              <a:rPr dirty="0" sz="1400" spc="-85">
                <a:latin typeface="Verdana"/>
                <a:cs typeface="Verdana"/>
              </a:rPr>
              <a:t>CI/CD</a:t>
            </a:r>
            <a:r>
              <a:rPr dirty="0" sz="1400" spc="-190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integration</a:t>
            </a:r>
            <a:endParaRPr sz="1400">
              <a:latin typeface="Verdana"/>
              <a:cs typeface="Verdana"/>
            </a:endParaRPr>
          </a:p>
          <a:p>
            <a:pPr marL="120014" indent="-109855">
              <a:lnSpc>
                <a:spcPct val="100000"/>
              </a:lnSpc>
              <a:spcBef>
                <a:spcPts val="270"/>
              </a:spcBef>
              <a:buChar char="•"/>
              <a:tabLst>
                <a:tab pos="120014" algn="l"/>
              </a:tabLst>
            </a:pPr>
            <a:r>
              <a:rPr dirty="0" sz="1400" spc="-85">
                <a:latin typeface="Verdana"/>
                <a:cs typeface="Verdana"/>
              </a:rPr>
              <a:t>Continuous</a:t>
            </a:r>
            <a:r>
              <a:rPr dirty="0" sz="1400" spc="-195">
                <a:latin typeface="Verdana"/>
                <a:cs typeface="Verdana"/>
              </a:rPr>
              <a:t> </a:t>
            </a:r>
            <a:r>
              <a:rPr dirty="0" sz="1400" spc="-100">
                <a:latin typeface="Verdana"/>
                <a:cs typeface="Verdana"/>
              </a:rPr>
              <a:t>optimization</a:t>
            </a:r>
            <a:r>
              <a:rPr dirty="0" sz="1400" spc="-195">
                <a:latin typeface="Verdana"/>
                <a:cs typeface="Verdana"/>
              </a:rPr>
              <a:t> </a:t>
            </a:r>
            <a:r>
              <a:rPr dirty="0" sz="1400" spc="-80">
                <a:latin typeface="Verdana"/>
                <a:cs typeface="Verdana"/>
              </a:rPr>
              <a:t>and</a:t>
            </a:r>
            <a:r>
              <a:rPr dirty="0" sz="1400" spc="-190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cost</a:t>
            </a:r>
            <a:r>
              <a:rPr dirty="0" sz="1400" spc="-195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monitoring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31931" y="7144346"/>
            <a:ext cx="6666230" cy="3143250"/>
          </a:xfrm>
          <a:prstGeom prst="rect">
            <a:avLst/>
          </a:prstGeom>
          <a:solidFill>
            <a:srgbClr val="F99C00"/>
          </a:solidFill>
        </p:spPr>
        <p:txBody>
          <a:bodyPr wrap="square" lIns="0" tIns="1162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15"/>
              </a:spcBef>
            </a:pPr>
            <a:endParaRPr sz="2200">
              <a:latin typeface="Times New Roman"/>
              <a:cs typeface="Times New Roman"/>
            </a:endParaRPr>
          </a:p>
          <a:p>
            <a:pPr marL="471805" marR="917575">
              <a:lnSpc>
                <a:spcPts val="2620"/>
              </a:lnSpc>
              <a:spcBef>
                <a:spcPts val="5"/>
              </a:spcBef>
            </a:pPr>
            <a:r>
              <a:rPr dirty="0" sz="2200" spc="-95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dirty="0" sz="2200" spc="-3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55">
                <a:solidFill>
                  <a:srgbClr val="FFFFFF"/>
                </a:solidFill>
                <a:latin typeface="Verdana"/>
                <a:cs typeface="Verdana"/>
              </a:rPr>
              <a:t>continuing</a:t>
            </a:r>
            <a:r>
              <a:rPr dirty="0" sz="2200" spc="-3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75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dirty="0" sz="2200" spc="-3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90">
                <a:solidFill>
                  <a:srgbClr val="FFFFFF"/>
                </a:solidFill>
                <a:latin typeface="Verdana"/>
                <a:cs typeface="Verdana"/>
              </a:rPr>
              <a:t>innovate,</a:t>
            </a:r>
            <a:r>
              <a:rPr dirty="0" sz="2200" spc="-3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65">
                <a:solidFill>
                  <a:srgbClr val="FFFFFF"/>
                </a:solidFill>
                <a:latin typeface="Verdana"/>
                <a:cs typeface="Verdana"/>
              </a:rPr>
              <a:t>adapt,</a:t>
            </a:r>
            <a:r>
              <a:rPr dirty="0" sz="2200" spc="-3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3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2200" spc="-3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Verdana"/>
                <a:cs typeface="Verdana"/>
              </a:rPr>
              <a:t>focus </a:t>
            </a:r>
            <a:r>
              <a:rPr dirty="0" sz="2200" spc="-8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dirty="0" sz="2200" spc="-3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20">
                <a:solidFill>
                  <a:srgbClr val="FFFFFF"/>
                </a:solidFill>
                <a:latin typeface="Verdana"/>
                <a:cs typeface="Verdana"/>
              </a:rPr>
              <a:t>customer</a:t>
            </a:r>
            <a:r>
              <a:rPr dirty="0" sz="2200" spc="-3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80">
                <a:solidFill>
                  <a:srgbClr val="FFFFFF"/>
                </a:solidFill>
                <a:latin typeface="Verdana"/>
                <a:cs typeface="Verdana"/>
              </a:rPr>
              <a:t>value,</a:t>
            </a:r>
            <a:r>
              <a:rPr dirty="0" sz="2200" spc="-3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14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2200" spc="-3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20">
                <a:solidFill>
                  <a:srgbClr val="FFFFFF"/>
                </a:solidFill>
                <a:latin typeface="Verdana"/>
                <a:cs typeface="Verdana"/>
              </a:rPr>
              <a:t>company</a:t>
            </a:r>
            <a:r>
              <a:rPr dirty="0" sz="2200" spc="-3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75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dirty="0" sz="2200" spc="-3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Verdana"/>
                <a:cs typeface="Verdana"/>
              </a:rPr>
              <a:t>well-</a:t>
            </a:r>
            <a:r>
              <a:rPr dirty="0" sz="2200" spc="-110">
                <a:solidFill>
                  <a:srgbClr val="FFFFFF"/>
                </a:solidFill>
                <a:latin typeface="Verdana"/>
                <a:cs typeface="Verdana"/>
              </a:rPr>
              <a:t>positioned</a:t>
            </a:r>
            <a:r>
              <a:rPr dirty="0" sz="2200" spc="-3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14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2200" spc="-3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80">
                <a:solidFill>
                  <a:srgbClr val="FFFFFF"/>
                </a:solidFill>
                <a:latin typeface="Verdana"/>
                <a:cs typeface="Verdana"/>
              </a:rPr>
              <a:t>long-</a:t>
            </a:r>
            <a:r>
              <a:rPr dirty="0" sz="2200" spc="-170">
                <a:solidFill>
                  <a:srgbClr val="FFFFFF"/>
                </a:solidFill>
                <a:latin typeface="Verdana"/>
                <a:cs typeface="Verdana"/>
              </a:rPr>
              <a:t>term</a:t>
            </a:r>
            <a:r>
              <a:rPr dirty="0" sz="2200" spc="-3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Verdana"/>
                <a:cs typeface="Verdana"/>
              </a:rPr>
              <a:t>success.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Neha Yadav</dc:creator>
  <cp:keywords>DAHPDGGbN40,BAGzT8DUslg</cp:keywords>
  <dc:title>Personal Cloud Drive on AWS</dc:title>
  <dcterms:created xsi:type="dcterms:W3CDTF">2026-07-11T04:37:15Z</dcterms:created>
  <dcterms:modified xsi:type="dcterms:W3CDTF">2026-07-11T04:37:15Z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2026-07-11T00:00:00Z</vt:filetime>
  </property>
  <property fmtid="{D5CDD505-2E9C-101B-9397-08002B2CF9AE}" pid="3" name="Creator">
    <vt:lpwstr>Canva</vt:lpwstr>
  </property>
  <property fmtid="{D5CDD505-2E9C-101B-9397-08002B2CF9AE}" pid="4" name="LastSaved">
    <vt:filetime>2026-07-11T00:00:00Z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