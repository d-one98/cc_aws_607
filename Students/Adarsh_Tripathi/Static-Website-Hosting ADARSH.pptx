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yourself and the project scope. This internship project demonstrates serverless static website hosting using core AWS services — Lambda for compute, API Gateway for the HTTP interface, CloudWatch for monitoring, and CloudTrail for audit logging. The goal is to show how a fully functional webpage can be served without traditional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service briefly. Lambda is the compute layer — it executes your code. API Gateway is the front door that accepts HTTP requests. CloudWatch captures logs and metrics so you can see what happened. CloudTrail records every API call for compliance and auditing. Together, they form a complete serverless hosting and monitoring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request flow step by step. The user opens the Invoke URL in their browser. API Gateway receives that HTTP request and triggers the Lambda function. Lambda runs the Node.js code which returns the HTML response. CloudWatch automatically captures the execution logs. CloudTrail independently records the API call for audit purposes. Emphasize that this is fully serverless — no EC2 instances, no load balancers.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implementation step in order. First, create the Lambda function named myFirstLambdaFunction using Node.js runtime. Add your HTML code directly inside the index.mjs handler file. Deploy the function, then create a test event in the Lambda console and execute it — you should see a successful response. Next, verify CloudWatch logs show the execution output and check CloudTrail for the recorded API events. Then add the API Gateway trigger to expose an HTTP endpoint, generate the Invoke URL, and finally open that URL in your browser to see the static HTML page rendered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results of each verification step. The Lambda function executed successfully and returned a 200 OK response with the HTML body. CloudWatch logs captured the execution timestamps, function output, and performance metrics. CloudTrail recorded every API call made during the process for full auditability. Finally, opening the Invoke URL in the browser displayed the static HTML webpage as expected. This confirms the entire pipeline — from API Gateway through Lambda to monitoring — is working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key advantages of this architecture. Serverless means zero server management. Cost-effective because you only pay when the function executes. Auto scaling handles any traffic volume without configuration. Security is built in through IAM roles and policies. CloudTrail provides full compliance auditing. Conclude by reaffirming that the project successfully demonstrated a complete serverless static hosting solution with full monitoring and audit capabilities — a strong foundation for real-world AWS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470571"/>
            <a:ext cx="4722763"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Static Website Hosting</a:t>
            </a:r>
            <a:endParaRPr lang="en-US" sz="2750" dirty="0"/>
          </a:p>
        </p:txBody>
      </p:sp>
      <p:sp>
        <p:nvSpPr>
          <p:cNvPr id="4" name="Text 1"/>
          <p:cNvSpPr/>
          <p:nvPr/>
        </p:nvSpPr>
        <p:spPr>
          <a:xfrm>
            <a:off x="496119" y="2126159"/>
            <a:ext cx="4722763" cy="613097"/>
          </a:xfrm>
          <a:prstGeom prst="rect">
            <a:avLst/>
          </a:prstGeom>
          <a:noFill/>
          <a:ln/>
        </p:spPr>
        <p:txBody>
          <a:bodyPr wrap="square" lIns="0" tIns="0" rIns="0" bIns="0" rtlCol="0" anchor="t"/>
          <a:lstStyle/>
          <a:p>
            <a:pPr algn="l" indent="0" marL="0">
              <a:lnSpc>
                <a:spcPct val="133000"/>
              </a:lnSpc>
              <a:spcAft>
                <a:spcPts val="1250"/>
              </a:spcAft>
              <a:buNone/>
            </a:pPr>
            <a:r>
              <a:rPr lang="en-US" sz="1100" b="1" dirty="0">
                <a:solidFill>
                  <a:srgbClr val="272525"/>
                </a:solidFill>
                <a:latin typeface="Inter Bold" pitchFamily="34" charset="0"/>
                <a:ea typeface="Inter Bold" pitchFamily="34" charset="-122"/>
                <a:cs typeface="Inter Bold" pitchFamily="34" charset="-120"/>
              </a:rPr>
              <a:t>AWS Lambda · API Gateway · CloudWatch · CloudTrail</a:t>
            </a:r>
            <a:endParaRPr lang="en-US" sz="1100" dirty="0"/>
          </a:p>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AWS Internship Project</a:t>
            </a:r>
            <a:endParaRPr lang="en-US" sz="1100" dirty="0"/>
          </a:p>
        </p:txBody>
      </p:sp>
      <p:sp>
        <p:nvSpPr>
          <p:cNvPr id="5" name="Text 2"/>
          <p:cNvSpPr/>
          <p:nvPr/>
        </p:nvSpPr>
        <p:spPr>
          <a:xfrm>
            <a:off x="496119" y="2951857"/>
            <a:ext cx="4722763" cy="442913"/>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Adarsh Tripathi · [</a:t>
            </a:r>
            <a:pPr algn="l" indent="0" marL="0">
              <a:lnSpc>
                <a:spcPct val="104000"/>
              </a:lnSpc>
              <a:buNone/>
            </a:pPr>
            <a:r>
              <a:rPr lang="en-US" sz="1350" b="1" u="sng" dirty="0">
                <a:solidFill>
                  <a:srgbClr val="000000"/>
                </a:solidFill>
                <a:latin typeface="Inter Bold" pitchFamily="34" charset="0"/>
                <a:ea typeface="Inter Bold" pitchFamily="34" charset="-122"/>
                <a:cs typeface="Inter Bold" pitchFamily="34" charset="-120"/>
              </a:rPr>
              <a:t>Shri Ramswaroop Memorial College of Engineering and Management</a:t>
            </a:r>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 · [13-07-2026]</a:t>
            </a:r>
            <a:endParaRPr lang="en-US" sz="1350" dirty="0"/>
          </a:p>
        </p:txBody>
      </p:sp>
      <p:sp>
        <p:nvSpPr>
          <p:cNvPr id="6" name="Text 3"/>
          <p:cNvSpPr/>
          <p:nvPr/>
        </p:nvSpPr>
        <p:spPr>
          <a:xfrm>
            <a:off x="496119" y="3451473"/>
            <a:ext cx="472276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Faculty- Anmol Kamboj</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665559"/>
            <a:ext cx="1056680" cy="215354"/>
          </a:xfrm>
          <a:prstGeom prst="roundRect">
            <a:avLst>
              <a:gd name="adj" fmla="val 22119"/>
            </a:avLst>
          </a:prstGeom>
          <a:solidFill>
            <a:srgbClr val="DADBF1"/>
          </a:solidFill>
          <a:ln/>
        </p:spPr>
      </p:sp>
      <p:sp>
        <p:nvSpPr>
          <p:cNvPr id="3" name="Text 1"/>
          <p:cNvSpPr/>
          <p:nvPr/>
        </p:nvSpPr>
        <p:spPr>
          <a:xfrm>
            <a:off x="581174" y="708050"/>
            <a:ext cx="1343769" cy="130373"/>
          </a:xfrm>
          <a:prstGeom prst="rect">
            <a:avLst/>
          </a:prstGeom>
          <a:noFill/>
          <a:ln/>
        </p:spPr>
        <p:txBody>
          <a:bodyPr wrap="none" lIns="0" tIns="0" rIns="0" bIns="0" rtlCol="0" anchor="t"/>
          <a:lstStyle/>
          <a:p>
            <a:pPr algn="l" indent="0" marL="0">
              <a:lnSpc>
                <a:spcPct val="96000"/>
              </a:lnSpc>
              <a:buNone/>
            </a:pPr>
            <a:r>
              <a:rPr lang="en-US" sz="850" dirty="0">
                <a:solidFill>
                  <a:srgbClr val="272525"/>
                </a:solidFill>
                <a:latin typeface="Inter" pitchFamily="34" charset="0"/>
                <a:ea typeface="Inter" pitchFamily="34" charset="-122"/>
                <a:cs typeface="Inter" pitchFamily="34" charset="-120"/>
              </a:rPr>
              <a:t>CORE SERVICES</a:t>
            </a:r>
            <a:endParaRPr lang="en-US" sz="850" dirty="0"/>
          </a:p>
        </p:txBody>
      </p:sp>
      <p:sp>
        <p:nvSpPr>
          <p:cNvPr id="4" name="Text 2"/>
          <p:cNvSpPr/>
          <p:nvPr/>
        </p:nvSpPr>
        <p:spPr>
          <a:xfrm>
            <a:off x="496119" y="937617"/>
            <a:ext cx="8151763"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Project Overview</a:t>
            </a:r>
            <a:endParaRPr lang="en-US" sz="2750" dirty="0"/>
          </a:p>
        </p:txBody>
      </p:sp>
      <p:sp>
        <p:nvSpPr>
          <p:cNvPr id="5" name="Text 3"/>
          <p:cNvSpPr/>
          <p:nvPr/>
        </p:nvSpPr>
        <p:spPr>
          <a:xfrm>
            <a:off x="496119" y="1593205"/>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Host a static HTML page serverlessly — compute, routing, monitoring, and auditing via four AWS services.</a:t>
            </a:r>
            <a:endParaRPr lang="en-US" sz="11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979488"/>
            <a:ext cx="283518" cy="283518"/>
          </a:xfrm>
          <a:prstGeom prst="rect">
            <a:avLst/>
          </a:prstGeom>
        </p:spPr>
      </p:pic>
      <p:sp>
        <p:nvSpPr>
          <p:cNvPr id="7" name="Text 4"/>
          <p:cNvSpPr/>
          <p:nvPr/>
        </p:nvSpPr>
        <p:spPr>
          <a:xfrm>
            <a:off x="496119" y="2440186"/>
            <a:ext cx="3987254"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AWS Lambda</a:t>
            </a:r>
            <a:endParaRPr lang="en-US" sz="1350" dirty="0"/>
          </a:p>
        </p:txBody>
      </p:sp>
      <p:sp>
        <p:nvSpPr>
          <p:cNvPr id="8" name="Text 5"/>
          <p:cNvSpPr/>
          <p:nvPr/>
        </p:nvSpPr>
        <p:spPr>
          <a:xfrm>
            <a:off x="496119" y="2746697"/>
            <a:ext cx="3987254"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Serverless compute — runs code without provisioning servers</a:t>
            </a:r>
            <a:endParaRPr lang="en-US" sz="11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0553" y="1979488"/>
            <a:ext cx="283518" cy="283518"/>
          </a:xfrm>
          <a:prstGeom prst="rect">
            <a:avLst/>
          </a:prstGeom>
        </p:spPr>
      </p:pic>
      <p:sp>
        <p:nvSpPr>
          <p:cNvPr id="10" name="Text 6"/>
          <p:cNvSpPr/>
          <p:nvPr/>
        </p:nvSpPr>
        <p:spPr>
          <a:xfrm>
            <a:off x="4660553" y="2440186"/>
            <a:ext cx="3987329"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API Gateway</a:t>
            </a:r>
            <a:endParaRPr lang="en-US" sz="1350" dirty="0"/>
          </a:p>
        </p:txBody>
      </p:sp>
      <p:sp>
        <p:nvSpPr>
          <p:cNvPr id="11" name="Text 7"/>
          <p:cNvSpPr/>
          <p:nvPr/>
        </p:nvSpPr>
        <p:spPr>
          <a:xfrm>
            <a:off x="4660553" y="2746697"/>
            <a:ext cx="3987329"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Manages HTTP requests and routes them to Lambda</a:t>
            </a:r>
            <a:endParaRPr lang="en-US" sz="11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483843"/>
            <a:ext cx="283518" cy="283518"/>
          </a:xfrm>
          <a:prstGeom prst="rect">
            <a:avLst/>
          </a:prstGeom>
        </p:spPr>
      </p:pic>
      <p:sp>
        <p:nvSpPr>
          <p:cNvPr id="13" name="Text 8"/>
          <p:cNvSpPr/>
          <p:nvPr/>
        </p:nvSpPr>
        <p:spPr>
          <a:xfrm>
            <a:off x="496119" y="3944541"/>
            <a:ext cx="3987254"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CloudWatch</a:t>
            </a:r>
            <a:endParaRPr lang="en-US" sz="1350" dirty="0"/>
          </a:p>
        </p:txBody>
      </p:sp>
      <p:sp>
        <p:nvSpPr>
          <p:cNvPr id="14" name="Text 9"/>
          <p:cNvSpPr/>
          <p:nvPr/>
        </p:nvSpPr>
        <p:spPr>
          <a:xfrm>
            <a:off x="496119" y="4251052"/>
            <a:ext cx="3987254"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Monitors logs, metrics, and execution events</a:t>
            </a:r>
            <a:endParaRPr lang="en-US" sz="11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60553" y="3483843"/>
            <a:ext cx="283518" cy="283518"/>
          </a:xfrm>
          <a:prstGeom prst="rect">
            <a:avLst/>
          </a:prstGeom>
        </p:spPr>
      </p:pic>
      <p:sp>
        <p:nvSpPr>
          <p:cNvPr id="16" name="Text 10"/>
          <p:cNvSpPr/>
          <p:nvPr/>
        </p:nvSpPr>
        <p:spPr>
          <a:xfrm>
            <a:off x="4660553" y="3944541"/>
            <a:ext cx="3987329"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CloudTrail</a:t>
            </a:r>
            <a:endParaRPr lang="en-US" sz="1350" dirty="0"/>
          </a:p>
        </p:txBody>
      </p:sp>
      <p:sp>
        <p:nvSpPr>
          <p:cNvPr id="17" name="Text 11"/>
          <p:cNvSpPr/>
          <p:nvPr/>
        </p:nvSpPr>
        <p:spPr>
          <a:xfrm>
            <a:off x="4660553" y="4251052"/>
            <a:ext cx="3987329"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Audits API activity across your AWS account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389855"/>
            <a:ext cx="520303" cy="107603"/>
          </a:xfrm>
          <a:prstGeom prst="roundRect">
            <a:avLst>
              <a:gd name="adj" fmla="val 22134"/>
            </a:avLst>
          </a:prstGeom>
          <a:solidFill>
            <a:srgbClr val="DADBF1"/>
          </a:solidFill>
          <a:ln/>
        </p:spPr>
      </p:sp>
      <p:sp>
        <p:nvSpPr>
          <p:cNvPr id="3" name="Text 1"/>
          <p:cNvSpPr/>
          <p:nvPr/>
        </p:nvSpPr>
        <p:spPr>
          <a:xfrm>
            <a:off x="538609" y="411063"/>
            <a:ext cx="892522" cy="65187"/>
          </a:xfrm>
          <a:prstGeom prst="rect">
            <a:avLst/>
          </a:prstGeom>
          <a:noFill/>
          <a:ln/>
        </p:spPr>
        <p:txBody>
          <a:bodyPr wrap="none" lIns="0" tIns="0" rIns="0" bIns="0" rtlCol="0" anchor="t"/>
          <a:lstStyle/>
          <a:p>
            <a:pPr algn="l" indent="0" marL="0">
              <a:lnSpc>
                <a:spcPct val="96000"/>
              </a:lnSpc>
              <a:buNone/>
            </a:pPr>
            <a:r>
              <a:rPr lang="en-US" sz="400" dirty="0">
                <a:solidFill>
                  <a:srgbClr val="272525"/>
                </a:solidFill>
                <a:latin typeface="Inter" pitchFamily="34" charset="0"/>
                <a:ea typeface="Inter" pitchFamily="34" charset="-122"/>
                <a:cs typeface="Inter" pitchFamily="34" charset="-120"/>
              </a:rPr>
              <a:t>ARCHITECTURE</a:t>
            </a:r>
            <a:endParaRPr lang="en-US" sz="400" dirty="0"/>
          </a:p>
        </p:txBody>
      </p:sp>
      <p:sp>
        <p:nvSpPr>
          <p:cNvPr id="4" name="Text 2"/>
          <p:cNvSpPr/>
          <p:nvPr/>
        </p:nvSpPr>
        <p:spPr>
          <a:xfrm>
            <a:off x="496119" y="511597"/>
            <a:ext cx="815176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System Architecture &amp; Request Flow</a:t>
            </a:r>
            <a:endParaRPr lang="en-US" sz="1350" dirty="0"/>
          </a:p>
        </p:txBody>
      </p:sp>
      <p:pic>
        <p:nvPicPr>
          <p:cNvPr id="5" name="Image 0" descr="preencoded.png">    </p:cNvPr>
          <p:cNvPicPr>
            <a:picLocks noChangeAspect="1"/>
          </p:cNvPicPr>
          <p:nvPr/>
        </p:nvPicPr>
        <p:blipFill>
          <a:blip r:embed="rId1"/>
          <a:stretch>
            <a:fillRect/>
          </a:stretch>
        </p:blipFill>
        <p:spPr>
          <a:xfrm>
            <a:off x="496119" y="825996"/>
            <a:ext cx="3989412" cy="3989412"/>
          </a:xfrm>
          <a:prstGeom prst="rect">
            <a:avLst/>
          </a:prstGeom>
        </p:spPr>
      </p:pic>
      <p:sp>
        <p:nvSpPr>
          <p:cNvPr id="6" name="Text 3"/>
          <p:cNvSpPr/>
          <p:nvPr/>
        </p:nvSpPr>
        <p:spPr>
          <a:xfrm>
            <a:off x="4663232" y="2521818"/>
            <a:ext cx="3989412" cy="110728"/>
          </a:xfrm>
          <a:prstGeom prst="rect">
            <a:avLst/>
          </a:prstGeom>
          <a:noFill/>
          <a:ln/>
        </p:spPr>
        <p:txBody>
          <a:bodyPr wrap="none" lIns="0" tIns="0" rIns="0" bIns="0" rtlCol="0" anchor="t"/>
          <a:lstStyle/>
          <a:p>
            <a:pPr algn="l" indent="0" marL="0">
              <a:lnSpc>
                <a:spcPct val="104000"/>
              </a:lnSpc>
              <a:buNone/>
            </a:pPr>
            <a:r>
              <a:rPr lang="en-US" sz="650" b="1" dirty="0">
                <a:solidFill>
                  <a:srgbClr val="000000"/>
                </a:solidFill>
                <a:latin typeface="Inter Bold" pitchFamily="34" charset="0"/>
                <a:ea typeface="Inter Bold" pitchFamily="34" charset="-122"/>
                <a:cs typeface="Inter Bold" pitchFamily="34" charset="-120"/>
              </a:rPr>
              <a:t>How It Works</a:t>
            </a:r>
            <a:endParaRPr lang="en-US" sz="650" dirty="0"/>
          </a:p>
        </p:txBody>
      </p:sp>
      <p:sp>
        <p:nvSpPr>
          <p:cNvPr id="7" name="Text 4"/>
          <p:cNvSpPr/>
          <p:nvPr/>
        </p:nvSpPr>
        <p:spPr>
          <a:xfrm>
            <a:off x="4663232" y="2667967"/>
            <a:ext cx="3989412" cy="474687"/>
          </a:xfrm>
          <a:prstGeom prst="rect">
            <a:avLst/>
          </a:prstGeom>
          <a:noFill/>
          <a:ln/>
        </p:spPr>
        <p:txBody>
          <a:bodyPr wrap="square" lIns="0" tIns="0" rIns="0" bIns="0" rtlCol="0" anchor="t">
            <a:normAutofit/>
          </a:bodyPr>
          <a:lstStyle/>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User</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 Browser sends HTTP request to Invoke URL</a:t>
            </a:r>
            <a:endParaRPr lang="en-US" sz="550" dirty="0"/>
          </a:p>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API Gateway</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 Routes request to Lambda function</a:t>
            </a:r>
            <a:endParaRPr lang="en-US" sz="550" dirty="0"/>
          </a:p>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Lambda</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 Executes Node.js code, returns HTML response</a:t>
            </a:r>
            <a:endParaRPr lang="en-US" sz="550" dirty="0"/>
          </a:p>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CloudWatch</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 Logs execution output and metrics</a:t>
            </a:r>
            <a:endParaRPr lang="en-US" sz="550" dirty="0"/>
          </a:p>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CloudTrail</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 Audits all API activity for compliance</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510480"/>
            <a:ext cx="1171129" cy="215354"/>
          </a:xfrm>
          <a:prstGeom prst="roundRect">
            <a:avLst>
              <a:gd name="adj" fmla="val 22119"/>
            </a:avLst>
          </a:prstGeom>
          <a:solidFill>
            <a:srgbClr val="DADBF1"/>
          </a:solidFill>
          <a:ln/>
        </p:spPr>
      </p:sp>
      <p:sp>
        <p:nvSpPr>
          <p:cNvPr id="3" name="Text 1"/>
          <p:cNvSpPr/>
          <p:nvPr/>
        </p:nvSpPr>
        <p:spPr>
          <a:xfrm>
            <a:off x="581174" y="552971"/>
            <a:ext cx="1458218" cy="130373"/>
          </a:xfrm>
          <a:prstGeom prst="rect">
            <a:avLst/>
          </a:prstGeom>
          <a:noFill/>
          <a:ln/>
        </p:spPr>
        <p:txBody>
          <a:bodyPr wrap="none" lIns="0" tIns="0" rIns="0" bIns="0" rtlCol="0" anchor="t"/>
          <a:lstStyle/>
          <a:p>
            <a:pPr algn="l" indent="0" marL="0">
              <a:lnSpc>
                <a:spcPct val="96000"/>
              </a:lnSpc>
              <a:buNone/>
            </a:pPr>
            <a:r>
              <a:rPr lang="en-US" sz="850" dirty="0">
                <a:solidFill>
                  <a:srgbClr val="272525"/>
                </a:solidFill>
                <a:latin typeface="Inter" pitchFamily="34" charset="0"/>
                <a:ea typeface="Inter" pitchFamily="34" charset="-122"/>
                <a:cs typeface="Inter" pitchFamily="34" charset="-120"/>
              </a:rPr>
              <a:t>IMPLEMENTATION</a:t>
            </a:r>
            <a:endParaRPr lang="en-US" sz="850" dirty="0"/>
          </a:p>
        </p:txBody>
      </p:sp>
      <p:sp>
        <p:nvSpPr>
          <p:cNvPr id="4" name="Text 2"/>
          <p:cNvSpPr/>
          <p:nvPr/>
        </p:nvSpPr>
        <p:spPr>
          <a:xfrm>
            <a:off x="496119" y="782538"/>
            <a:ext cx="8151763"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Step-by-Step Implementation</a:t>
            </a:r>
            <a:endParaRPr lang="en-US" sz="2750" dirty="0"/>
          </a:p>
        </p:txBody>
      </p:sp>
      <p:sp>
        <p:nvSpPr>
          <p:cNvPr id="5" name="Text 3"/>
          <p:cNvSpPr/>
          <p:nvPr/>
        </p:nvSpPr>
        <p:spPr>
          <a:xfrm>
            <a:off x="496119" y="1438126"/>
            <a:ext cx="283518" cy="177180"/>
          </a:xfrm>
          <a:prstGeom prst="rect">
            <a:avLst/>
          </a:prstGeom>
          <a:noFill/>
          <a:ln/>
        </p:spPr>
        <p:txBody>
          <a:bodyPr wrap="none" lIns="0" tIns="0" rIns="0" bIns="0" rtlCol="0" anchor="ctr"/>
          <a:lstStyle/>
          <a:p>
            <a:pPr algn="l" indent="0" marL="0">
              <a:lnSpc>
                <a:spcPct val="100000"/>
              </a:lnSpc>
              <a:buNone/>
            </a:pPr>
            <a:r>
              <a:rPr lang="en-US" sz="1100" dirty="0">
                <a:solidFill>
                  <a:srgbClr val="272525"/>
                </a:solidFill>
                <a:latin typeface="Inter Light" pitchFamily="34" charset="0"/>
                <a:ea typeface="Inter Light" pitchFamily="34" charset="-122"/>
                <a:cs typeface="Inter Light" pitchFamily="34" charset="-120"/>
              </a:rPr>
              <a:t>01</a:t>
            </a:r>
            <a:endParaRPr lang="en-US" sz="1100" dirty="0"/>
          </a:p>
        </p:txBody>
      </p:sp>
      <p:sp>
        <p:nvSpPr>
          <p:cNvPr id="6" name="Shape 4"/>
          <p:cNvSpPr/>
          <p:nvPr/>
        </p:nvSpPr>
        <p:spPr>
          <a:xfrm>
            <a:off x="496119" y="1660029"/>
            <a:ext cx="4004965" cy="19050"/>
          </a:xfrm>
          <a:prstGeom prst="rect">
            <a:avLst/>
          </a:prstGeom>
          <a:solidFill>
            <a:srgbClr val="4950BC"/>
          </a:solidFill>
          <a:ln/>
        </p:spPr>
      </p:sp>
      <p:sp>
        <p:nvSpPr>
          <p:cNvPr id="7" name="Text 5"/>
          <p:cNvSpPr/>
          <p:nvPr/>
        </p:nvSpPr>
        <p:spPr>
          <a:xfrm>
            <a:off x="496119" y="1768971"/>
            <a:ext cx="4004965"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Create Lambda Function</a:t>
            </a:r>
            <a:endParaRPr lang="en-US" sz="1350" dirty="0"/>
          </a:p>
        </p:txBody>
      </p:sp>
      <p:sp>
        <p:nvSpPr>
          <p:cNvPr id="8" name="Text 6"/>
          <p:cNvSpPr/>
          <p:nvPr/>
        </p:nvSpPr>
        <p:spPr>
          <a:xfrm>
            <a:off x="496119" y="2075483"/>
            <a:ext cx="4004965"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myFirstLambdaFunction · Node.js runtime</a:t>
            </a:r>
            <a:endParaRPr lang="en-US" sz="1100" dirty="0"/>
          </a:p>
        </p:txBody>
      </p:sp>
      <p:sp>
        <p:nvSpPr>
          <p:cNvPr id="9" name="Text 7"/>
          <p:cNvSpPr/>
          <p:nvPr/>
        </p:nvSpPr>
        <p:spPr>
          <a:xfrm>
            <a:off x="4642842" y="1438126"/>
            <a:ext cx="283518" cy="177180"/>
          </a:xfrm>
          <a:prstGeom prst="rect">
            <a:avLst/>
          </a:prstGeom>
          <a:noFill/>
          <a:ln/>
        </p:spPr>
        <p:txBody>
          <a:bodyPr wrap="none" lIns="0" tIns="0" rIns="0" bIns="0" rtlCol="0" anchor="ctr"/>
          <a:lstStyle/>
          <a:p>
            <a:pPr algn="l" indent="0" marL="0">
              <a:lnSpc>
                <a:spcPct val="100000"/>
              </a:lnSpc>
              <a:buNone/>
            </a:pPr>
            <a:r>
              <a:rPr lang="en-US" sz="1100" dirty="0">
                <a:solidFill>
                  <a:srgbClr val="272525"/>
                </a:solidFill>
                <a:latin typeface="Inter Light" pitchFamily="34" charset="0"/>
                <a:ea typeface="Inter Light" pitchFamily="34" charset="-122"/>
                <a:cs typeface="Inter Light" pitchFamily="34" charset="-120"/>
              </a:rPr>
              <a:t>02</a:t>
            </a:r>
            <a:endParaRPr lang="en-US" sz="1100" dirty="0"/>
          </a:p>
        </p:txBody>
      </p:sp>
      <p:sp>
        <p:nvSpPr>
          <p:cNvPr id="10" name="Shape 8"/>
          <p:cNvSpPr/>
          <p:nvPr/>
        </p:nvSpPr>
        <p:spPr>
          <a:xfrm>
            <a:off x="4642842" y="1660029"/>
            <a:ext cx="4005039" cy="19050"/>
          </a:xfrm>
          <a:prstGeom prst="rect">
            <a:avLst/>
          </a:prstGeom>
          <a:solidFill>
            <a:srgbClr val="4950BC"/>
          </a:solidFill>
          <a:ln/>
        </p:spPr>
      </p:sp>
      <p:sp>
        <p:nvSpPr>
          <p:cNvPr id="11" name="Text 9"/>
          <p:cNvSpPr/>
          <p:nvPr/>
        </p:nvSpPr>
        <p:spPr>
          <a:xfrm>
            <a:off x="4642842" y="1768971"/>
            <a:ext cx="4005039"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Add HTML in index.mjs</a:t>
            </a:r>
            <a:endParaRPr lang="en-US" sz="1350" dirty="0"/>
          </a:p>
        </p:txBody>
      </p:sp>
      <p:sp>
        <p:nvSpPr>
          <p:cNvPr id="12" name="Text 10"/>
          <p:cNvSpPr/>
          <p:nvPr/>
        </p:nvSpPr>
        <p:spPr>
          <a:xfrm>
            <a:off x="4642842" y="2075483"/>
            <a:ext cx="4005039"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Embed static HTML in handler code</a:t>
            </a:r>
            <a:endParaRPr lang="en-US" sz="1100" dirty="0"/>
          </a:p>
        </p:txBody>
      </p:sp>
      <p:sp>
        <p:nvSpPr>
          <p:cNvPr id="13" name="Text 11"/>
          <p:cNvSpPr/>
          <p:nvPr/>
        </p:nvSpPr>
        <p:spPr>
          <a:xfrm>
            <a:off x="496119" y="2550319"/>
            <a:ext cx="283518" cy="177180"/>
          </a:xfrm>
          <a:prstGeom prst="rect">
            <a:avLst/>
          </a:prstGeom>
          <a:noFill/>
          <a:ln/>
        </p:spPr>
        <p:txBody>
          <a:bodyPr wrap="none" lIns="0" tIns="0" rIns="0" bIns="0" rtlCol="0" anchor="ctr"/>
          <a:lstStyle/>
          <a:p>
            <a:pPr algn="l" indent="0" marL="0">
              <a:lnSpc>
                <a:spcPct val="100000"/>
              </a:lnSpc>
              <a:buNone/>
            </a:pPr>
            <a:r>
              <a:rPr lang="en-US" sz="1100" dirty="0">
                <a:solidFill>
                  <a:srgbClr val="272525"/>
                </a:solidFill>
                <a:latin typeface="Inter Light" pitchFamily="34" charset="0"/>
                <a:ea typeface="Inter Light" pitchFamily="34" charset="-122"/>
                <a:cs typeface="Inter Light" pitchFamily="34" charset="-120"/>
              </a:rPr>
              <a:t>03</a:t>
            </a:r>
            <a:endParaRPr lang="en-US" sz="1100" dirty="0"/>
          </a:p>
        </p:txBody>
      </p:sp>
      <p:sp>
        <p:nvSpPr>
          <p:cNvPr id="14" name="Shape 12"/>
          <p:cNvSpPr/>
          <p:nvPr/>
        </p:nvSpPr>
        <p:spPr>
          <a:xfrm>
            <a:off x="496119" y="2772221"/>
            <a:ext cx="4004965" cy="19050"/>
          </a:xfrm>
          <a:prstGeom prst="rect">
            <a:avLst/>
          </a:prstGeom>
          <a:solidFill>
            <a:srgbClr val="4950BC"/>
          </a:solidFill>
          <a:ln/>
        </p:spPr>
      </p:sp>
      <p:sp>
        <p:nvSpPr>
          <p:cNvPr id="15" name="Text 13"/>
          <p:cNvSpPr/>
          <p:nvPr/>
        </p:nvSpPr>
        <p:spPr>
          <a:xfrm>
            <a:off x="496119" y="2881164"/>
            <a:ext cx="4004965"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Deploy &amp; Test</a:t>
            </a:r>
            <a:endParaRPr lang="en-US" sz="1350" dirty="0"/>
          </a:p>
        </p:txBody>
      </p:sp>
      <p:sp>
        <p:nvSpPr>
          <p:cNvPr id="16" name="Text 14"/>
          <p:cNvSpPr/>
          <p:nvPr/>
        </p:nvSpPr>
        <p:spPr>
          <a:xfrm>
            <a:off x="496119" y="3187675"/>
            <a:ext cx="4004965"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Deploy function · Create test event · Execute successfully</a:t>
            </a:r>
            <a:endParaRPr lang="en-US" sz="1100" dirty="0"/>
          </a:p>
        </p:txBody>
      </p:sp>
      <p:sp>
        <p:nvSpPr>
          <p:cNvPr id="17" name="Text 15"/>
          <p:cNvSpPr/>
          <p:nvPr/>
        </p:nvSpPr>
        <p:spPr>
          <a:xfrm>
            <a:off x="4642842" y="2550319"/>
            <a:ext cx="283518" cy="177180"/>
          </a:xfrm>
          <a:prstGeom prst="rect">
            <a:avLst/>
          </a:prstGeom>
          <a:noFill/>
          <a:ln/>
        </p:spPr>
        <p:txBody>
          <a:bodyPr wrap="none" lIns="0" tIns="0" rIns="0" bIns="0" rtlCol="0" anchor="ctr"/>
          <a:lstStyle/>
          <a:p>
            <a:pPr algn="l" indent="0" marL="0">
              <a:lnSpc>
                <a:spcPct val="100000"/>
              </a:lnSpc>
              <a:buNone/>
            </a:pPr>
            <a:r>
              <a:rPr lang="en-US" sz="1100" dirty="0">
                <a:solidFill>
                  <a:srgbClr val="272525"/>
                </a:solidFill>
                <a:latin typeface="Inter Light" pitchFamily="34" charset="0"/>
                <a:ea typeface="Inter Light" pitchFamily="34" charset="-122"/>
                <a:cs typeface="Inter Light" pitchFamily="34" charset="-120"/>
              </a:rPr>
              <a:t>04</a:t>
            </a:r>
            <a:endParaRPr lang="en-US" sz="1100" dirty="0"/>
          </a:p>
        </p:txBody>
      </p:sp>
      <p:sp>
        <p:nvSpPr>
          <p:cNvPr id="18" name="Shape 16"/>
          <p:cNvSpPr/>
          <p:nvPr/>
        </p:nvSpPr>
        <p:spPr>
          <a:xfrm>
            <a:off x="4642842" y="2772221"/>
            <a:ext cx="4005039" cy="19050"/>
          </a:xfrm>
          <a:prstGeom prst="rect">
            <a:avLst/>
          </a:prstGeom>
          <a:solidFill>
            <a:srgbClr val="4950BC"/>
          </a:solidFill>
          <a:ln/>
        </p:spPr>
      </p:sp>
      <p:sp>
        <p:nvSpPr>
          <p:cNvPr id="19" name="Text 17"/>
          <p:cNvSpPr/>
          <p:nvPr/>
        </p:nvSpPr>
        <p:spPr>
          <a:xfrm>
            <a:off x="4642842" y="2881164"/>
            <a:ext cx="4005039"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Verify Monitoring</a:t>
            </a:r>
            <a:endParaRPr lang="en-US" sz="1350" dirty="0"/>
          </a:p>
        </p:txBody>
      </p:sp>
      <p:sp>
        <p:nvSpPr>
          <p:cNvPr id="20" name="Text 18"/>
          <p:cNvSpPr/>
          <p:nvPr/>
        </p:nvSpPr>
        <p:spPr>
          <a:xfrm>
            <a:off x="4642842" y="3187675"/>
            <a:ext cx="4005039"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Check CloudWatch logs · Confirm CloudTrail events</a:t>
            </a:r>
            <a:endParaRPr lang="en-US" sz="1100" dirty="0"/>
          </a:p>
        </p:txBody>
      </p:sp>
      <p:sp>
        <p:nvSpPr>
          <p:cNvPr id="21" name="Text 19"/>
          <p:cNvSpPr/>
          <p:nvPr/>
        </p:nvSpPr>
        <p:spPr>
          <a:xfrm>
            <a:off x="496119" y="3662511"/>
            <a:ext cx="283518" cy="177180"/>
          </a:xfrm>
          <a:prstGeom prst="rect">
            <a:avLst/>
          </a:prstGeom>
          <a:noFill/>
          <a:ln/>
        </p:spPr>
        <p:txBody>
          <a:bodyPr wrap="none" lIns="0" tIns="0" rIns="0" bIns="0" rtlCol="0" anchor="ctr"/>
          <a:lstStyle/>
          <a:p>
            <a:pPr algn="l" indent="0" marL="0">
              <a:lnSpc>
                <a:spcPct val="100000"/>
              </a:lnSpc>
              <a:buNone/>
            </a:pPr>
            <a:r>
              <a:rPr lang="en-US" sz="1100" dirty="0">
                <a:solidFill>
                  <a:srgbClr val="272525"/>
                </a:solidFill>
                <a:latin typeface="Inter Light" pitchFamily="34" charset="0"/>
                <a:ea typeface="Inter Light" pitchFamily="34" charset="-122"/>
                <a:cs typeface="Inter Light" pitchFamily="34" charset="-120"/>
              </a:rPr>
              <a:t>05</a:t>
            </a:r>
            <a:endParaRPr lang="en-US" sz="1100" dirty="0"/>
          </a:p>
        </p:txBody>
      </p:sp>
      <p:sp>
        <p:nvSpPr>
          <p:cNvPr id="22" name="Shape 20"/>
          <p:cNvSpPr/>
          <p:nvPr/>
        </p:nvSpPr>
        <p:spPr>
          <a:xfrm>
            <a:off x="496119" y="3884414"/>
            <a:ext cx="4004965" cy="19050"/>
          </a:xfrm>
          <a:prstGeom prst="rect">
            <a:avLst/>
          </a:prstGeom>
          <a:solidFill>
            <a:srgbClr val="4950BC"/>
          </a:solidFill>
          <a:ln/>
        </p:spPr>
      </p:sp>
      <p:sp>
        <p:nvSpPr>
          <p:cNvPr id="23" name="Text 21"/>
          <p:cNvSpPr/>
          <p:nvPr/>
        </p:nvSpPr>
        <p:spPr>
          <a:xfrm>
            <a:off x="496119" y="3993356"/>
            <a:ext cx="4004965"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Add API Gateway Trigger</a:t>
            </a:r>
            <a:endParaRPr lang="en-US" sz="1350" dirty="0"/>
          </a:p>
        </p:txBody>
      </p:sp>
      <p:sp>
        <p:nvSpPr>
          <p:cNvPr id="24" name="Text 22"/>
          <p:cNvSpPr/>
          <p:nvPr/>
        </p:nvSpPr>
        <p:spPr>
          <a:xfrm>
            <a:off x="496119" y="4299868"/>
            <a:ext cx="4004965"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Configure trigger · Generate Invoke URL</a:t>
            </a:r>
            <a:endParaRPr lang="en-US" sz="1100" dirty="0"/>
          </a:p>
        </p:txBody>
      </p:sp>
      <p:sp>
        <p:nvSpPr>
          <p:cNvPr id="25" name="Text 23"/>
          <p:cNvSpPr/>
          <p:nvPr/>
        </p:nvSpPr>
        <p:spPr>
          <a:xfrm>
            <a:off x="4642842" y="3662511"/>
            <a:ext cx="283518" cy="177180"/>
          </a:xfrm>
          <a:prstGeom prst="rect">
            <a:avLst/>
          </a:prstGeom>
          <a:noFill/>
          <a:ln/>
        </p:spPr>
        <p:txBody>
          <a:bodyPr wrap="none" lIns="0" tIns="0" rIns="0" bIns="0" rtlCol="0" anchor="ctr"/>
          <a:lstStyle/>
          <a:p>
            <a:pPr algn="l" indent="0" marL="0">
              <a:lnSpc>
                <a:spcPct val="100000"/>
              </a:lnSpc>
              <a:buNone/>
            </a:pPr>
            <a:r>
              <a:rPr lang="en-US" sz="1100" dirty="0">
                <a:solidFill>
                  <a:srgbClr val="272525"/>
                </a:solidFill>
                <a:latin typeface="Inter Light" pitchFamily="34" charset="0"/>
                <a:ea typeface="Inter Light" pitchFamily="34" charset="-122"/>
                <a:cs typeface="Inter Light" pitchFamily="34" charset="-120"/>
              </a:rPr>
              <a:t>06</a:t>
            </a:r>
            <a:endParaRPr lang="en-US" sz="1100" dirty="0"/>
          </a:p>
        </p:txBody>
      </p:sp>
      <p:sp>
        <p:nvSpPr>
          <p:cNvPr id="26" name="Shape 24"/>
          <p:cNvSpPr/>
          <p:nvPr/>
        </p:nvSpPr>
        <p:spPr>
          <a:xfrm>
            <a:off x="4642842" y="3884414"/>
            <a:ext cx="4005039" cy="19050"/>
          </a:xfrm>
          <a:prstGeom prst="rect">
            <a:avLst/>
          </a:prstGeom>
          <a:solidFill>
            <a:srgbClr val="4950BC"/>
          </a:solidFill>
          <a:ln/>
        </p:spPr>
      </p:sp>
      <p:sp>
        <p:nvSpPr>
          <p:cNvPr id="27" name="Text 25"/>
          <p:cNvSpPr/>
          <p:nvPr/>
        </p:nvSpPr>
        <p:spPr>
          <a:xfrm>
            <a:off x="4642842" y="3993356"/>
            <a:ext cx="4005039" cy="221456"/>
          </a:xfrm>
          <a:prstGeom prst="rect">
            <a:avLst/>
          </a:prstGeom>
          <a:noFill/>
          <a:ln/>
        </p:spPr>
        <p:txBody>
          <a:bodyPr wrap="none" lIns="0" tIns="0" rIns="0" bIns="0" rtlCol="0" anchor="t"/>
          <a:lstStyle/>
          <a:p>
            <a:pPr algn="l" indent="0" marL="0">
              <a:lnSpc>
                <a:spcPct val="104000"/>
              </a:lnSpc>
              <a:buNone/>
            </a:pPr>
            <a:r>
              <a:rPr lang="en-US" sz="1350" b="1" dirty="0">
                <a:solidFill>
                  <a:srgbClr val="272525"/>
                </a:solidFill>
                <a:latin typeface="Inter Bold" pitchFamily="34" charset="0"/>
                <a:ea typeface="Inter Bold" pitchFamily="34" charset="-122"/>
                <a:cs typeface="Inter Bold" pitchFamily="34" charset="-120"/>
              </a:rPr>
              <a:t>Launch in Browser</a:t>
            </a:r>
            <a:endParaRPr lang="en-US" sz="1350" dirty="0"/>
          </a:p>
        </p:txBody>
      </p:sp>
      <p:sp>
        <p:nvSpPr>
          <p:cNvPr id="28" name="Text 26"/>
          <p:cNvSpPr/>
          <p:nvPr/>
        </p:nvSpPr>
        <p:spPr>
          <a:xfrm>
            <a:off x="4642842" y="4299868"/>
            <a:ext cx="4005039"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Open URL · Static HTML page displayed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399231"/>
            <a:ext cx="636091" cy="205234"/>
          </a:xfrm>
          <a:prstGeom prst="roundRect">
            <a:avLst>
              <a:gd name="adj" fmla="val 22122"/>
            </a:avLst>
          </a:prstGeom>
          <a:solidFill>
            <a:srgbClr val="DADBF1"/>
          </a:solidFill>
          <a:ln/>
        </p:spPr>
      </p:sp>
      <p:sp>
        <p:nvSpPr>
          <p:cNvPr id="3" name="Text 1"/>
          <p:cNvSpPr/>
          <p:nvPr/>
        </p:nvSpPr>
        <p:spPr>
          <a:xfrm>
            <a:off x="577155" y="439713"/>
            <a:ext cx="931218" cy="124271"/>
          </a:xfrm>
          <a:prstGeom prst="rect">
            <a:avLst/>
          </a:prstGeom>
          <a:noFill/>
          <a:ln/>
        </p:spPr>
        <p:txBody>
          <a:bodyPr wrap="none" lIns="0" tIns="0" rIns="0" bIns="0" rtlCol="0" anchor="t"/>
          <a:lstStyle/>
          <a:p>
            <a:pPr algn="l" indent="0" marL="0">
              <a:lnSpc>
                <a:spcPct val="96000"/>
              </a:lnSpc>
              <a:buNone/>
            </a:pPr>
            <a:r>
              <a:rPr lang="en-US" sz="850" dirty="0">
                <a:solidFill>
                  <a:srgbClr val="272525"/>
                </a:solidFill>
                <a:latin typeface="Inter" pitchFamily="34" charset="0"/>
                <a:ea typeface="Inter" pitchFamily="34" charset="-122"/>
                <a:cs typeface="Inter" pitchFamily="34" charset="-120"/>
              </a:rPr>
              <a:t>RESULTS</a:t>
            </a:r>
            <a:endParaRPr lang="en-US" sz="850" dirty="0"/>
          </a:p>
        </p:txBody>
      </p:sp>
      <p:sp>
        <p:nvSpPr>
          <p:cNvPr id="4" name="Text 2"/>
          <p:cNvSpPr/>
          <p:nvPr/>
        </p:nvSpPr>
        <p:spPr>
          <a:xfrm>
            <a:off x="496119" y="655960"/>
            <a:ext cx="8151763" cy="422300"/>
          </a:xfrm>
          <a:prstGeom prst="rect">
            <a:avLst/>
          </a:prstGeom>
          <a:noFill/>
          <a:ln/>
        </p:spPr>
        <p:txBody>
          <a:bodyPr wrap="none" lIns="0" tIns="0" rIns="0" bIns="0" rtlCol="0" anchor="t"/>
          <a:lstStyle/>
          <a:p>
            <a:pPr algn="l" indent="0" marL="0">
              <a:lnSpc>
                <a:spcPct val="104000"/>
              </a:lnSpc>
              <a:buNone/>
            </a:pPr>
            <a:r>
              <a:rPr lang="en-US" sz="2650" b="1" dirty="0">
                <a:solidFill>
                  <a:srgbClr val="000000"/>
                </a:solidFill>
                <a:latin typeface="Inter Bold" pitchFamily="34" charset="0"/>
                <a:ea typeface="Inter Bold" pitchFamily="34" charset="-122"/>
                <a:cs typeface="Inter Bold" pitchFamily="34" charset="-120"/>
              </a:rPr>
              <a:t>Results &amp; Monitoring Verification</a:t>
            </a:r>
            <a:endParaRPr lang="en-US" sz="2650" dirty="0"/>
          </a:p>
        </p:txBody>
      </p:sp>
      <p:pic>
        <p:nvPicPr>
          <p:cNvPr id="5" name="Image 0" descr="preencoded.png">    </p:cNvPr>
          <p:cNvPicPr>
            <a:picLocks noChangeAspect="1"/>
          </p:cNvPicPr>
          <p:nvPr/>
        </p:nvPicPr>
        <p:blipFill>
          <a:blip r:embed="rId1"/>
          <a:stretch>
            <a:fillRect/>
          </a:stretch>
        </p:blipFill>
        <p:spPr>
          <a:xfrm>
            <a:off x="496119" y="1539255"/>
            <a:ext cx="5183237" cy="2937123"/>
          </a:xfrm>
          <a:prstGeom prst="rect">
            <a:avLst/>
          </a:prstGeom>
        </p:spPr>
      </p:pic>
      <p:sp>
        <p:nvSpPr>
          <p:cNvPr id="6" name="Text 3"/>
          <p:cNvSpPr/>
          <p:nvPr/>
        </p:nvSpPr>
        <p:spPr>
          <a:xfrm>
            <a:off x="6013772" y="1400175"/>
            <a:ext cx="2638797" cy="211113"/>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00" b="1" dirty="0">
                <a:solidFill>
                  <a:srgbClr val="000000"/>
                </a:solidFill>
                <a:latin typeface="Inter Bold" pitchFamily="34" charset="0"/>
                <a:ea typeface="Inter Bold" pitchFamily="34" charset="-122"/>
                <a:cs typeface="Inter Bold" pitchFamily="34" charset="-120"/>
              </a:rPr>
              <a:t> Lambda Execution</a:t>
            </a:r>
            <a:endParaRPr lang="en-US" sz="1300" dirty="0"/>
          </a:p>
        </p:txBody>
      </p:sp>
      <p:sp>
        <p:nvSpPr>
          <p:cNvPr id="7" name="Text 4"/>
          <p:cNvSpPr/>
          <p:nvPr/>
        </p:nvSpPr>
        <p:spPr>
          <a:xfrm>
            <a:off x="6013772" y="1740024"/>
            <a:ext cx="2638797" cy="426988"/>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72525"/>
                </a:solidFill>
                <a:latin typeface="Inter" pitchFamily="34" charset="0"/>
                <a:ea typeface="Inter" pitchFamily="34" charset="-122"/>
                <a:cs typeface="Inter" pitchFamily="34" charset="-120"/>
              </a:rPr>
              <a:t>Function returned </a:t>
            </a:r>
            <a:pPr algn="l" indent="0" marL="0">
              <a:lnSpc>
                <a:spcPct val="13000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200 OK</a:t>
            </a:r>
            <a:pPr algn="l" indent="0" marL="0">
              <a:lnSpc>
                <a:spcPct val="130000"/>
              </a:lnSpc>
              <a:buNone/>
            </a:pPr>
            <a:r>
              <a:rPr lang="en-US" sz="1050" dirty="0">
                <a:solidFill>
                  <a:srgbClr val="272525"/>
                </a:solidFill>
                <a:latin typeface="Inter" pitchFamily="34" charset="0"/>
                <a:ea typeface="Inter" pitchFamily="34" charset="-122"/>
                <a:cs typeface="Inter" pitchFamily="34" charset="-120"/>
              </a:rPr>
              <a:t> with HTML body</a:t>
            </a:r>
            <a:endParaRPr lang="en-US" sz="1050" dirty="0"/>
          </a:p>
        </p:txBody>
      </p:sp>
      <p:sp>
        <p:nvSpPr>
          <p:cNvPr id="8" name="Text 5"/>
          <p:cNvSpPr/>
          <p:nvPr/>
        </p:nvSpPr>
        <p:spPr>
          <a:xfrm>
            <a:off x="6013772" y="2295748"/>
            <a:ext cx="2638797" cy="211113"/>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00" b="1" dirty="0">
                <a:solidFill>
                  <a:srgbClr val="000000"/>
                </a:solidFill>
                <a:latin typeface="Inter Bold" pitchFamily="34" charset="0"/>
                <a:ea typeface="Inter Bold" pitchFamily="34" charset="-122"/>
                <a:cs typeface="Inter Bold" pitchFamily="34" charset="-120"/>
              </a:rPr>
              <a:t> CloudWatch Logs</a:t>
            </a:r>
            <a:endParaRPr lang="en-US" sz="1300" dirty="0"/>
          </a:p>
        </p:txBody>
      </p:sp>
      <p:sp>
        <p:nvSpPr>
          <p:cNvPr id="9" name="Text 6"/>
          <p:cNvSpPr/>
          <p:nvPr/>
        </p:nvSpPr>
        <p:spPr>
          <a:xfrm>
            <a:off x="6013772" y="2635597"/>
            <a:ext cx="2638797"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72525"/>
                </a:solidFill>
                <a:latin typeface="Inter" pitchFamily="34" charset="0"/>
                <a:ea typeface="Inter" pitchFamily="34" charset="-122"/>
                <a:cs typeface="Inter" pitchFamily="34" charset="-120"/>
              </a:rPr>
              <a:t>Execution timestamps, output, and metrics captured</a:t>
            </a:r>
            <a:endParaRPr lang="en-US" sz="1050" dirty="0"/>
          </a:p>
        </p:txBody>
      </p:sp>
      <p:sp>
        <p:nvSpPr>
          <p:cNvPr id="10" name="Text 7"/>
          <p:cNvSpPr/>
          <p:nvPr/>
        </p:nvSpPr>
        <p:spPr>
          <a:xfrm>
            <a:off x="6013772" y="3186559"/>
            <a:ext cx="2638797" cy="211113"/>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00" b="1" dirty="0">
                <a:solidFill>
                  <a:srgbClr val="000000"/>
                </a:solidFill>
                <a:latin typeface="Inter Bold" pitchFamily="34" charset="0"/>
                <a:ea typeface="Inter Bold" pitchFamily="34" charset="-122"/>
                <a:cs typeface="Inter Bold" pitchFamily="34" charset="-120"/>
              </a:rPr>
              <a:t> CloudTrail Events</a:t>
            </a:r>
            <a:endParaRPr lang="en-US" sz="1300" dirty="0"/>
          </a:p>
        </p:txBody>
      </p:sp>
      <p:sp>
        <p:nvSpPr>
          <p:cNvPr id="11" name="Text 8"/>
          <p:cNvSpPr/>
          <p:nvPr/>
        </p:nvSpPr>
        <p:spPr>
          <a:xfrm>
            <a:off x="6013772" y="3526408"/>
            <a:ext cx="3095997" cy="211113"/>
          </a:xfrm>
          <a:prstGeom prst="rect">
            <a:avLst/>
          </a:prstGeom>
          <a:noFill/>
          <a:ln/>
        </p:spPr>
        <p:txBody>
          <a:bodyPr wrap="none" lIns="0" tIns="0" rIns="0" bIns="0" rtlCol="0" anchor="t"/>
          <a:lstStyle/>
          <a:p>
            <a:pPr algn="l" indent="0" marL="0">
              <a:lnSpc>
                <a:spcPct val="130000"/>
              </a:lnSpc>
              <a:buNone/>
            </a:pPr>
            <a:r>
              <a:rPr lang="en-US" sz="1050" dirty="0">
                <a:solidFill>
                  <a:srgbClr val="272525"/>
                </a:solidFill>
                <a:latin typeface="Inter" pitchFamily="34" charset="0"/>
                <a:ea typeface="Inter" pitchFamily="34" charset="-122"/>
                <a:cs typeface="Inter" pitchFamily="34" charset="-120"/>
              </a:rPr>
              <a:t>All API calls logged and auditable</a:t>
            </a:r>
            <a:endParaRPr lang="en-US" sz="1050" dirty="0"/>
          </a:p>
        </p:txBody>
      </p:sp>
      <p:sp>
        <p:nvSpPr>
          <p:cNvPr id="12" name="Text 9"/>
          <p:cNvSpPr/>
          <p:nvPr/>
        </p:nvSpPr>
        <p:spPr>
          <a:xfrm>
            <a:off x="6013772" y="3866257"/>
            <a:ext cx="2638797" cy="211113"/>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00" b="1" dirty="0">
                <a:solidFill>
                  <a:srgbClr val="000000"/>
                </a:solidFill>
                <a:latin typeface="Inter Bold" pitchFamily="34" charset="0"/>
                <a:ea typeface="Inter Bold" pitchFamily="34" charset="-122"/>
                <a:cs typeface="Inter Bold" pitchFamily="34" charset="-120"/>
              </a:rPr>
              <a:t> Browser Output</a:t>
            </a:r>
            <a:endParaRPr lang="en-US" sz="1300" dirty="0"/>
          </a:p>
        </p:txBody>
      </p:sp>
      <p:sp>
        <p:nvSpPr>
          <p:cNvPr id="13" name="Text 10"/>
          <p:cNvSpPr/>
          <p:nvPr/>
        </p:nvSpPr>
        <p:spPr>
          <a:xfrm>
            <a:off x="6013772" y="4206106"/>
            <a:ext cx="2638797"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72525"/>
                </a:solidFill>
                <a:latin typeface="Inter" pitchFamily="34" charset="0"/>
                <a:ea typeface="Inter" pitchFamily="34" charset="-122"/>
                <a:cs typeface="Inter" pitchFamily="34" charset="-120"/>
              </a:rPr>
              <a:t>Invoke URL rendered static HTML page successfully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415007"/>
            <a:ext cx="858515" cy="198462"/>
          </a:xfrm>
          <a:prstGeom prst="roundRect">
            <a:avLst>
              <a:gd name="adj" fmla="val 22126"/>
            </a:avLst>
          </a:prstGeom>
          <a:solidFill>
            <a:srgbClr val="DADBF1"/>
          </a:solidFill>
          <a:ln/>
        </p:spPr>
      </p:sp>
      <p:sp>
        <p:nvSpPr>
          <p:cNvPr id="3" name="Text 1"/>
          <p:cNvSpPr/>
          <p:nvPr/>
        </p:nvSpPr>
        <p:spPr>
          <a:xfrm>
            <a:off x="574477" y="454149"/>
            <a:ext cx="1158999" cy="120179"/>
          </a:xfrm>
          <a:prstGeom prst="rect">
            <a:avLst/>
          </a:prstGeom>
          <a:noFill/>
          <a:ln/>
        </p:spPr>
        <p:txBody>
          <a:bodyPr wrap="none" lIns="0" tIns="0" rIns="0" bIns="0" rtlCol="0" anchor="t"/>
          <a:lstStyle/>
          <a:p>
            <a:pPr algn="l" indent="0" marL="0">
              <a:lnSpc>
                <a:spcPct val="96000"/>
              </a:lnSpc>
              <a:buNone/>
            </a:pPr>
            <a:r>
              <a:rPr lang="en-US" sz="800" dirty="0">
                <a:solidFill>
                  <a:srgbClr val="272525"/>
                </a:solidFill>
                <a:latin typeface="Inter" pitchFamily="34" charset="0"/>
                <a:ea typeface="Inter" pitchFamily="34" charset="-122"/>
                <a:cs typeface="Inter" pitchFamily="34" charset="-120"/>
              </a:rPr>
              <a:t>CONCLUSION</a:t>
            </a:r>
            <a:endParaRPr lang="en-US" sz="800" dirty="0"/>
          </a:p>
        </p:txBody>
      </p:sp>
      <p:sp>
        <p:nvSpPr>
          <p:cNvPr id="4" name="Text 2"/>
          <p:cNvSpPr/>
          <p:nvPr/>
        </p:nvSpPr>
        <p:spPr>
          <a:xfrm>
            <a:off x="496119" y="661615"/>
            <a:ext cx="8151763" cy="408384"/>
          </a:xfrm>
          <a:prstGeom prst="rect">
            <a:avLst/>
          </a:prstGeom>
          <a:noFill/>
          <a:ln/>
        </p:spPr>
        <p:txBody>
          <a:bodyPr wrap="none" lIns="0" tIns="0" rIns="0" bIns="0" rtlCol="0" anchor="t"/>
          <a:lstStyle/>
          <a:p>
            <a:pPr algn="l" indent="0" marL="0">
              <a:lnSpc>
                <a:spcPct val="104000"/>
              </a:lnSpc>
              <a:buNone/>
            </a:pPr>
            <a:r>
              <a:rPr lang="en-US" sz="2550" b="1" dirty="0">
                <a:solidFill>
                  <a:srgbClr val="000000"/>
                </a:solidFill>
                <a:latin typeface="Inter Bold" pitchFamily="34" charset="0"/>
                <a:ea typeface="Inter Bold" pitchFamily="34" charset="-122"/>
                <a:cs typeface="Inter Bold" pitchFamily="34" charset="-120"/>
              </a:rPr>
              <a:t>Advantages &amp; Key Takeaways</a:t>
            </a:r>
            <a:endParaRPr lang="en-US" sz="2550" dirty="0"/>
          </a:p>
        </p:txBody>
      </p:sp>
      <p:sp>
        <p:nvSpPr>
          <p:cNvPr id="5" name="Shape 3"/>
          <p:cNvSpPr/>
          <p:nvPr/>
        </p:nvSpPr>
        <p:spPr>
          <a:xfrm>
            <a:off x="496119" y="1250677"/>
            <a:ext cx="4015606" cy="1260574"/>
          </a:xfrm>
          <a:prstGeom prst="roundRect">
            <a:avLst>
              <a:gd name="adj" fmla="val 4354"/>
            </a:avLst>
          </a:prstGeom>
          <a:solidFill>
            <a:srgbClr val="DADBF1"/>
          </a:solidFill>
          <a:ln w="4763">
            <a:solidFill>
              <a:srgbClr val="C0C1D7"/>
            </a:solidFill>
            <a:prstDash val="solid"/>
          </a:ln>
        </p:spPr>
      </p:sp>
      <p:sp>
        <p:nvSpPr>
          <p:cNvPr id="6" name="Shape 4"/>
          <p:cNvSpPr/>
          <p:nvPr/>
        </p:nvSpPr>
        <p:spPr>
          <a:xfrm>
            <a:off x="631552" y="1386111"/>
            <a:ext cx="392013" cy="392013"/>
          </a:xfrm>
          <a:prstGeom prst="ellipse">
            <a:avLst/>
          </a:prstGeom>
          <a:solidFill>
            <a:srgbClr val="4950BC"/>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9378" y="1493862"/>
            <a:ext cx="176361" cy="176361"/>
          </a:xfrm>
          <a:prstGeom prst="rect">
            <a:avLst/>
          </a:prstGeom>
        </p:spPr>
      </p:pic>
      <p:sp>
        <p:nvSpPr>
          <p:cNvPr id="8" name="Text 5"/>
          <p:cNvSpPr/>
          <p:nvPr/>
        </p:nvSpPr>
        <p:spPr>
          <a:xfrm>
            <a:off x="631552" y="1898600"/>
            <a:ext cx="3744739" cy="204118"/>
          </a:xfrm>
          <a:prstGeom prst="rect">
            <a:avLst/>
          </a:prstGeom>
          <a:noFill/>
          <a:ln/>
        </p:spPr>
        <p:txBody>
          <a:bodyPr wrap="none" lIns="0" tIns="0" rIns="0" bIns="0" rtlCol="0" anchor="t"/>
          <a:lstStyle/>
          <a:p>
            <a:pPr algn="l"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Serverless</a:t>
            </a:r>
            <a:endParaRPr lang="en-US" sz="1250" dirty="0"/>
          </a:p>
        </p:txBody>
      </p:sp>
      <p:sp>
        <p:nvSpPr>
          <p:cNvPr id="9" name="Text 6"/>
          <p:cNvSpPr/>
          <p:nvPr/>
        </p:nvSpPr>
        <p:spPr>
          <a:xfrm>
            <a:off x="631552" y="2174974"/>
            <a:ext cx="3744739" cy="200844"/>
          </a:xfrm>
          <a:prstGeom prst="rect">
            <a:avLst/>
          </a:prstGeom>
          <a:noFill/>
          <a:ln/>
        </p:spPr>
        <p:txBody>
          <a:bodyPr wrap="none" lIns="0" tIns="0" rIns="0" bIns="0" rtlCol="0" anchor="t"/>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No server provisioning or management</a:t>
            </a:r>
            <a:endParaRPr lang="en-US" sz="1000" dirty="0"/>
          </a:p>
        </p:txBody>
      </p:sp>
      <p:sp>
        <p:nvSpPr>
          <p:cNvPr id="10" name="Shape 7"/>
          <p:cNvSpPr/>
          <p:nvPr/>
        </p:nvSpPr>
        <p:spPr>
          <a:xfrm>
            <a:off x="4632201" y="1250677"/>
            <a:ext cx="4015680" cy="1260574"/>
          </a:xfrm>
          <a:prstGeom prst="roundRect">
            <a:avLst>
              <a:gd name="adj" fmla="val 4354"/>
            </a:avLst>
          </a:prstGeom>
          <a:solidFill>
            <a:srgbClr val="DADBF1"/>
          </a:solidFill>
          <a:ln w="4763">
            <a:solidFill>
              <a:srgbClr val="C0C1D7"/>
            </a:solidFill>
            <a:prstDash val="solid"/>
          </a:ln>
        </p:spPr>
      </p:sp>
      <p:sp>
        <p:nvSpPr>
          <p:cNvPr id="11" name="Shape 8"/>
          <p:cNvSpPr/>
          <p:nvPr/>
        </p:nvSpPr>
        <p:spPr>
          <a:xfrm>
            <a:off x="4767635" y="1386111"/>
            <a:ext cx="392013" cy="392013"/>
          </a:xfrm>
          <a:prstGeom prst="ellipse">
            <a:avLst/>
          </a:prstGeom>
          <a:solidFill>
            <a:srgbClr val="4950BC"/>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75461" y="1493862"/>
            <a:ext cx="176361" cy="176361"/>
          </a:xfrm>
          <a:prstGeom prst="rect">
            <a:avLst/>
          </a:prstGeom>
        </p:spPr>
      </p:pic>
      <p:sp>
        <p:nvSpPr>
          <p:cNvPr id="13" name="Text 9"/>
          <p:cNvSpPr/>
          <p:nvPr/>
        </p:nvSpPr>
        <p:spPr>
          <a:xfrm>
            <a:off x="4767635" y="1898600"/>
            <a:ext cx="3744813" cy="204118"/>
          </a:xfrm>
          <a:prstGeom prst="rect">
            <a:avLst/>
          </a:prstGeom>
          <a:noFill/>
          <a:ln/>
        </p:spPr>
        <p:txBody>
          <a:bodyPr wrap="none" lIns="0" tIns="0" rIns="0" bIns="0" rtlCol="0" anchor="t"/>
          <a:lstStyle/>
          <a:p>
            <a:pPr algn="l"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Cost-Effective</a:t>
            </a:r>
            <a:endParaRPr lang="en-US" sz="1250" dirty="0"/>
          </a:p>
        </p:txBody>
      </p:sp>
      <p:sp>
        <p:nvSpPr>
          <p:cNvPr id="14" name="Text 10"/>
          <p:cNvSpPr/>
          <p:nvPr/>
        </p:nvSpPr>
        <p:spPr>
          <a:xfrm>
            <a:off x="4767635" y="2174974"/>
            <a:ext cx="3744813" cy="200844"/>
          </a:xfrm>
          <a:prstGeom prst="rect">
            <a:avLst/>
          </a:prstGeom>
          <a:noFill/>
          <a:ln/>
        </p:spPr>
        <p:txBody>
          <a:bodyPr wrap="none" lIns="0" tIns="0" rIns="0" bIns="0" rtlCol="0" anchor="t"/>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Pay only per execution</a:t>
            </a:r>
            <a:endParaRPr lang="en-US" sz="1000" dirty="0"/>
          </a:p>
        </p:txBody>
      </p:sp>
      <p:sp>
        <p:nvSpPr>
          <p:cNvPr id="15" name="Shape 11"/>
          <p:cNvSpPr/>
          <p:nvPr/>
        </p:nvSpPr>
        <p:spPr>
          <a:xfrm>
            <a:off x="496119" y="2631728"/>
            <a:ext cx="4015606" cy="1260574"/>
          </a:xfrm>
          <a:prstGeom prst="roundRect">
            <a:avLst>
              <a:gd name="adj" fmla="val 4354"/>
            </a:avLst>
          </a:prstGeom>
          <a:solidFill>
            <a:srgbClr val="DADBF1"/>
          </a:solidFill>
          <a:ln w="4763">
            <a:solidFill>
              <a:srgbClr val="C0C1D7"/>
            </a:solidFill>
            <a:prstDash val="solid"/>
          </a:ln>
        </p:spPr>
      </p:sp>
      <p:sp>
        <p:nvSpPr>
          <p:cNvPr id="16" name="Shape 12"/>
          <p:cNvSpPr/>
          <p:nvPr/>
        </p:nvSpPr>
        <p:spPr>
          <a:xfrm>
            <a:off x="631552" y="2767161"/>
            <a:ext cx="392013" cy="392013"/>
          </a:xfrm>
          <a:prstGeom prst="ellipse">
            <a:avLst/>
          </a:prstGeom>
          <a:solidFill>
            <a:srgbClr val="4950BC"/>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9378" y="2874913"/>
            <a:ext cx="176361" cy="176361"/>
          </a:xfrm>
          <a:prstGeom prst="rect">
            <a:avLst/>
          </a:prstGeom>
        </p:spPr>
      </p:pic>
      <p:sp>
        <p:nvSpPr>
          <p:cNvPr id="18" name="Text 13"/>
          <p:cNvSpPr/>
          <p:nvPr/>
        </p:nvSpPr>
        <p:spPr>
          <a:xfrm>
            <a:off x="631552" y="3279651"/>
            <a:ext cx="3744739" cy="204118"/>
          </a:xfrm>
          <a:prstGeom prst="rect">
            <a:avLst/>
          </a:prstGeom>
          <a:noFill/>
          <a:ln/>
        </p:spPr>
        <p:txBody>
          <a:bodyPr wrap="none" lIns="0" tIns="0" rIns="0" bIns="0" rtlCol="0" anchor="t"/>
          <a:lstStyle/>
          <a:p>
            <a:pPr algn="l"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Auto Scaling</a:t>
            </a:r>
            <a:endParaRPr lang="en-US" sz="1250" dirty="0"/>
          </a:p>
        </p:txBody>
      </p:sp>
      <p:sp>
        <p:nvSpPr>
          <p:cNvPr id="19" name="Text 14"/>
          <p:cNvSpPr/>
          <p:nvPr/>
        </p:nvSpPr>
        <p:spPr>
          <a:xfrm>
            <a:off x="631552" y="3556025"/>
            <a:ext cx="3744739" cy="200844"/>
          </a:xfrm>
          <a:prstGeom prst="rect">
            <a:avLst/>
          </a:prstGeom>
          <a:noFill/>
          <a:ln/>
        </p:spPr>
        <p:txBody>
          <a:bodyPr wrap="none" lIns="0" tIns="0" rIns="0" bIns="0" rtlCol="0" anchor="t"/>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Handles traffic spikes automatically</a:t>
            </a:r>
            <a:endParaRPr lang="en-US" sz="1000" dirty="0"/>
          </a:p>
        </p:txBody>
      </p:sp>
      <p:sp>
        <p:nvSpPr>
          <p:cNvPr id="20" name="Shape 15"/>
          <p:cNvSpPr/>
          <p:nvPr/>
        </p:nvSpPr>
        <p:spPr>
          <a:xfrm>
            <a:off x="4632201" y="2631728"/>
            <a:ext cx="4015680" cy="1260574"/>
          </a:xfrm>
          <a:prstGeom prst="roundRect">
            <a:avLst>
              <a:gd name="adj" fmla="val 4354"/>
            </a:avLst>
          </a:prstGeom>
          <a:solidFill>
            <a:srgbClr val="DADBF1"/>
          </a:solidFill>
          <a:ln w="4763">
            <a:solidFill>
              <a:srgbClr val="C0C1D7"/>
            </a:solidFill>
            <a:prstDash val="solid"/>
          </a:ln>
        </p:spPr>
      </p:sp>
      <p:sp>
        <p:nvSpPr>
          <p:cNvPr id="21" name="Shape 16"/>
          <p:cNvSpPr/>
          <p:nvPr/>
        </p:nvSpPr>
        <p:spPr>
          <a:xfrm>
            <a:off x="4767635" y="2767161"/>
            <a:ext cx="392013" cy="392013"/>
          </a:xfrm>
          <a:prstGeom prst="ellipse">
            <a:avLst/>
          </a:prstGeom>
          <a:solidFill>
            <a:srgbClr val="4950BC"/>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75461" y="2874913"/>
            <a:ext cx="176361" cy="176361"/>
          </a:xfrm>
          <a:prstGeom prst="rect">
            <a:avLst/>
          </a:prstGeom>
        </p:spPr>
      </p:pic>
      <p:sp>
        <p:nvSpPr>
          <p:cNvPr id="23" name="Text 17"/>
          <p:cNvSpPr/>
          <p:nvPr/>
        </p:nvSpPr>
        <p:spPr>
          <a:xfrm>
            <a:off x="4767635" y="3279651"/>
            <a:ext cx="3744813" cy="204118"/>
          </a:xfrm>
          <a:prstGeom prst="rect">
            <a:avLst/>
          </a:prstGeom>
          <a:noFill/>
          <a:ln/>
        </p:spPr>
        <p:txBody>
          <a:bodyPr wrap="none" lIns="0" tIns="0" rIns="0" bIns="0" rtlCol="0" anchor="t"/>
          <a:lstStyle/>
          <a:p>
            <a:pPr algn="l" indent="0" marL="0">
              <a:lnSpc>
                <a:spcPct val="104000"/>
              </a:lnSpc>
              <a:buNone/>
            </a:pPr>
            <a:r>
              <a:rPr lang="en-US" sz="1250" b="1" dirty="0">
                <a:solidFill>
                  <a:srgbClr val="272525"/>
                </a:solidFill>
                <a:latin typeface="Inter Bold" pitchFamily="34" charset="0"/>
                <a:ea typeface="Inter Bold" pitchFamily="34" charset="-122"/>
                <a:cs typeface="Inter Bold" pitchFamily="34" charset="-120"/>
              </a:rPr>
              <a:t>Secure &amp; Compliant</a:t>
            </a:r>
            <a:endParaRPr lang="en-US" sz="1250" dirty="0"/>
          </a:p>
        </p:txBody>
      </p:sp>
      <p:sp>
        <p:nvSpPr>
          <p:cNvPr id="24" name="Text 18"/>
          <p:cNvSpPr/>
          <p:nvPr/>
        </p:nvSpPr>
        <p:spPr>
          <a:xfrm>
            <a:off x="4767635" y="3556025"/>
            <a:ext cx="3744813" cy="200844"/>
          </a:xfrm>
          <a:prstGeom prst="rect">
            <a:avLst/>
          </a:prstGeom>
          <a:noFill/>
          <a:ln/>
        </p:spPr>
        <p:txBody>
          <a:bodyPr wrap="none" lIns="0" tIns="0" rIns="0" bIns="0" rtlCol="0" anchor="t"/>
          <a:lstStyle/>
          <a:p>
            <a:pPr algn="l" indent="0" marL="0">
              <a:lnSpc>
                <a:spcPct val="128000"/>
              </a:lnSpc>
              <a:buNone/>
            </a:pPr>
            <a:r>
              <a:rPr lang="en-US" sz="1000" dirty="0">
                <a:solidFill>
                  <a:srgbClr val="272525"/>
                </a:solidFill>
                <a:latin typeface="Inter" pitchFamily="34" charset="0"/>
                <a:ea typeface="Inter" pitchFamily="34" charset="-122"/>
                <a:cs typeface="Inter" pitchFamily="34" charset="-120"/>
              </a:rPr>
              <a:t>Built-in IAM controls and audit trails</a:t>
            </a:r>
            <a:endParaRPr lang="en-US" sz="1000" dirty="0"/>
          </a:p>
        </p:txBody>
      </p:sp>
      <p:sp>
        <p:nvSpPr>
          <p:cNvPr id="25" name="Shape 19"/>
          <p:cNvSpPr/>
          <p:nvPr/>
        </p:nvSpPr>
        <p:spPr>
          <a:xfrm>
            <a:off x="496119" y="4027810"/>
            <a:ext cx="8151763" cy="700683"/>
          </a:xfrm>
          <a:prstGeom prst="roundRect">
            <a:avLst>
              <a:gd name="adj" fmla="val 7834"/>
            </a:avLst>
          </a:prstGeom>
          <a:solidFill>
            <a:srgbClr val="B6FCB8"/>
          </a:solidFill>
          <a:ln/>
        </p:spPr>
      </p:sp>
      <p:pic>
        <p:nvPicPr>
          <p:cNvPr id="26" name="Image 4" descr="preencoded.png">    </p:cNvPr>
          <p:cNvPicPr>
            <a:picLocks noChangeAspect="1"/>
          </p:cNvPicPr>
          <p:nvPr/>
        </p:nvPicPr>
        <p:blipFill>
          <a:blip r:embed="rId9"/>
          <a:stretch>
            <a:fillRect/>
          </a:stretch>
        </p:blipFill>
        <p:spPr>
          <a:xfrm>
            <a:off x="626790" y="4214887"/>
            <a:ext cx="163339" cy="130671"/>
          </a:xfrm>
          <a:prstGeom prst="rect">
            <a:avLst/>
          </a:prstGeom>
        </p:spPr>
      </p:pic>
      <p:sp>
        <p:nvSpPr>
          <p:cNvPr id="27" name="Text 20"/>
          <p:cNvSpPr/>
          <p:nvPr/>
        </p:nvSpPr>
        <p:spPr>
          <a:xfrm>
            <a:off x="920800" y="4180954"/>
            <a:ext cx="7596411" cy="406450"/>
          </a:xfrm>
          <a:prstGeom prst="rect">
            <a:avLst/>
          </a:prstGeom>
          <a:noFill/>
          <a:ln/>
        </p:spPr>
        <p:txBody>
          <a:bodyPr wrap="square" lIns="0" tIns="0" rIns="0" bIns="0" rtlCol="0" anchor="t">
            <a:normAutofit/>
          </a:bodyPr>
          <a:lstStyle/>
          <a:p>
            <a:pPr algn="l" indent="0" marL="0">
              <a:lnSpc>
                <a:spcPct val="128000"/>
              </a:lnSpc>
              <a:buNone/>
            </a:pPr>
            <a:r>
              <a:rPr lang="en-US" sz="1000" dirty="0">
                <a:solidFill>
                  <a:srgbClr val="000000"/>
                </a:solidFill>
                <a:latin typeface="Inter" pitchFamily="34" charset="0"/>
                <a:ea typeface="Inter" pitchFamily="34" charset="-122"/>
                <a:cs typeface="Inter" pitchFamily="34" charset="-120"/>
              </a:rPr>
              <a:t>✅</a:t>
            </a:r>
            <a:pPr algn="l" indent="0" marL="0">
              <a:lnSpc>
                <a:spcPct val="128000"/>
              </a:lnSpc>
              <a:buNone/>
            </a:pPr>
            <a:r>
              <a:rPr lang="en-US" sz="1000" dirty="0">
                <a:solidFill>
                  <a:srgbClr val="000000"/>
                </a:solidFill>
                <a:latin typeface="Inter" pitchFamily="34" charset="0"/>
                <a:ea typeface="Inter" pitchFamily="34" charset="-122"/>
                <a:cs typeface="Inter" pitchFamily="34" charset="-120"/>
              </a:rPr>
              <a:t> Static HTML page hosted successfully via Lambda + API Gateway. Execution verified in CloudWatch. Activities audited in CloudTrail.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2026-07-13T06:15:47Z</dcterms:created>
  <dcterms:modified xsi:type="dcterms:W3CDTF">2026-07-13T06:15:47Z</dcterms:modified>
</cp:coreProperties>
</file>